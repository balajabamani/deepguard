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5706" autoAdjust="0"/>
  </p:normalViewPr>
  <p:slideViewPr>
    <p:cSldViewPr snapToGrid="0" snapToObjects="1">
      <p:cViewPr varScale="1">
        <p:scale>
          <a:sx n="121" d="100"/>
          <a:sy n="121" d="100"/>
        </p:scale>
        <p:origin x="34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1887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E6DA4"/>
          </a:solidFill>
          <a:ln/>
        </p:spPr>
      </p:sp>
      <p:sp>
        <p:nvSpPr>
          <p:cNvPr id="3" name="Text 1"/>
          <p:cNvSpPr/>
          <p:nvPr/>
        </p:nvSpPr>
        <p:spPr>
          <a:xfrm>
            <a:off x="457200" y="640080"/>
            <a:ext cx="8229600" cy="1097280"/>
          </a:xfrm>
          <a:prstGeom prst="rect">
            <a:avLst/>
          </a:prstGeom>
          <a:noFill/>
          <a:ln/>
        </p:spPr>
        <p:txBody>
          <a:bodyPr wrap="square" rtlCol="0" anchor="ctr"/>
          <a:lstStyle/>
          <a:p>
            <a:pPr marL="0" indent="0" algn="ctr">
              <a:buNone/>
            </a:pPr>
            <a:r>
              <a:rPr lang="en-US" sz="5200" b="1" dirty="0">
                <a:solidFill>
                  <a:srgbClr val="FFFFFF"/>
                </a:solidFill>
                <a:latin typeface="Calibri" pitchFamily="34" charset="0"/>
                <a:ea typeface="Calibri" pitchFamily="34" charset="-122"/>
                <a:cs typeface="Calibri" pitchFamily="34" charset="-120"/>
              </a:rPr>
              <a:t>DeepGuard</a:t>
            </a:r>
            <a:endParaRPr lang="en-US" sz="5200" dirty="0"/>
          </a:p>
        </p:txBody>
      </p:sp>
      <p:sp>
        <p:nvSpPr>
          <p:cNvPr id="4" name="Text 2"/>
          <p:cNvSpPr/>
          <p:nvPr/>
        </p:nvSpPr>
        <p:spPr>
          <a:xfrm>
            <a:off x="457200" y="1737360"/>
            <a:ext cx="8229600" cy="914400"/>
          </a:xfrm>
          <a:prstGeom prst="rect">
            <a:avLst/>
          </a:prstGeom>
          <a:noFill/>
          <a:ln/>
        </p:spPr>
        <p:txBody>
          <a:bodyPr wrap="square" rtlCol="0" anchor="ctr"/>
          <a:lstStyle/>
          <a:p>
            <a:pPr marL="0" indent="0" algn="ctr">
              <a:buNone/>
            </a:pPr>
            <a:r>
              <a:rPr lang="en-US" sz="1800" dirty="0">
                <a:solidFill>
                  <a:srgbClr val="5DA8E0"/>
                </a:solidFill>
                <a:latin typeface="Calibri" pitchFamily="34" charset="0"/>
                <a:ea typeface="Calibri" pitchFamily="34" charset="-122"/>
                <a:cs typeface="Calibri" pitchFamily="34" charset="-120"/>
              </a:rPr>
              <a:t>AI-Powered Deepfake Detection System</a:t>
            </a:r>
            <a:endParaRPr lang="en-US" sz="1800" dirty="0"/>
          </a:p>
          <a:p>
            <a:pPr marL="0" indent="0" algn="ctr">
              <a:buNone/>
            </a:pPr>
            <a:r>
              <a:rPr lang="en-US" sz="1800" dirty="0">
                <a:solidFill>
                  <a:srgbClr val="5DA8E0"/>
                </a:solidFill>
                <a:latin typeface="Calibri" pitchFamily="34" charset="0"/>
                <a:ea typeface="Calibri" pitchFamily="34" charset="-122"/>
                <a:cs typeface="Calibri" pitchFamily="34" charset="-120"/>
              </a:rPr>
              <a:t>with Forensic Visualization for Cybersecurity Applications</a:t>
            </a:r>
            <a:endParaRPr lang="en-US" sz="1800" dirty="0"/>
          </a:p>
        </p:txBody>
      </p:sp>
      <p:sp>
        <p:nvSpPr>
          <p:cNvPr id="5" name="Shape 3"/>
          <p:cNvSpPr/>
          <p:nvPr/>
        </p:nvSpPr>
        <p:spPr>
          <a:xfrm>
            <a:off x="3200400" y="2834640"/>
            <a:ext cx="2743200" cy="27432"/>
          </a:xfrm>
          <a:prstGeom prst="rect">
            <a:avLst/>
          </a:prstGeom>
          <a:solidFill>
            <a:srgbClr val="5DA8E0"/>
          </a:solidFill>
          <a:ln/>
        </p:spPr>
      </p:sp>
      <p:sp>
        <p:nvSpPr>
          <p:cNvPr id="6" name="Text 4"/>
          <p:cNvSpPr/>
          <p:nvPr/>
        </p:nvSpPr>
        <p:spPr>
          <a:xfrm>
            <a:off x="1371600" y="3017520"/>
            <a:ext cx="6400800" cy="448056"/>
          </a:xfrm>
          <a:prstGeom prst="rect">
            <a:avLst/>
          </a:prstGeom>
          <a:noFill/>
          <a:ln/>
        </p:spPr>
        <p:txBody>
          <a:bodyPr wrap="square" rtlCol="0" anchor="ctr"/>
          <a:lstStyle/>
          <a:p>
            <a:pPr marL="0" indent="0" algn="ctr">
              <a:buNone/>
            </a:pPr>
            <a:r>
              <a:rPr lang="en-US" sz="1300" dirty="0">
                <a:solidFill>
                  <a:srgbClr val="8892A4"/>
                </a:solidFill>
                <a:latin typeface="Calibri" pitchFamily="34" charset="0"/>
                <a:ea typeface="Calibri" pitchFamily="34" charset="-122"/>
                <a:cs typeface="Calibri" pitchFamily="34" charset="-120"/>
              </a:rPr>
              <a:t>Student:  Balajabamani D</a:t>
            </a:r>
            <a:endParaRPr lang="en-US" sz="1300" dirty="0"/>
          </a:p>
        </p:txBody>
      </p:sp>
      <p:sp>
        <p:nvSpPr>
          <p:cNvPr id="8" name="Text 6"/>
          <p:cNvSpPr/>
          <p:nvPr/>
        </p:nvSpPr>
        <p:spPr>
          <a:xfrm>
            <a:off x="1371600" y="3465576"/>
            <a:ext cx="6400800" cy="448056"/>
          </a:xfrm>
          <a:prstGeom prst="rect">
            <a:avLst/>
          </a:prstGeom>
          <a:noFill/>
          <a:ln/>
        </p:spPr>
        <p:txBody>
          <a:bodyPr wrap="square" rtlCol="0" anchor="ctr"/>
          <a:lstStyle/>
          <a:p>
            <a:pPr marL="0" indent="0" algn="ctr">
              <a:buNone/>
            </a:pPr>
            <a:r>
              <a:rPr lang="en-US" sz="1300" dirty="0">
                <a:solidFill>
                  <a:srgbClr val="8892A4"/>
                </a:solidFill>
                <a:latin typeface="Calibri" pitchFamily="34" charset="0"/>
                <a:ea typeface="Calibri" pitchFamily="34" charset="-122"/>
                <a:cs typeface="Calibri" pitchFamily="34" charset="-120"/>
              </a:rPr>
              <a:t>Company:  Purplesynapz Technologies Pvt. Ltd.</a:t>
            </a:r>
            <a:endParaRPr lang="en-US" sz="1300" dirty="0"/>
          </a:p>
        </p:txBody>
      </p:sp>
      <p:sp>
        <p:nvSpPr>
          <p:cNvPr id="9" name="Text 7"/>
          <p:cNvSpPr/>
          <p:nvPr/>
        </p:nvSpPr>
        <p:spPr>
          <a:xfrm>
            <a:off x="1371600" y="3913632"/>
            <a:ext cx="6400800" cy="347472"/>
          </a:xfrm>
          <a:prstGeom prst="rect">
            <a:avLst/>
          </a:prstGeom>
          <a:noFill/>
          <a:ln/>
        </p:spPr>
        <p:txBody>
          <a:bodyPr wrap="square" rtlCol="0" anchor="ctr"/>
          <a:lstStyle/>
          <a:p>
            <a:pPr marL="0" indent="0" algn="ctr">
              <a:buNone/>
            </a:pPr>
            <a:r>
              <a:rPr lang="en-US" sz="1300" dirty="0">
                <a:solidFill>
                  <a:srgbClr val="8892A4"/>
                </a:solidFill>
                <a:latin typeface="Calibri" pitchFamily="34" charset="0"/>
                <a:ea typeface="Calibri" pitchFamily="34" charset="-122"/>
                <a:cs typeface="Calibri" pitchFamily="34" charset="-120"/>
              </a:rPr>
              <a:t>Duration:  March 2026 – September 2026</a:t>
            </a:r>
            <a:endParaRPr lang="en-US" sz="1300" dirty="0"/>
          </a:p>
        </p:txBody>
      </p:sp>
      <p:sp>
        <p:nvSpPr>
          <p:cNvPr id="10" name="Shape 8"/>
          <p:cNvSpPr/>
          <p:nvPr/>
        </p:nvSpPr>
        <p:spPr>
          <a:xfrm>
            <a:off x="365760" y="4572000"/>
            <a:ext cx="1554480" cy="347472"/>
          </a:xfrm>
          <a:prstGeom prst="roundRect">
            <a:avLst>
              <a:gd name="adj" fmla="val 21053"/>
            </a:avLst>
          </a:prstGeom>
          <a:solidFill>
            <a:srgbClr val="1A3A5C"/>
          </a:solidFill>
          <a:ln w="12700">
            <a:solidFill>
              <a:srgbClr val="5DA8E0"/>
            </a:solidFill>
            <a:prstDash val="solid"/>
          </a:ln>
        </p:spPr>
      </p:sp>
      <p:sp>
        <p:nvSpPr>
          <p:cNvPr id="11" name="Text 9"/>
          <p:cNvSpPr/>
          <p:nvPr/>
        </p:nvSpPr>
        <p:spPr>
          <a:xfrm>
            <a:off x="365760" y="4572000"/>
            <a:ext cx="1554480" cy="347472"/>
          </a:xfrm>
          <a:prstGeom prst="rect">
            <a:avLst/>
          </a:prstGeom>
          <a:noFill/>
          <a:ln/>
        </p:spPr>
        <p:txBody>
          <a:bodyPr wrap="square" rtlCol="0" anchor="ctr"/>
          <a:lstStyle/>
          <a:p>
            <a:pPr marL="0" indent="0" algn="ctr">
              <a:buNone/>
            </a:pPr>
            <a:r>
              <a:rPr lang="en-US" sz="1100" b="1" dirty="0">
                <a:solidFill>
                  <a:srgbClr val="5DA8E0"/>
                </a:solidFill>
                <a:latin typeface="Calibri" pitchFamily="34" charset="0"/>
                <a:ea typeface="Calibri" pitchFamily="34" charset="-122"/>
                <a:cs typeface="Calibri" pitchFamily="34" charset="-120"/>
              </a:rPr>
              <a:t>EfficientNetB4</a:t>
            </a:r>
            <a:endParaRPr lang="en-US" sz="1100" dirty="0"/>
          </a:p>
        </p:txBody>
      </p:sp>
      <p:sp>
        <p:nvSpPr>
          <p:cNvPr id="12" name="Shape 10"/>
          <p:cNvSpPr/>
          <p:nvPr/>
        </p:nvSpPr>
        <p:spPr>
          <a:xfrm>
            <a:off x="2084832" y="4572000"/>
            <a:ext cx="1554480" cy="347472"/>
          </a:xfrm>
          <a:prstGeom prst="roundRect">
            <a:avLst>
              <a:gd name="adj" fmla="val 21053"/>
            </a:avLst>
          </a:prstGeom>
          <a:solidFill>
            <a:srgbClr val="1A3A5C"/>
          </a:solidFill>
          <a:ln w="12700">
            <a:solidFill>
              <a:srgbClr val="5DA8E0"/>
            </a:solidFill>
            <a:prstDash val="solid"/>
          </a:ln>
        </p:spPr>
      </p:sp>
      <p:sp>
        <p:nvSpPr>
          <p:cNvPr id="13" name="Text 11"/>
          <p:cNvSpPr/>
          <p:nvPr/>
        </p:nvSpPr>
        <p:spPr>
          <a:xfrm>
            <a:off x="2084832" y="4572000"/>
            <a:ext cx="1554480" cy="347472"/>
          </a:xfrm>
          <a:prstGeom prst="rect">
            <a:avLst/>
          </a:prstGeom>
          <a:noFill/>
          <a:ln/>
        </p:spPr>
        <p:txBody>
          <a:bodyPr wrap="square" rtlCol="0" anchor="ctr"/>
          <a:lstStyle/>
          <a:p>
            <a:pPr marL="0" indent="0" algn="ctr">
              <a:buNone/>
            </a:pPr>
            <a:r>
              <a:rPr lang="en-US" sz="1100" b="1" dirty="0">
                <a:solidFill>
                  <a:srgbClr val="5DA8E0"/>
                </a:solidFill>
                <a:latin typeface="Calibri" pitchFamily="34" charset="0"/>
                <a:ea typeface="Calibri" pitchFamily="34" charset="-122"/>
                <a:cs typeface="Calibri" pitchFamily="34" charset="-120"/>
              </a:rPr>
              <a:t>MTCNN</a:t>
            </a:r>
            <a:endParaRPr lang="en-US" sz="1100" dirty="0"/>
          </a:p>
        </p:txBody>
      </p:sp>
      <p:sp>
        <p:nvSpPr>
          <p:cNvPr id="14" name="Shape 12"/>
          <p:cNvSpPr/>
          <p:nvPr/>
        </p:nvSpPr>
        <p:spPr>
          <a:xfrm>
            <a:off x="3803904" y="4572000"/>
            <a:ext cx="1554480" cy="347472"/>
          </a:xfrm>
          <a:prstGeom prst="roundRect">
            <a:avLst>
              <a:gd name="adj" fmla="val 21053"/>
            </a:avLst>
          </a:prstGeom>
          <a:solidFill>
            <a:srgbClr val="1A3A5C"/>
          </a:solidFill>
          <a:ln w="12700">
            <a:solidFill>
              <a:srgbClr val="5DA8E0"/>
            </a:solidFill>
            <a:prstDash val="solid"/>
          </a:ln>
        </p:spPr>
      </p:sp>
      <p:sp>
        <p:nvSpPr>
          <p:cNvPr id="15" name="Text 13"/>
          <p:cNvSpPr/>
          <p:nvPr/>
        </p:nvSpPr>
        <p:spPr>
          <a:xfrm>
            <a:off x="3803904" y="4572000"/>
            <a:ext cx="1554480" cy="347472"/>
          </a:xfrm>
          <a:prstGeom prst="rect">
            <a:avLst/>
          </a:prstGeom>
          <a:noFill/>
          <a:ln/>
        </p:spPr>
        <p:txBody>
          <a:bodyPr wrap="square" rtlCol="0" anchor="ctr"/>
          <a:lstStyle/>
          <a:p>
            <a:pPr marL="0" indent="0" algn="ctr">
              <a:buNone/>
            </a:pPr>
            <a:r>
              <a:rPr lang="en-US" sz="1100" b="1" dirty="0">
                <a:solidFill>
                  <a:srgbClr val="5DA8E0"/>
                </a:solidFill>
                <a:latin typeface="Calibri" pitchFamily="34" charset="0"/>
                <a:ea typeface="Calibri" pitchFamily="34" charset="-122"/>
                <a:cs typeface="Calibri" pitchFamily="34" charset="-120"/>
              </a:rPr>
              <a:t>Grad-CAM</a:t>
            </a:r>
            <a:endParaRPr lang="en-US" sz="1100" dirty="0"/>
          </a:p>
        </p:txBody>
      </p:sp>
      <p:sp>
        <p:nvSpPr>
          <p:cNvPr id="16" name="Shape 14"/>
          <p:cNvSpPr/>
          <p:nvPr/>
        </p:nvSpPr>
        <p:spPr>
          <a:xfrm>
            <a:off x="5522976" y="4572000"/>
            <a:ext cx="1554480" cy="347472"/>
          </a:xfrm>
          <a:prstGeom prst="roundRect">
            <a:avLst>
              <a:gd name="adj" fmla="val 21053"/>
            </a:avLst>
          </a:prstGeom>
          <a:solidFill>
            <a:srgbClr val="1A3A5C"/>
          </a:solidFill>
          <a:ln w="12700">
            <a:solidFill>
              <a:srgbClr val="5DA8E0"/>
            </a:solidFill>
            <a:prstDash val="solid"/>
          </a:ln>
        </p:spPr>
      </p:sp>
      <p:sp>
        <p:nvSpPr>
          <p:cNvPr id="17" name="Text 15"/>
          <p:cNvSpPr/>
          <p:nvPr/>
        </p:nvSpPr>
        <p:spPr>
          <a:xfrm>
            <a:off x="5522976" y="4572000"/>
            <a:ext cx="1554480" cy="347472"/>
          </a:xfrm>
          <a:prstGeom prst="rect">
            <a:avLst/>
          </a:prstGeom>
          <a:noFill/>
          <a:ln/>
        </p:spPr>
        <p:txBody>
          <a:bodyPr wrap="square" rtlCol="0" anchor="ctr"/>
          <a:lstStyle/>
          <a:p>
            <a:pPr marL="0" indent="0" algn="ctr">
              <a:buNone/>
            </a:pPr>
            <a:r>
              <a:rPr lang="en-US" sz="1100" b="1" dirty="0">
                <a:solidFill>
                  <a:srgbClr val="5DA8E0"/>
                </a:solidFill>
                <a:latin typeface="Calibri" pitchFamily="34" charset="0"/>
                <a:ea typeface="Calibri" pitchFamily="34" charset="-122"/>
                <a:cs typeface="Calibri" pitchFamily="34" charset="-120"/>
              </a:rPr>
              <a:t>Streamlit</a:t>
            </a:r>
            <a:endParaRPr lang="en-US" sz="1100" dirty="0"/>
          </a:p>
        </p:txBody>
      </p:sp>
      <p:sp>
        <p:nvSpPr>
          <p:cNvPr id="18" name="Shape 16"/>
          <p:cNvSpPr/>
          <p:nvPr/>
        </p:nvSpPr>
        <p:spPr>
          <a:xfrm>
            <a:off x="7242048" y="4572000"/>
            <a:ext cx="1554480" cy="347472"/>
          </a:xfrm>
          <a:prstGeom prst="roundRect">
            <a:avLst>
              <a:gd name="adj" fmla="val 21053"/>
            </a:avLst>
          </a:prstGeom>
          <a:solidFill>
            <a:srgbClr val="1A3A5C"/>
          </a:solidFill>
          <a:ln w="12700">
            <a:solidFill>
              <a:srgbClr val="5DA8E0"/>
            </a:solidFill>
            <a:prstDash val="solid"/>
          </a:ln>
        </p:spPr>
      </p:sp>
      <p:sp>
        <p:nvSpPr>
          <p:cNvPr id="19" name="Text 17"/>
          <p:cNvSpPr/>
          <p:nvPr/>
        </p:nvSpPr>
        <p:spPr>
          <a:xfrm>
            <a:off x="7242048" y="4572000"/>
            <a:ext cx="1554480" cy="347472"/>
          </a:xfrm>
          <a:prstGeom prst="rect">
            <a:avLst/>
          </a:prstGeom>
          <a:noFill/>
          <a:ln/>
        </p:spPr>
        <p:txBody>
          <a:bodyPr wrap="square" rtlCol="0" anchor="ctr"/>
          <a:lstStyle/>
          <a:p>
            <a:pPr marL="0" indent="0" algn="ctr">
              <a:buNone/>
            </a:pPr>
            <a:r>
              <a:rPr lang="en-US" sz="1100" b="1" dirty="0">
                <a:solidFill>
                  <a:srgbClr val="5DA8E0"/>
                </a:solidFill>
                <a:latin typeface="Calibri" pitchFamily="34" charset="0"/>
                <a:ea typeface="Calibri" pitchFamily="34" charset="-122"/>
                <a:cs typeface="Calibri" pitchFamily="34" charset="-120"/>
              </a:rPr>
              <a:t>AUC: 0.9634</a:t>
            </a:r>
            <a:endParaRPr lang="en-US" sz="1100" dirty="0"/>
          </a:p>
        </p:txBody>
      </p:sp>
      <p:sp>
        <p:nvSpPr>
          <p:cNvPr id="20" name="Text 18"/>
          <p:cNvSpPr/>
          <p:nvPr/>
        </p:nvSpPr>
        <p:spPr>
          <a:xfrm>
            <a:off x="0" y="5029200"/>
            <a:ext cx="9144000" cy="228600"/>
          </a:xfrm>
          <a:prstGeom prst="rect">
            <a:avLst/>
          </a:prstGeom>
          <a:noFill/>
          <a:ln/>
        </p:spPr>
        <p:txBody>
          <a:bodyPr wrap="square" rtlCol="0" anchor="ctr"/>
          <a:lstStyle/>
          <a:p>
            <a:pPr marL="0" indent="0" algn="ctr">
              <a:buNone/>
            </a:pPr>
            <a:r>
              <a:rPr lang="en-US" sz="1000" dirty="0">
                <a:solidFill>
                  <a:srgbClr val="3A4A5C"/>
                </a:solidFill>
                <a:latin typeface="Calibri" pitchFamily="34" charset="0"/>
                <a:ea typeface="Calibri" pitchFamily="34" charset="-122"/>
                <a:cs typeface="Calibri" pitchFamily="34" charset="-120"/>
              </a:rPr>
              <a:t>Internship Project Presentation  |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1F3C"/>
          </a:solidFill>
          <a:ln/>
        </p:spPr>
      </p:sp>
      <p:sp>
        <p:nvSpPr>
          <p:cNvPr id="3" name="Text 1"/>
          <p:cNvSpPr/>
          <p:nvPr/>
        </p:nvSpPr>
        <p:spPr>
          <a:xfrm>
            <a:off x="365760" y="182880"/>
            <a:ext cx="8229600" cy="64008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Presentation Agenda</a:t>
            </a:r>
            <a:endParaRPr lang="en-US" sz="2800" dirty="0"/>
          </a:p>
        </p:txBody>
      </p:sp>
      <p:sp>
        <p:nvSpPr>
          <p:cNvPr id="4" name="Shape 2"/>
          <p:cNvSpPr/>
          <p:nvPr/>
        </p:nvSpPr>
        <p:spPr>
          <a:xfrm>
            <a:off x="365760" y="1188720"/>
            <a:ext cx="457200" cy="457200"/>
          </a:xfrm>
          <a:prstGeom prst="rect">
            <a:avLst/>
          </a:prstGeom>
          <a:solidFill>
            <a:srgbClr val="0D1F3C"/>
          </a:solidFill>
          <a:ln/>
        </p:spPr>
      </p:sp>
      <p:sp>
        <p:nvSpPr>
          <p:cNvPr id="5" name="Text 3"/>
          <p:cNvSpPr/>
          <p:nvPr/>
        </p:nvSpPr>
        <p:spPr>
          <a:xfrm>
            <a:off x="365760" y="1188720"/>
            <a:ext cx="457200" cy="457200"/>
          </a:xfrm>
          <a:prstGeom prst="rect">
            <a:avLst/>
          </a:prstGeom>
          <a:noFill/>
          <a:ln/>
        </p:spPr>
        <p:txBody>
          <a:bodyPr wrap="square" rtlCol="0" anchor="ctr"/>
          <a:lstStyle/>
          <a:p>
            <a:pPr marL="0" indent="0" algn="ctr">
              <a:buNone/>
            </a:pPr>
            <a:r>
              <a:rPr lang="en-US" sz="1400" b="1" dirty="0">
                <a:solidFill>
                  <a:srgbClr val="5DA8E0"/>
                </a:solidFill>
                <a:latin typeface="Calibri" pitchFamily="34" charset="0"/>
                <a:ea typeface="Calibri" pitchFamily="34" charset="-122"/>
                <a:cs typeface="Calibri" pitchFamily="34" charset="-120"/>
              </a:rPr>
              <a:t>01</a:t>
            </a:r>
            <a:endParaRPr lang="en-US" sz="1400" dirty="0"/>
          </a:p>
        </p:txBody>
      </p:sp>
      <p:sp>
        <p:nvSpPr>
          <p:cNvPr id="6" name="Text 4"/>
          <p:cNvSpPr/>
          <p:nvPr/>
        </p:nvSpPr>
        <p:spPr>
          <a:xfrm>
            <a:off x="914400" y="1188720"/>
            <a:ext cx="3474720" cy="256032"/>
          </a:xfrm>
          <a:prstGeom prst="rect">
            <a:avLst/>
          </a:prstGeom>
          <a:noFill/>
          <a:ln/>
        </p:spPr>
        <p:txBody>
          <a:bodyPr wrap="square" rtlCol="0" anchor="ctr"/>
          <a:lstStyle/>
          <a:p>
            <a:pPr marL="0" indent="0">
              <a:buNone/>
            </a:pPr>
            <a:r>
              <a:rPr lang="en-US" sz="1400" b="1" dirty="0">
                <a:solidFill>
                  <a:srgbClr val="0D1F3C"/>
                </a:solidFill>
                <a:latin typeface="Calibri" pitchFamily="34" charset="0"/>
                <a:ea typeface="Calibri" pitchFamily="34" charset="-122"/>
                <a:cs typeface="Calibri" pitchFamily="34" charset="-120"/>
              </a:rPr>
              <a:t>Problem Statement</a:t>
            </a:r>
            <a:endParaRPr lang="en-US" sz="1400" dirty="0"/>
          </a:p>
        </p:txBody>
      </p:sp>
      <p:sp>
        <p:nvSpPr>
          <p:cNvPr id="7" name="Text 5"/>
          <p:cNvSpPr/>
          <p:nvPr/>
        </p:nvSpPr>
        <p:spPr>
          <a:xfrm>
            <a:off x="914400" y="1426464"/>
            <a:ext cx="3474720" cy="201168"/>
          </a:xfrm>
          <a:prstGeom prst="rect">
            <a:avLst/>
          </a:prstGeom>
          <a:noFill/>
          <a:ln/>
        </p:spPr>
        <p:txBody>
          <a:bodyPr wrap="square" rtlCol="0" anchor="ctr"/>
          <a:lstStyle/>
          <a:p>
            <a:pPr marL="0" indent="0">
              <a:buNone/>
            </a:pPr>
            <a:r>
              <a:rPr lang="en-US" sz="1100" dirty="0">
                <a:solidFill>
                  <a:srgbClr val="8892A4"/>
                </a:solidFill>
                <a:latin typeface="Calibri" pitchFamily="34" charset="0"/>
                <a:ea typeface="Calibri" pitchFamily="34" charset="-122"/>
                <a:cs typeface="Calibri" pitchFamily="34" charset="-120"/>
              </a:rPr>
              <a:t>Why deepfake detection matters</a:t>
            </a:r>
            <a:endParaRPr lang="en-US" sz="1100" dirty="0"/>
          </a:p>
        </p:txBody>
      </p:sp>
      <p:sp>
        <p:nvSpPr>
          <p:cNvPr id="8" name="Shape 6"/>
          <p:cNvSpPr/>
          <p:nvPr/>
        </p:nvSpPr>
        <p:spPr>
          <a:xfrm>
            <a:off x="365760" y="2103120"/>
            <a:ext cx="457200" cy="457200"/>
          </a:xfrm>
          <a:prstGeom prst="rect">
            <a:avLst/>
          </a:prstGeom>
          <a:solidFill>
            <a:srgbClr val="0D1F3C"/>
          </a:solidFill>
          <a:ln/>
        </p:spPr>
      </p:sp>
      <p:sp>
        <p:nvSpPr>
          <p:cNvPr id="9" name="Text 7"/>
          <p:cNvSpPr/>
          <p:nvPr/>
        </p:nvSpPr>
        <p:spPr>
          <a:xfrm>
            <a:off x="365760" y="2103120"/>
            <a:ext cx="457200" cy="457200"/>
          </a:xfrm>
          <a:prstGeom prst="rect">
            <a:avLst/>
          </a:prstGeom>
          <a:noFill/>
          <a:ln/>
        </p:spPr>
        <p:txBody>
          <a:bodyPr wrap="square" rtlCol="0" anchor="ctr"/>
          <a:lstStyle/>
          <a:p>
            <a:pPr marL="0" indent="0" algn="ctr">
              <a:buNone/>
            </a:pPr>
            <a:r>
              <a:rPr lang="en-US" sz="1400" b="1" dirty="0">
                <a:solidFill>
                  <a:srgbClr val="5DA8E0"/>
                </a:solidFill>
                <a:latin typeface="Calibri" pitchFamily="34" charset="0"/>
                <a:ea typeface="Calibri" pitchFamily="34" charset="-122"/>
                <a:cs typeface="Calibri" pitchFamily="34" charset="-120"/>
              </a:rPr>
              <a:t>02</a:t>
            </a:r>
            <a:endParaRPr lang="en-US" sz="1400" dirty="0"/>
          </a:p>
        </p:txBody>
      </p:sp>
      <p:sp>
        <p:nvSpPr>
          <p:cNvPr id="10" name="Text 8"/>
          <p:cNvSpPr/>
          <p:nvPr/>
        </p:nvSpPr>
        <p:spPr>
          <a:xfrm>
            <a:off x="914400" y="2103120"/>
            <a:ext cx="3474720" cy="256032"/>
          </a:xfrm>
          <a:prstGeom prst="rect">
            <a:avLst/>
          </a:prstGeom>
          <a:noFill/>
          <a:ln/>
        </p:spPr>
        <p:txBody>
          <a:bodyPr wrap="square" rtlCol="0" anchor="ctr"/>
          <a:lstStyle/>
          <a:p>
            <a:pPr marL="0" indent="0">
              <a:buNone/>
            </a:pPr>
            <a:r>
              <a:rPr lang="en-US" sz="1400" b="1" dirty="0">
                <a:solidFill>
                  <a:srgbClr val="0D1F3C"/>
                </a:solidFill>
                <a:latin typeface="Calibri" pitchFamily="34" charset="0"/>
                <a:ea typeface="Calibri" pitchFamily="34" charset="-122"/>
                <a:cs typeface="Calibri" pitchFamily="34" charset="-120"/>
              </a:rPr>
              <a:t>Project Overview</a:t>
            </a:r>
            <a:endParaRPr lang="en-US" sz="1400" dirty="0"/>
          </a:p>
        </p:txBody>
      </p:sp>
      <p:sp>
        <p:nvSpPr>
          <p:cNvPr id="11" name="Text 9"/>
          <p:cNvSpPr/>
          <p:nvPr/>
        </p:nvSpPr>
        <p:spPr>
          <a:xfrm>
            <a:off x="914400" y="2340864"/>
            <a:ext cx="3474720" cy="201168"/>
          </a:xfrm>
          <a:prstGeom prst="rect">
            <a:avLst/>
          </a:prstGeom>
          <a:noFill/>
          <a:ln/>
        </p:spPr>
        <p:txBody>
          <a:bodyPr wrap="square" rtlCol="0" anchor="ctr"/>
          <a:lstStyle/>
          <a:p>
            <a:pPr marL="0" indent="0">
              <a:buNone/>
            </a:pPr>
            <a:r>
              <a:rPr lang="en-US" sz="1100" dirty="0">
                <a:solidFill>
                  <a:srgbClr val="8892A4"/>
                </a:solidFill>
                <a:latin typeface="Calibri" pitchFamily="34" charset="0"/>
                <a:ea typeface="Calibri" pitchFamily="34" charset="-122"/>
                <a:cs typeface="Calibri" pitchFamily="34" charset="-120"/>
              </a:rPr>
              <a:t>What DeepGuard does</a:t>
            </a:r>
            <a:endParaRPr lang="en-US" sz="1100" dirty="0"/>
          </a:p>
        </p:txBody>
      </p:sp>
      <p:sp>
        <p:nvSpPr>
          <p:cNvPr id="12" name="Shape 10"/>
          <p:cNvSpPr/>
          <p:nvPr/>
        </p:nvSpPr>
        <p:spPr>
          <a:xfrm>
            <a:off x="365760" y="3017520"/>
            <a:ext cx="457200" cy="457200"/>
          </a:xfrm>
          <a:prstGeom prst="rect">
            <a:avLst/>
          </a:prstGeom>
          <a:solidFill>
            <a:srgbClr val="0D1F3C"/>
          </a:solidFill>
          <a:ln/>
        </p:spPr>
      </p:sp>
      <p:sp>
        <p:nvSpPr>
          <p:cNvPr id="13" name="Text 11"/>
          <p:cNvSpPr/>
          <p:nvPr/>
        </p:nvSpPr>
        <p:spPr>
          <a:xfrm>
            <a:off x="365760" y="3017520"/>
            <a:ext cx="457200" cy="457200"/>
          </a:xfrm>
          <a:prstGeom prst="rect">
            <a:avLst/>
          </a:prstGeom>
          <a:noFill/>
          <a:ln/>
        </p:spPr>
        <p:txBody>
          <a:bodyPr wrap="square" rtlCol="0" anchor="ctr"/>
          <a:lstStyle/>
          <a:p>
            <a:pPr marL="0" indent="0" algn="ctr">
              <a:buNone/>
            </a:pPr>
            <a:r>
              <a:rPr lang="en-US" sz="1400" b="1" dirty="0">
                <a:solidFill>
                  <a:srgbClr val="5DA8E0"/>
                </a:solidFill>
                <a:latin typeface="Calibri" pitchFamily="34" charset="0"/>
                <a:ea typeface="Calibri" pitchFamily="34" charset="-122"/>
                <a:cs typeface="Calibri" pitchFamily="34" charset="-120"/>
              </a:rPr>
              <a:t>03</a:t>
            </a:r>
            <a:endParaRPr lang="en-US" sz="1400" dirty="0"/>
          </a:p>
        </p:txBody>
      </p:sp>
      <p:sp>
        <p:nvSpPr>
          <p:cNvPr id="14" name="Text 12"/>
          <p:cNvSpPr/>
          <p:nvPr/>
        </p:nvSpPr>
        <p:spPr>
          <a:xfrm>
            <a:off x="914400" y="3017520"/>
            <a:ext cx="3474720" cy="256032"/>
          </a:xfrm>
          <a:prstGeom prst="rect">
            <a:avLst/>
          </a:prstGeom>
          <a:noFill/>
          <a:ln/>
        </p:spPr>
        <p:txBody>
          <a:bodyPr wrap="square" rtlCol="0" anchor="ctr"/>
          <a:lstStyle/>
          <a:p>
            <a:pPr marL="0" indent="0">
              <a:buNone/>
            </a:pPr>
            <a:r>
              <a:rPr lang="en-US" sz="1400" b="1" dirty="0">
                <a:solidFill>
                  <a:srgbClr val="0D1F3C"/>
                </a:solidFill>
                <a:latin typeface="Calibri" pitchFamily="34" charset="0"/>
                <a:ea typeface="Calibri" pitchFamily="34" charset="-122"/>
                <a:cs typeface="Calibri" pitchFamily="34" charset="-120"/>
              </a:rPr>
              <a:t>System Architecture</a:t>
            </a:r>
            <a:endParaRPr lang="en-US" sz="1400" dirty="0"/>
          </a:p>
        </p:txBody>
      </p:sp>
      <p:sp>
        <p:nvSpPr>
          <p:cNvPr id="15" name="Text 13"/>
          <p:cNvSpPr/>
          <p:nvPr/>
        </p:nvSpPr>
        <p:spPr>
          <a:xfrm>
            <a:off x="914400" y="3255264"/>
            <a:ext cx="3474720" cy="201168"/>
          </a:xfrm>
          <a:prstGeom prst="rect">
            <a:avLst/>
          </a:prstGeom>
          <a:noFill/>
          <a:ln/>
        </p:spPr>
        <p:txBody>
          <a:bodyPr wrap="square" rtlCol="0" anchor="ctr"/>
          <a:lstStyle/>
          <a:p>
            <a:pPr marL="0" indent="0">
              <a:buNone/>
            </a:pPr>
            <a:r>
              <a:rPr lang="en-US" sz="1100" dirty="0">
                <a:solidFill>
                  <a:srgbClr val="8892A4"/>
                </a:solidFill>
                <a:latin typeface="Calibri" pitchFamily="34" charset="0"/>
                <a:ea typeface="Calibri" pitchFamily="34" charset="-122"/>
                <a:cs typeface="Calibri" pitchFamily="34" charset="-120"/>
              </a:rPr>
              <a:t>How the pipeline works</a:t>
            </a:r>
            <a:endParaRPr lang="en-US" sz="1100" dirty="0"/>
          </a:p>
        </p:txBody>
      </p:sp>
      <p:sp>
        <p:nvSpPr>
          <p:cNvPr id="16" name="Shape 14"/>
          <p:cNvSpPr/>
          <p:nvPr/>
        </p:nvSpPr>
        <p:spPr>
          <a:xfrm>
            <a:off x="365760" y="3931920"/>
            <a:ext cx="457200" cy="457200"/>
          </a:xfrm>
          <a:prstGeom prst="rect">
            <a:avLst/>
          </a:prstGeom>
          <a:solidFill>
            <a:srgbClr val="0D1F3C"/>
          </a:solidFill>
          <a:ln/>
        </p:spPr>
      </p:sp>
      <p:sp>
        <p:nvSpPr>
          <p:cNvPr id="17" name="Text 15"/>
          <p:cNvSpPr/>
          <p:nvPr/>
        </p:nvSpPr>
        <p:spPr>
          <a:xfrm>
            <a:off x="365760" y="3931920"/>
            <a:ext cx="457200" cy="457200"/>
          </a:xfrm>
          <a:prstGeom prst="rect">
            <a:avLst/>
          </a:prstGeom>
          <a:noFill/>
          <a:ln/>
        </p:spPr>
        <p:txBody>
          <a:bodyPr wrap="square" rtlCol="0" anchor="ctr"/>
          <a:lstStyle/>
          <a:p>
            <a:pPr marL="0" indent="0" algn="ctr">
              <a:buNone/>
            </a:pPr>
            <a:r>
              <a:rPr lang="en-US" sz="1400" b="1" dirty="0">
                <a:solidFill>
                  <a:srgbClr val="5DA8E0"/>
                </a:solidFill>
                <a:latin typeface="Calibri" pitchFamily="34" charset="0"/>
                <a:ea typeface="Calibri" pitchFamily="34" charset="-122"/>
                <a:cs typeface="Calibri" pitchFamily="34" charset="-120"/>
              </a:rPr>
              <a:t>04</a:t>
            </a:r>
            <a:endParaRPr lang="en-US" sz="1400" dirty="0"/>
          </a:p>
        </p:txBody>
      </p:sp>
      <p:sp>
        <p:nvSpPr>
          <p:cNvPr id="18" name="Text 16"/>
          <p:cNvSpPr/>
          <p:nvPr/>
        </p:nvSpPr>
        <p:spPr>
          <a:xfrm>
            <a:off x="914400" y="3931920"/>
            <a:ext cx="3474720" cy="256032"/>
          </a:xfrm>
          <a:prstGeom prst="rect">
            <a:avLst/>
          </a:prstGeom>
          <a:noFill/>
          <a:ln/>
        </p:spPr>
        <p:txBody>
          <a:bodyPr wrap="square" rtlCol="0" anchor="ctr"/>
          <a:lstStyle/>
          <a:p>
            <a:pPr marL="0" indent="0">
              <a:buNone/>
            </a:pPr>
            <a:r>
              <a:rPr lang="en-US" sz="1400" b="1" dirty="0">
                <a:solidFill>
                  <a:srgbClr val="0D1F3C"/>
                </a:solidFill>
                <a:latin typeface="Calibri" pitchFamily="34" charset="0"/>
                <a:ea typeface="Calibri" pitchFamily="34" charset="-122"/>
                <a:cs typeface="Calibri" pitchFamily="34" charset="-120"/>
              </a:rPr>
              <a:t>Dataset &amp; Training</a:t>
            </a:r>
            <a:endParaRPr lang="en-US" sz="1400" dirty="0"/>
          </a:p>
        </p:txBody>
      </p:sp>
      <p:sp>
        <p:nvSpPr>
          <p:cNvPr id="19" name="Text 17"/>
          <p:cNvSpPr/>
          <p:nvPr/>
        </p:nvSpPr>
        <p:spPr>
          <a:xfrm>
            <a:off x="914400" y="4169664"/>
            <a:ext cx="3474720" cy="201168"/>
          </a:xfrm>
          <a:prstGeom prst="rect">
            <a:avLst/>
          </a:prstGeom>
          <a:noFill/>
          <a:ln/>
        </p:spPr>
        <p:txBody>
          <a:bodyPr wrap="square" rtlCol="0" anchor="ctr"/>
          <a:lstStyle/>
          <a:p>
            <a:pPr marL="0" indent="0">
              <a:buNone/>
            </a:pPr>
            <a:r>
              <a:rPr lang="en-US" sz="1100" dirty="0">
                <a:solidFill>
                  <a:srgbClr val="8892A4"/>
                </a:solidFill>
                <a:latin typeface="Calibri" pitchFamily="34" charset="0"/>
                <a:ea typeface="Calibri" pitchFamily="34" charset="-122"/>
                <a:cs typeface="Calibri" pitchFamily="34" charset="-120"/>
              </a:rPr>
              <a:t>Data used and model training</a:t>
            </a:r>
            <a:endParaRPr lang="en-US" sz="1100" dirty="0"/>
          </a:p>
        </p:txBody>
      </p:sp>
      <p:sp>
        <p:nvSpPr>
          <p:cNvPr id="20" name="Shape 18"/>
          <p:cNvSpPr/>
          <p:nvPr/>
        </p:nvSpPr>
        <p:spPr>
          <a:xfrm>
            <a:off x="4846320" y="1188720"/>
            <a:ext cx="457200" cy="457200"/>
          </a:xfrm>
          <a:prstGeom prst="rect">
            <a:avLst/>
          </a:prstGeom>
          <a:solidFill>
            <a:srgbClr val="0D1F3C"/>
          </a:solidFill>
          <a:ln/>
        </p:spPr>
      </p:sp>
      <p:sp>
        <p:nvSpPr>
          <p:cNvPr id="21" name="Text 19"/>
          <p:cNvSpPr/>
          <p:nvPr/>
        </p:nvSpPr>
        <p:spPr>
          <a:xfrm>
            <a:off x="4846320" y="1188720"/>
            <a:ext cx="457200" cy="457200"/>
          </a:xfrm>
          <a:prstGeom prst="rect">
            <a:avLst/>
          </a:prstGeom>
          <a:noFill/>
          <a:ln/>
        </p:spPr>
        <p:txBody>
          <a:bodyPr wrap="square" rtlCol="0" anchor="ctr"/>
          <a:lstStyle/>
          <a:p>
            <a:pPr marL="0" indent="0" algn="ctr">
              <a:buNone/>
            </a:pPr>
            <a:r>
              <a:rPr lang="en-US" sz="1400" b="1" dirty="0">
                <a:solidFill>
                  <a:srgbClr val="5DA8E0"/>
                </a:solidFill>
                <a:latin typeface="Calibri" pitchFamily="34" charset="0"/>
                <a:ea typeface="Calibri" pitchFamily="34" charset="-122"/>
                <a:cs typeface="Calibri" pitchFamily="34" charset="-120"/>
              </a:rPr>
              <a:t>05</a:t>
            </a:r>
            <a:endParaRPr lang="en-US" sz="1400" dirty="0"/>
          </a:p>
        </p:txBody>
      </p:sp>
      <p:sp>
        <p:nvSpPr>
          <p:cNvPr id="22" name="Text 20"/>
          <p:cNvSpPr/>
          <p:nvPr/>
        </p:nvSpPr>
        <p:spPr>
          <a:xfrm>
            <a:off x="5394960" y="1188720"/>
            <a:ext cx="3474720" cy="256032"/>
          </a:xfrm>
          <a:prstGeom prst="rect">
            <a:avLst/>
          </a:prstGeom>
          <a:noFill/>
          <a:ln/>
        </p:spPr>
        <p:txBody>
          <a:bodyPr wrap="square" rtlCol="0" anchor="ctr"/>
          <a:lstStyle/>
          <a:p>
            <a:pPr marL="0" indent="0">
              <a:buNone/>
            </a:pPr>
            <a:r>
              <a:rPr lang="en-US" sz="1400" b="1" dirty="0">
                <a:solidFill>
                  <a:srgbClr val="0D1F3C"/>
                </a:solidFill>
                <a:latin typeface="Calibri" pitchFamily="34" charset="0"/>
                <a:ea typeface="Calibri" pitchFamily="34" charset="-122"/>
                <a:cs typeface="Calibri" pitchFamily="34" charset="-120"/>
              </a:rPr>
              <a:t>Key Features</a:t>
            </a:r>
            <a:endParaRPr lang="en-US" sz="1400" dirty="0"/>
          </a:p>
        </p:txBody>
      </p:sp>
      <p:sp>
        <p:nvSpPr>
          <p:cNvPr id="23" name="Text 21"/>
          <p:cNvSpPr/>
          <p:nvPr/>
        </p:nvSpPr>
        <p:spPr>
          <a:xfrm>
            <a:off x="5394960" y="1426464"/>
            <a:ext cx="3474720" cy="201168"/>
          </a:xfrm>
          <a:prstGeom prst="rect">
            <a:avLst/>
          </a:prstGeom>
          <a:noFill/>
          <a:ln/>
        </p:spPr>
        <p:txBody>
          <a:bodyPr wrap="square" rtlCol="0" anchor="ctr"/>
          <a:lstStyle/>
          <a:p>
            <a:pPr marL="0" indent="0">
              <a:buNone/>
            </a:pPr>
            <a:r>
              <a:rPr lang="en-US" sz="1100" dirty="0">
                <a:solidFill>
                  <a:srgbClr val="8892A4"/>
                </a:solidFill>
                <a:latin typeface="Calibri" pitchFamily="34" charset="0"/>
                <a:ea typeface="Calibri" pitchFamily="34" charset="-122"/>
                <a:cs typeface="Calibri" pitchFamily="34" charset="-120"/>
              </a:rPr>
              <a:t>Grad-CAM, verdicts, reports</a:t>
            </a:r>
            <a:endParaRPr lang="en-US" sz="1100" dirty="0"/>
          </a:p>
        </p:txBody>
      </p:sp>
      <p:sp>
        <p:nvSpPr>
          <p:cNvPr id="24" name="Shape 22"/>
          <p:cNvSpPr/>
          <p:nvPr/>
        </p:nvSpPr>
        <p:spPr>
          <a:xfrm>
            <a:off x="4846320" y="2103120"/>
            <a:ext cx="457200" cy="457200"/>
          </a:xfrm>
          <a:prstGeom prst="rect">
            <a:avLst/>
          </a:prstGeom>
          <a:solidFill>
            <a:srgbClr val="0D1F3C"/>
          </a:solidFill>
          <a:ln/>
        </p:spPr>
      </p:sp>
      <p:sp>
        <p:nvSpPr>
          <p:cNvPr id="25" name="Text 23"/>
          <p:cNvSpPr/>
          <p:nvPr/>
        </p:nvSpPr>
        <p:spPr>
          <a:xfrm>
            <a:off x="4846320" y="2103120"/>
            <a:ext cx="457200" cy="457200"/>
          </a:xfrm>
          <a:prstGeom prst="rect">
            <a:avLst/>
          </a:prstGeom>
          <a:noFill/>
          <a:ln/>
        </p:spPr>
        <p:txBody>
          <a:bodyPr wrap="square" rtlCol="0" anchor="ctr"/>
          <a:lstStyle/>
          <a:p>
            <a:pPr marL="0" indent="0" algn="ctr">
              <a:buNone/>
            </a:pPr>
            <a:r>
              <a:rPr lang="en-US" sz="1400" b="1" dirty="0">
                <a:solidFill>
                  <a:srgbClr val="5DA8E0"/>
                </a:solidFill>
                <a:latin typeface="Calibri" pitchFamily="34" charset="0"/>
                <a:ea typeface="Calibri" pitchFamily="34" charset="-122"/>
                <a:cs typeface="Calibri" pitchFamily="34" charset="-120"/>
              </a:rPr>
              <a:t>06</a:t>
            </a:r>
            <a:endParaRPr lang="en-US" sz="1400" dirty="0"/>
          </a:p>
        </p:txBody>
      </p:sp>
      <p:sp>
        <p:nvSpPr>
          <p:cNvPr id="26" name="Text 24"/>
          <p:cNvSpPr/>
          <p:nvPr/>
        </p:nvSpPr>
        <p:spPr>
          <a:xfrm>
            <a:off x="5394960" y="2103120"/>
            <a:ext cx="3474720" cy="256032"/>
          </a:xfrm>
          <a:prstGeom prst="rect">
            <a:avLst/>
          </a:prstGeom>
          <a:noFill/>
          <a:ln/>
        </p:spPr>
        <p:txBody>
          <a:bodyPr wrap="square" rtlCol="0" anchor="ctr"/>
          <a:lstStyle/>
          <a:p>
            <a:pPr marL="0" indent="0">
              <a:buNone/>
            </a:pPr>
            <a:r>
              <a:rPr lang="en-US" sz="1400" b="1" dirty="0">
                <a:solidFill>
                  <a:srgbClr val="0D1F3C"/>
                </a:solidFill>
                <a:latin typeface="Calibri" pitchFamily="34" charset="0"/>
                <a:ea typeface="Calibri" pitchFamily="34" charset="-122"/>
                <a:cs typeface="Calibri" pitchFamily="34" charset="-120"/>
              </a:rPr>
              <a:t>Results</a:t>
            </a:r>
            <a:endParaRPr lang="en-US" sz="1400" dirty="0"/>
          </a:p>
        </p:txBody>
      </p:sp>
      <p:sp>
        <p:nvSpPr>
          <p:cNvPr id="27" name="Text 25"/>
          <p:cNvSpPr/>
          <p:nvPr/>
        </p:nvSpPr>
        <p:spPr>
          <a:xfrm>
            <a:off x="5394960" y="2340864"/>
            <a:ext cx="3474720" cy="201168"/>
          </a:xfrm>
          <a:prstGeom prst="rect">
            <a:avLst/>
          </a:prstGeom>
          <a:noFill/>
          <a:ln/>
        </p:spPr>
        <p:txBody>
          <a:bodyPr wrap="square" rtlCol="0" anchor="ctr"/>
          <a:lstStyle/>
          <a:p>
            <a:pPr marL="0" indent="0">
              <a:buNone/>
            </a:pPr>
            <a:r>
              <a:rPr lang="en-US" sz="1100" dirty="0">
                <a:solidFill>
                  <a:srgbClr val="8892A4"/>
                </a:solidFill>
                <a:latin typeface="Calibri" pitchFamily="34" charset="0"/>
                <a:ea typeface="Calibri" pitchFamily="34" charset="-122"/>
                <a:cs typeface="Calibri" pitchFamily="34" charset="-120"/>
              </a:rPr>
              <a:t>Performance metrics and comparison</a:t>
            </a:r>
            <a:endParaRPr lang="en-US" sz="1100" dirty="0"/>
          </a:p>
        </p:txBody>
      </p:sp>
      <p:sp>
        <p:nvSpPr>
          <p:cNvPr id="28" name="Shape 26"/>
          <p:cNvSpPr/>
          <p:nvPr/>
        </p:nvSpPr>
        <p:spPr>
          <a:xfrm>
            <a:off x="4846320" y="3017520"/>
            <a:ext cx="457200" cy="457200"/>
          </a:xfrm>
          <a:prstGeom prst="rect">
            <a:avLst/>
          </a:prstGeom>
          <a:solidFill>
            <a:srgbClr val="0D1F3C"/>
          </a:solidFill>
          <a:ln/>
        </p:spPr>
      </p:sp>
      <p:sp>
        <p:nvSpPr>
          <p:cNvPr id="29" name="Text 27"/>
          <p:cNvSpPr/>
          <p:nvPr/>
        </p:nvSpPr>
        <p:spPr>
          <a:xfrm>
            <a:off x="4846320" y="3017520"/>
            <a:ext cx="457200" cy="457200"/>
          </a:xfrm>
          <a:prstGeom prst="rect">
            <a:avLst/>
          </a:prstGeom>
          <a:noFill/>
          <a:ln/>
        </p:spPr>
        <p:txBody>
          <a:bodyPr wrap="square" rtlCol="0" anchor="ctr"/>
          <a:lstStyle/>
          <a:p>
            <a:pPr marL="0" indent="0" algn="ctr">
              <a:buNone/>
            </a:pPr>
            <a:r>
              <a:rPr lang="en-US" sz="1400" b="1" dirty="0">
                <a:solidFill>
                  <a:srgbClr val="5DA8E0"/>
                </a:solidFill>
                <a:latin typeface="Calibri" pitchFamily="34" charset="0"/>
                <a:ea typeface="Calibri" pitchFamily="34" charset="-122"/>
                <a:cs typeface="Calibri" pitchFamily="34" charset="-120"/>
              </a:rPr>
              <a:t>07</a:t>
            </a:r>
            <a:endParaRPr lang="en-US" sz="1400" dirty="0"/>
          </a:p>
        </p:txBody>
      </p:sp>
      <p:sp>
        <p:nvSpPr>
          <p:cNvPr id="30" name="Text 28"/>
          <p:cNvSpPr/>
          <p:nvPr/>
        </p:nvSpPr>
        <p:spPr>
          <a:xfrm>
            <a:off x="5394960" y="3017520"/>
            <a:ext cx="3474720" cy="256032"/>
          </a:xfrm>
          <a:prstGeom prst="rect">
            <a:avLst/>
          </a:prstGeom>
          <a:noFill/>
          <a:ln/>
        </p:spPr>
        <p:txBody>
          <a:bodyPr wrap="square" rtlCol="0" anchor="ctr"/>
          <a:lstStyle/>
          <a:p>
            <a:pPr marL="0" indent="0">
              <a:buNone/>
            </a:pPr>
            <a:r>
              <a:rPr lang="en-US" sz="1400" b="1" dirty="0">
                <a:solidFill>
                  <a:srgbClr val="0D1F3C"/>
                </a:solidFill>
                <a:latin typeface="Calibri" pitchFamily="34" charset="0"/>
                <a:ea typeface="Calibri" pitchFamily="34" charset="-122"/>
                <a:cs typeface="Calibri" pitchFamily="34" charset="-120"/>
              </a:rPr>
              <a:t>Application Demo</a:t>
            </a:r>
            <a:endParaRPr lang="en-US" sz="1400" dirty="0"/>
          </a:p>
        </p:txBody>
      </p:sp>
      <p:sp>
        <p:nvSpPr>
          <p:cNvPr id="31" name="Text 29"/>
          <p:cNvSpPr/>
          <p:nvPr/>
        </p:nvSpPr>
        <p:spPr>
          <a:xfrm>
            <a:off x="5394960" y="3255264"/>
            <a:ext cx="3474720" cy="201168"/>
          </a:xfrm>
          <a:prstGeom prst="rect">
            <a:avLst/>
          </a:prstGeom>
          <a:noFill/>
          <a:ln/>
        </p:spPr>
        <p:txBody>
          <a:bodyPr wrap="square" rtlCol="0" anchor="ctr"/>
          <a:lstStyle/>
          <a:p>
            <a:pPr marL="0" indent="0">
              <a:buNone/>
            </a:pPr>
            <a:r>
              <a:rPr lang="en-US" sz="1100" dirty="0">
                <a:solidFill>
                  <a:srgbClr val="8892A4"/>
                </a:solidFill>
                <a:latin typeface="Calibri" pitchFamily="34" charset="0"/>
                <a:ea typeface="Calibri" pitchFamily="34" charset="-122"/>
                <a:cs typeface="Calibri" pitchFamily="34" charset="-120"/>
              </a:rPr>
              <a:t>Screenshots of the working app</a:t>
            </a:r>
            <a:endParaRPr lang="en-US" sz="1100" dirty="0"/>
          </a:p>
        </p:txBody>
      </p:sp>
      <p:sp>
        <p:nvSpPr>
          <p:cNvPr id="32" name="Shape 30"/>
          <p:cNvSpPr/>
          <p:nvPr/>
        </p:nvSpPr>
        <p:spPr>
          <a:xfrm>
            <a:off x="4846320" y="3931920"/>
            <a:ext cx="457200" cy="457200"/>
          </a:xfrm>
          <a:prstGeom prst="rect">
            <a:avLst/>
          </a:prstGeom>
          <a:solidFill>
            <a:srgbClr val="0D1F3C"/>
          </a:solidFill>
          <a:ln/>
        </p:spPr>
      </p:sp>
      <p:sp>
        <p:nvSpPr>
          <p:cNvPr id="33" name="Text 31"/>
          <p:cNvSpPr/>
          <p:nvPr/>
        </p:nvSpPr>
        <p:spPr>
          <a:xfrm>
            <a:off x="4846320" y="3931920"/>
            <a:ext cx="457200" cy="457200"/>
          </a:xfrm>
          <a:prstGeom prst="rect">
            <a:avLst/>
          </a:prstGeom>
          <a:noFill/>
          <a:ln/>
        </p:spPr>
        <p:txBody>
          <a:bodyPr wrap="square" rtlCol="0" anchor="ctr"/>
          <a:lstStyle/>
          <a:p>
            <a:pPr marL="0" indent="0" algn="ctr">
              <a:buNone/>
            </a:pPr>
            <a:r>
              <a:rPr lang="en-US" sz="1400" b="1" dirty="0">
                <a:solidFill>
                  <a:srgbClr val="5DA8E0"/>
                </a:solidFill>
                <a:latin typeface="Calibri" pitchFamily="34" charset="0"/>
                <a:ea typeface="Calibri" pitchFamily="34" charset="-122"/>
                <a:cs typeface="Calibri" pitchFamily="34" charset="-120"/>
              </a:rPr>
              <a:t>08</a:t>
            </a:r>
            <a:endParaRPr lang="en-US" sz="1400" dirty="0"/>
          </a:p>
        </p:txBody>
      </p:sp>
      <p:sp>
        <p:nvSpPr>
          <p:cNvPr id="34" name="Text 32"/>
          <p:cNvSpPr/>
          <p:nvPr/>
        </p:nvSpPr>
        <p:spPr>
          <a:xfrm>
            <a:off x="5394960" y="3931920"/>
            <a:ext cx="3474720" cy="256032"/>
          </a:xfrm>
          <a:prstGeom prst="rect">
            <a:avLst/>
          </a:prstGeom>
          <a:noFill/>
          <a:ln/>
        </p:spPr>
        <p:txBody>
          <a:bodyPr wrap="square" rtlCol="0" anchor="ctr"/>
          <a:lstStyle/>
          <a:p>
            <a:pPr marL="0" indent="0">
              <a:buNone/>
            </a:pPr>
            <a:r>
              <a:rPr lang="en-US" sz="1400" b="1" dirty="0">
                <a:solidFill>
                  <a:srgbClr val="0D1F3C"/>
                </a:solidFill>
                <a:latin typeface="Calibri" pitchFamily="34" charset="0"/>
                <a:ea typeface="Calibri" pitchFamily="34" charset="-122"/>
                <a:cs typeface="Calibri" pitchFamily="34" charset="-120"/>
              </a:rPr>
              <a:t>Conclusion</a:t>
            </a:r>
            <a:endParaRPr lang="en-US" sz="1400" dirty="0"/>
          </a:p>
        </p:txBody>
      </p:sp>
      <p:sp>
        <p:nvSpPr>
          <p:cNvPr id="35" name="Text 33"/>
          <p:cNvSpPr/>
          <p:nvPr/>
        </p:nvSpPr>
        <p:spPr>
          <a:xfrm>
            <a:off x="5394960" y="4169664"/>
            <a:ext cx="3474720" cy="201168"/>
          </a:xfrm>
          <a:prstGeom prst="rect">
            <a:avLst/>
          </a:prstGeom>
          <a:noFill/>
          <a:ln/>
        </p:spPr>
        <p:txBody>
          <a:bodyPr wrap="square" rtlCol="0" anchor="ctr"/>
          <a:lstStyle/>
          <a:p>
            <a:pPr marL="0" indent="0">
              <a:buNone/>
            </a:pPr>
            <a:r>
              <a:rPr lang="en-US" sz="1100" dirty="0">
                <a:solidFill>
                  <a:srgbClr val="8892A4"/>
                </a:solidFill>
                <a:latin typeface="Calibri" pitchFamily="34" charset="0"/>
                <a:ea typeface="Calibri" pitchFamily="34" charset="-122"/>
                <a:cs typeface="Calibri" pitchFamily="34" charset="-120"/>
              </a:rPr>
              <a:t>Summary and learnings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1F3C"/>
          </a:solidFill>
          <a:ln/>
        </p:spPr>
      </p:sp>
      <p:sp>
        <p:nvSpPr>
          <p:cNvPr id="3" name="Text 1"/>
          <p:cNvSpPr/>
          <p:nvPr/>
        </p:nvSpPr>
        <p:spPr>
          <a:xfrm>
            <a:off x="365760" y="182880"/>
            <a:ext cx="8229600" cy="64008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Problem Statement</a:t>
            </a:r>
            <a:endParaRPr lang="en-US" sz="2800" dirty="0"/>
          </a:p>
        </p:txBody>
      </p:sp>
      <p:sp>
        <p:nvSpPr>
          <p:cNvPr id="4" name="Text 2"/>
          <p:cNvSpPr/>
          <p:nvPr/>
        </p:nvSpPr>
        <p:spPr>
          <a:xfrm>
            <a:off x="365760" y="1097280"/>
            <a:ext cx="8412480" cy="822960"/>
          </a:xfrm>
          <a:prstGeom prst="rect">
            <a:avLst/>
          </a:prstGeom>
          <a:noFill/>
          <a:ln/>
        </p:spPr>
        <p:txBody>
          <a:bodyPr wrap="square" rtlCol="0" anchor="ctr"/>
          <a:lstStyle/>
          <a:p>
            <a:pPr marL="0" indent="0" algn="just">
              <a:buNone/>
            </a:pPr>
            <a:r>
              <a:rPr lang="en-US" sz="1400" dirty="0">
                <a:solidFill>
                  <a:srgbClr val="333333"/>
                </a:solidFill>
                <a:latin typeface="Calibri" pitchFamily="34" charset="0"/>
                <a:ea typeface="Calibri" pitchFamily="34" charset="-122"/>
                <a:cs typeface="Calibri" pitchFamily="34" charset="-120"/>
              </a:rPr>
              <a:t>Deepfake technology uses AI to create highly realistic fake images and videos of real people. These synthetic images are increasingly being used for identity fraud, misinformation, and social engineering attacks. The human eye can no longer reliably distinguish real from fake — making automated detection essential.</a:t>
            </a:r>
            <a:endParaRPr lang="en-US" sz="1400" dirty="0"/>
          </a:p>
        </p:txBody>
      </p:sp>
      <p:sp>
        <p:nvSpPr>
          <p:cNvPr id="5" name="Shape 3"/>
          <p:cNvSpPr/>
          <p:nvPr/>
        </p:nvSpPr>
        <p:spPr>
          <a:xfrm>
            <a:off x="274320" y="2103120"/>
            <a:ext cx="2011680" cy="2560320"/>
          </a:xfrm>
          <a:prstGeom prst="rect">
            <a:avLst/>
          </a:prstGeom>
          <a:solidFill>
            <a:srgbClr val="F4F6F9"/>
          </a:solidFill>
          <a:ln w="12700">
            <a:solidFill>
              <a:srgbClr val="DDDDDD"/>
            </a:solidFill>
            <a:prstDash val="solid"/>
          </a:ln>
        </p:spPr>
      </p:sp>
      <p:sp>
        <p:nvSpPr>
          <p:cNvPr id="6" name="Text 4"/>
          <p:cNvSpPr/>
          <p:nvPr/>
        </p:nvSpPr>
        <p:spPr>
          <a:xfrm>
            <a:off x="274320" y="2194560"/>
            <a:ext cx="2011680" cy="54864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7" name="Text 5"/>
          <p:cNvSpPr/>
          <p:nvPr/>
        </p:nvSpPr>
        <p:spPr>
          <a:xfrm>
            <a:off x="274320" y="2743200"/>
            <a:ext cx="2011680" cy="365760"/>
          </a:xfrm>
          <a:prstGeom prst="rect">
            <a:avLst/>
          </a:prstGeom>
          <a:noFill/>
          <a:ln/>
        </p:spPr>
        <p:txBody>
          <a:bodyPr wrap="square" rtlCol="0" anchor="ctr"/>
          <a:lstStyle/>
          <a:p>
            <a:pPr marL="0" indent="0" algn="ctr">
              <a:buNone/>
            </a:pPr>
            <a:r>
              <a:rPr lang="en-US" sz="1300" b="1" dirty="0">
                <a:solidFill>
                  <a:srgbClr val="0D1F3C"/>
                </a:solidFill>
                <a:latin typeface="Calibri" pitchFamily="34" charset="0"/>
                <a:ea typeface="Calibri" pitchFamily="34" charset="-122"/>
                <a:cs typeface="Calibri" pitchFamily="34" charset="-120"/>
              </a:rPr>
              <a:t>Identity Fraud</a:t>
            </a:r>
            <a:endParaRPr lang="en-US" sz="1300" dirty="0"/>
          </a:p>
        </p:txBody>
      </p:sp>
      <p:sp>
        <p:nvSpPr>
          <p:cNvPr id="8" name="Text 6"/>
          <p:cNvSpPr/>
          <p:nvPr/>
        </p:nvSpPr>
        <p:spPr>
          <a:xfrm>
            <a:off x="365760" y="3154680"/>
            <a:ext cx="1828800" cy="1371600"/>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Deepfakes used to impersonate individuals in financial or legal systems</a:t>
            </a:r>
            <a:endParaRPr lang="en-US" sz="1100" dirty="0"/>
          </a:p>
        </p:txBody>
      </p:sp>
      <p:sp>
        <p:nvSpPr>
          <p:cNvPr id="9" name="Shape 7"/>
          <p:cNvSpPr/>
          <p:nvPr/>
        </p:nvSpPr>
        <p:spPr>
          <a:xfrm>
            <a:off x="2450592" y="2103120"/>
            <a:ext cx="2011680" cy="2560320"/>
          </a:xfrm>
          <a:prstGeom prst="rect">
            <a:avLst/>
          </a:prstGeom>
          <a:solidFill>
            <a:srgbClr val="F4F6F9"/>
          </a:solidFill>
          <a:ln w="12700">
            <a:solidFill>
              <a:srgbClr val="DDDDDD"/>
            </a:solidFill>
            <a:prstDash val="solid"/>
          </a:ln>
        </p:spPr>
      </p:sp>
      <p:sp>
        <p:nvSpPr>
          <p:cNvPr id="10" name="Text 8"/>
          <p:cNvSpPr/>
          <p:nvPr/>
        </p:nvSpPr>
        <p:spPr>
          <a:xfrm>
            <a:off x="2450592" y="2194560"/>
            <a:ext cx="2011680" cy="54864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1" name="Text 9"/>
          <p:cNvSpPr/>
          <p:nvPr/>
        </p:nvSpPr>
        <p:spPr>
          <a:xfrm>
            <a:off x="2450592" y="2743200"/>
            <a:ext cx="2011680" cy="365760"/>
          </a:xfrm>
          <a:prstGeom prst="rect">
            <a:avLst/>
          </a:prstGeom>
          <a:noFill/>
          <a:ln/>
        </p:spPr>
        <p:txBody>
          <a:bodyPr wrap="square" rtlCol="0" anchor="ctr"/>
          <a:lstStyle/>
          <a:p>
            <a:pPr marL="0" indent="0" algn="ctr">
              <a:buNone/>
            </a:pPr>
            <a:r>
              <a:rPr lang="en-US" sz="1300" b="1" dirty="0">
                <a:solidFill>
                  <a:srgbClr val="0D1F3C"/>
                </a:solidFill>
                <a:latin typeface="Calibri" pitchFamily="34" charset="0"/>
                <a:ea typeface="Calibri" pitchFamily="34" charset="-122"/>
                <a:cs typeface="Calibri" pitchFamily="34" charset="-120"/>
              </a:rPr>
              <a:t>Misinformation</a:t>
            </a:r>
            <a:endParaRPr lang="en-US" sz="1300" dirty="0"/>
          </a:p>
        </p:txBody>
      </p:sp>
      <p:sp>
        <p:nvSpPr>
          <p:cNvPr id="12" name="Text 10"/>
          <p:cNvSpPr/>
          <p:nvPr/>
        </p:nvSpPr>
        <p:spPr>
          <a:xfrm>
            <a:off x="2542032" y="3154680"/>
            <a:ext cx="1828800" cy="1371600"/>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Fabricated images of public figures spread false narratives</a:t>
            </a:r>
            <a:endParaRPr lang="en-US" sz="1100" dirty="0"/>
          </a:p>
        </p:txBody>
      </p:sp>
      <p:sp>
        <p:nvSpPr>
          <p:cNvPr id="13" name="Shape 11"/>
          <p:cNvSpPr/>
          <p:nvPr/>
        </p:nvSpPr>
        <p:spPr>
          <a:xfrm>
            <a:off x="4626864" y="2103120"/>
            <a:ext cx="2011680" cy="2560320"/>
          </a:xfrm>
          <a:prstGeom prst="rect">
            <a:avLst/>
          </a:prstGeom>
          <a:solidFill>
            <a:srgbClr val="F4F6F9"/>
          </a:solidFill>
          <a:ln w="12700">
            <a:solidFill>
              <a:srgbClr val="DDDDDD"/>
            </a:solidFill>
            <a:prstDash val="solid"/>
          </a:ln>
        </p:spPr>
      </p:sp>
      <p:sp>
        <p:nvSpPr>
          <p:cNvPr id="14" name="Text 12"/>
          <p:cNvSpPr/>
          <p:nvPr/>
        </p:nvSpPr>
        <p:spPr>
          <a:xfrm>
            <a:off x="4626864" y="2194560"/>
            <a:ext cx="2011680" cy="54864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5" name="Text 13"/>
          <p:cNvSpPr/>
          <p:nvPr/>
        </p:nvSpPr>
        <p:spPr>
          <a:xfrm>
            <a:off x="4626864" y="2743200"/>
            <a:ext cx="2011680" cy="365760"/>
          </a:xfrm>
          <a:prstGeom prst="rect">
            <a:avLst/>
          </a:prstGeom>
          <a:noFill/>
          <a:ln/>
        </p:spPr>
        <p:txBody>
          <a:bodyPr wrap="square" rtlCol="0" anchor="ctr"/>
          <a:lstStyle/>
          <a:p>
            <a:pPr marL="0" indent="0" algn="ctr">
              <a:buNone/>
            </a:pPr>
            <a:r>
              <a:rPr lang="en-US" sz="1300" b="1" dirty="0">
                <a:solidFill>
                  <a:srgbClr val="0D1F3C"/>
                </a:solidFill>
                <a:latin typeface="Calibri" pitchFamily="34" charset="0"/>
                <a:ea typeface="Calibri" pitchFamily="34" charset="-122"/>
                <a:cs typeface="Calibri" pitchFamily="34" charset="-120"/>
              </a:rPr>
              <a:t>Social Engineering</a:t>
            </a:r>
            <a:endParaRPr lang="en-US" sz="1300" dirty="0"/>
          </a:p>
        </p:txBody>
      </p:sp>
      <p:sp>
        <p:nvSpPr>
          <p:cNvPr id="16" name="Text 14"/>
          <p:cNvSpPr/>
          <p:nvPr/>
        </p:nvSpPr>
        <p:spPr>
          <a:xfrm>
            <a:off x="4718304" y="3154680"/>
            <a:ext cx="1828800" cy="1371600"/>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Synthetic media makes phishing attacks more convincing</a:t>
            </a:r>
            <a:endParaRPr lang="en-US" sz="1100" dirty="0"/>
          </a:p>
        </p:txBody>
      </p:sp>
      <p:sp>
        <p:nvSpPr>
          <p:cNvPr id="17" name="Shape 15"/>
          <p:cNvSpPr/>
          <p:nvPr/>
        </p:nvSpPr>
        <p:spPr>
          <a:xfrm>
            <a:off x="6803136" y="2103120"/>
            <a:ext cx="2011680" cy="2560320"/>
          </a:xfrm>
          <a:prstGeom prst="rect">
            <a:avLst/>
          </a:prstGeom>
          <a:solidFill>
            <a:srgbClr val="F4F6F9"/>
          </a:solidFill>
          <a:ln w="12700">
            <a:solidFill>
              <a:srgbClr val="DDDDDD"/>
            </a:solidFill>
            <a:prstDash val="solid"/>
          </a:ln>
        </p:spPr>
      </p:sp>
      <p:sp>
        <p:nvSpPr>
          <p:cNvPr id="18" name="Text 16"/>
          <p:cNvSpPr/>
          <p:nvPr/>
        </p:nvSpPr>
        <p:spPr>
          <a:xfrm>
            <a:off x="6803136" y="2194560"/>
            <a:ext cx="2011680" cy="54864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9" name="Text 17"/>
          <p:cNvSpPr/>
          <p:nvPr/>
        </p:nvSpPr>
        <p:spPr>
          <a:xfrm>
            <a:off x="6803136" y="2743200"/>
            <a:ext cx="2011680" cy="365760"/>
          </a:xfrm>
          <a:prstGeom prst="rect">
            <a:avLst/>
          </a:prstGeom>
          <a:noFill/>
          <a:ln/>
        </p:spPr>
        <p:txBody>
          <a:bodyPr wrap="square" rtlCol="0" anchor="ctr"/>
          <a:lstStyle/>
          <a:p>
            <a:pPr marL="0" indent="0" algn="ctr">
              <a:buNone/>
            </a:pPr>
            <a:r>
              <a:rPr lang="en-US" sz="1300" b="1" dirty="0">
                <a:solidFill>
                  <a:srgbClr val="0D1F3C"/>
                </a:solidFill>
                <a:latin typeface="Calibri" pitchFamily="34" charset="0"/>
                <a:ea typeface="Calibri" pitchFamily="34" charset="-122"/>
                <a:cs typeface="Calibri" pitchFamily="34" charset="-120"/>
              </a:rPr>
              <a:t>Legal Tampering</a:t>
            </a:r>
            <a:endParaRPr lang="en-US" sz="1300" dirty="0"/>
          </a:p>
        </p:txBody>
      </p:sp>
      <p:sp>
        <p:nvSpPr>
          <p:cNvPr id="20" name="Text 18"/>
          <p:cNvSpPr/>
          <p:nvPr/>
        </p:nvSpPr>
        <p:spPr>
          <a:xfrm>
            <a:off x="6894576" y="3154680"/>
            <a:ext cx="1828800" cy="1371600"/>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Deepfake images used as fabricated evidence</a:t>
            </a:r>
            <a:endParaRPr lang="en-US" sz="1100" dirty="0"/>
          </a:p>
        </p:txBody>
      </p:sp>
      <p:sp>
        <p:nvSpPr>
          <p:cNvPr id="21" name="Text 19"/>
          <p:cNvSpPr/>
          <p:nvPr/>
        </p:nvSpPr>
        <p:spPr>
          <a:xfrm>
            <a:off x="365760" y="4754880"/>
            <a:ext cx="8412480" cy="274320"/>
          </a:xfrm>
          <a:prstGeom prst="rect">
            <a:avLst/>
          </a:prstGeom>
          <a:noFill/>
          <a:ln/>
        </p:spPr>
        <p:txBody>
          <a:bodyPr wrap="square" rtlCol="0" anchor="ctr"/>
          <a:lstStyle/>
          <a:p>
            <a:pPr marL="0" indent="0" algn="ctr">
              <a:buNone/>
            </a:pPr>
            <a:r>
              <a:rPr lang="en-US" sz="1300" b="1" dirty="0">
                <a:solidFill>
                  <a:srgbClr val="2E6DA4"/>
                </a:solidFill>
                <a:latin typeface="Calibri" pitchFamily="34" charset="0"/>
                <a:ea typeface="Calibri" pitchFamily="34" charset="-122"/>
                <a:cs typeface="Calibri" pitchFamily="34" charset="-120"/>
              </a:rPr>
              <a:t>DeepGuard was developed to address this growing cybersecurity threat using deep learning and forensic AI.</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1F3C"/>
          </a:solidFill>
          <a:ln/>
        </p:spPr>
      </p:sp>
      <p:sp>
        <p:nvSpPr>
          <p:cNvPr id="3" name="Text 1"/>
          <p:cNvSpPr/>
          <p:nvPr/>
        </p:nvSpPr>
        <p:spPr>
          <a:xfrm>
            <a:off x="365760" y="182880"/>
            <a:ext cx="8229600" cy="64008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Project Overview</a:t>
            </a:r>
            <a:endParaRPr lang="en-US" sz="2800" dirty="0"/>
          </a:p>
        </p:txBody>
      </p:sp>
      <p:sp>
        <p:nvSpPr>
          <p:cNvPr id="4" name="Text 2"/>
          <p:cNvSpPr/>
          <p:nvPr/>
        </p:nvSpPr>
        <p:spPr>
          <a:xfrm>
            <a:off x="365760" y="1097280"/>
            <a:ext cx="4114800" cy="365760"/>
          </a:xfrm>
          <a:prstGeom prst="rect">
            <a:avLst/>
          </a:prstGeom>
          <a:noFill/>
          <a:ln/>
        </p:spPr>
        <p:txBody>
          <a:bodyPr wrap="square" rtlCol="0" anchor="ctr"/>
          <a:lstStyle/>
          <a:p>
            <a:pPr marL="0" indent="0">
              <a:buNone/>
            </a:pPr>
            <a:r>
              <a:rPr lang="en-US" sz="1600" b="1" dirty="0">
                <a:solidFill>
                  <a:srgbClr val="0D1F3C"/>
                </a:solidFill>
                <a:latin typeface="Calibri" pitchFamily="34" charset="0"/>
                <a:ea typeface="Calibri" pitchFamily="34" charset="-122"/>
                <a:cs typeface="Calibri" pitchFamily="34" charset="-120"/>
              </a:rPr>
              <a:t>What is DeepGuard?</a:t>
            </a:r>
            <a:endParaRPr lang="en-US" sz="1600" dirty="0"/>
          </a:p>
        </p:txBody>
      </p:sp>
      <p:sp>
        <p:nvSpPr>
          <p:cNvPr id="5" name="Text 3"/>
          <p:cNvSpPr/>
          <p:nvPr/>
        </p:nvSpPr>
        <p:spPr>
          <a:xfrm>
            <a:off x="365760" y="1508760"/>
            <a:ext cx="4114800" cy="1828800"/>
          </a:xfrm>
          <a:prstGeom prst="rect">
            <a:avLst/>
          </a:prstGeom>
          <a:noFill/>
          <a:ln/>
        </p:spPr>
        <p:txBody>
          <a:bodyPr wrap="square" rtlCol="0" anchor="ctr"/>
          <a:lstStyle/>
          <a:p>
            <a:pPr marL="0" indent="0" algn="just">
              <a:buNone/>
            </a:pPr>
            <a:r>
              <a:rPr lang="en-US" sz="1200" dirty="0">
                <a:solidFill>
                  <a:srgbClr val="333333"/>
                </a:solidFill>
                <a:latin typeface="Calibri" pitchFamily="34" charset="0"/>
                <a:ea typeface="Calibri" pitchFamily="34" charset="-122"/>
                <a:cs typeface="Calibri" pitchFamily="34" charset="-120"/>
              </a:rPr>
              <a:t>DeepGuard is a complete AI-powered deepfake image detection system. It accepts images through file upload or live webcam, detects the face using MTCNN, runs the image through a fine-tuned EfficientNetB4 neural network, and provides a forensic analysis result with a Grad-CAM heatmap showing exactly which facial regions triggered the prediction.</a:t>
            </a:r>
            <a:endParaRPr lang="en-US" sz="1200" dirty="0"/>
          </a:p>
        </p:txBody>
      </p:sp>
      <p:sp>
        <p:nvSpPr>
          <p:cNvPr id="6" name="Shape 4"/>
          <p:cNvSpPr/>
          <p:nvPr/>
        </p:nvSpPr>
        <p:spPr>
          <a:xfrm>
            <a:off x="365760" y="3383280"/>
            <a:ext cx="1920240" cy="685800"/>
          </a:xfrm>
          <a:prstGeom prst="rect">
            <a:avLst/>
          </a:prstGeom>
          <a:solidFill>
            <a:srgbClr val="0D1F3C"/>
          </a:solidFill>
          <a:ln/>
        </p:spPr>
      </p:sp>
      <p:sp>
        <p:nvSpPr>
          <p:cNvPr id="7" name="Text 5"/>
          <p:cNvSpPr/>
          <p:nvPr/>
        </p:nvSpPr>
        <p:spPr>
          <a:xfrm>
            <a:off x="365760" y="3429000"/>
            <a:ext cx="1920240" cy="365760"/>
          </a:xfrm>
          <a:prstGeom prst="rect">
            <a:avLst/>
          </a:prstGeom>
          <a:noFill/>
          <a:ln/>
        </p:spPr>
        <p:txBody>
          <a:bodyPr wrap="square" rtlCol="0" anchor="ctr"/>
          <a:lstStyle/>
          <a:p>
            <a:pPr marL="0" indent="0" algn="ctr">
              <a:buNone/>
            </a:pPr>
            <a:r>
              <a:rPr lang="en-US" sz="1800" b="1" dirty="0">
                <a:solidFill>
                  <a:srgbClr val="5DA8E0"/>
                </a:solidFill>
                <a:latin typeface="Calibri" pitchFamily="34" charset="0"/>
                <a:ea typeface="Calibri" pitchFamily="34" charset="-122"/>
                <a:cs typeface="Calibri" pitchFamily="34" charset="-120"/>
              </a:rPr>
              <a:t>0.9634</a:t>
            </a:r>
            <a:endParaRPr lang="en-US" sz="1800" dirty="0"/>
          </a:p>
        </p:txBody>
      </p:sp>
      <p:sp>
        <p:nvSpPr>
          <p:cNvPr id="8" name="Text 6"/>
          <p:cNvSpPr/>
          <p:nvPr/>
        </p:nvSpPr>
        <p:spPr>
          <a:xfrm>
            <a:off x="365760" y="3749040"/>
            <a:ext cx="1920240" cy="274320"/>
          </a:xfrm>
          <a:prstGeom prst="rect">
            <a:avLst/>
          </a:prstGeom>
          <a:noFill/>
          <a:ln/>
        </p:spPr>
        <p:txBody>
          <a:bodyPr wrap="square" rtlCol="0" anchor="ctr"/>
          <a:lstStyle/>
          <a:p>
            <a:pPr marL="0" indent="0" algn="ctr">
              <a:buNone/>
            </a:pPr>
            <a:r>
              <a:rPr lang="en-US" sz="1000" dirty="0">
                <a:solidFill>
                  <a:srgbClr val="8892A4"/>
                </a:solidFill>
                <a:latin typeface="Calibri" pitchFamily="34" charset="0"/>
                <a:ea typeface="Calibri" pitchFamily="34" charset="-122"/>
                <a:cs typeface="Calibri" pitchFamily="34" charset="-120"/>
              </a:rPr>
              <a:t>Validation AUC</a:t>
            </a:r>
            <a:endParaRPr lang="en-US" sz="1000" dirty="0"/>
          </a:p>
        </p:txBody>
      </p:sp>
      <p:sp>
        <p:nvSpPr>
          <p:cNvPr id="9" name="Shape 7"/>
          <p:cNvSpPr/>
          <p:nvPr/>
        </p:nvSpPr>
        <p:spPr>
          <a:xfrm>
            <a:off x="2468880" y="3383280"/>
            <a:ext cx="1920240" cy="685800"/>
          </a:xfrm>
          <a:prstGeom prst="rect">
            <a:avLst/>
          </a:prstGeom>
          <a:solidFill>
            <a:srgbClr val="0D1F3C"/>
          </a:solidFill>
          <a:ln/>
        </p:spPr>
      </p:sp>
      <p:sp>
        <p:nvSpPr>
          <p:cNvPr id="10" name="Text 8"/>
          <p:cNvSpPr/>
          <p:nvPr/>
        </p:nvSpPr>
        <p:spPr>
          <a:xfrm>
            <a:off x="2468880" y="3429000"/>
            <a:ext cx="1920240" cy="365760"/>
          </a:xfrm>
          <a:prstGeom prst="rect">
            <a:avLst/>
          </a:prstGeom>
          <a:noFill/>
          <a:ln/>
        </p:spPr>
        <p:txBody>
          <a:bodyPr wrap="square" rtlCol="0" anchor="ctr"/>
          <a:lstStyle/>
          <a:p>
            <a:pPr marL="0" indent="0" algn="ctr">
              <a:buNone/>
            </a:pPr>
            <a:r>
              <a:rPr lang="en-US" sz="1800" b="1" dirty="0">
                <a:solidFill>
                  <a:srgbClr val="5DA8E0"/>
                </a:solidFill>
                <a:latin typeface="Calibri" pitchFamily="34" charset="0"/>
                <a:ea typeface="Calibri" pitchFamily="34" charset="-122"/>
                <a:cs typeface="Calibri" pitchFamily="34" charset="-120"/>
              </a:rPr>
              <a:t>89.6%</a:t>
            </a:r>
            <a:endParaRPr lang="en-US" sz="1800" dirty="0"/>
          </a:p>
        </p:txBody>
      </p:sp>
      <p:sp>
        <p:nvSpPr>
          <p:cNvPr id="11" name="Text 9"/>
          <p:cNvSpPr/>
          <p:nvPr/>
        </p:nvSpPr>
        <p:spPr>
          <a:xfrm>
            <a:off x="2468880" y="3749040"/>
            <a:ext cx="1920240" cy="274320"/>
          </a:xfrm>
          <a:prstGeom prst="rect">
            <a:avLst/>
          </a:prstGeom>
          <a:noFill/>
          <a:ln/>
        </p:spPr>
        <p:txBody>
          <a:bodyPr wrap="square" rtlCol="0" anchor="ctr"/>
          <a:lstStyle/>
          <a:p>
            <a:pPr marL="0" indent="0" algn="ctr">
              <a:buNone/>
            </a:pPr>
            <a:r>
              <a:rPr lang="en-US" sz="1000" dirty="0">
                <a:solidFill>
                  <a:srgbClr val="8892A4"/>
                </a:solidFill>
                <a:latin typeface="Calibri" pitchFamily="34" charset="0"/>
                <a:ea typeface="Calibri" pitchFamily="34" charset="-122"/>
                <a:cs typeface="Calibri" pitchFamily="34" charset="-120"/>
              </a:rPr>
              <a:t>Accuracy</a:t>
            </a:r>
            <a:endParaRPr lang="en-US" sz="1000" dirty="0"/>
          </a:p>
        </p:txBody>
      </p:sp>
      <p:sp>
        <p:nvSpPr>
          <p:cNvPr id="12" name="Shape 10"/>
          <p:cNvSpPr/>
          <p:nvPr/>
        </p:nvSpPr>
        <p:spPr>
          <a:xfrm>
            <a:off x="365760" y="4160520"/>
            <a:ext cx="1920240" cy="685800"/>
          </a:xfrm>
          <a:prstGeom prst="rect">
            <a:avLst/>
          </a:prstGeom>
          <a:solidFill>
            <a:srgbClr val="0D1F3C"/>
          </a:solidFill>
          <a:ln/>
        </p:spPr>
      </p:sp>
      <p:sp>
        <p:nvSpPr>
          <p:cNvPr id="13" name="Text 11"/>
          <p:cNvSpPr/>
          <p:nvPr/>
        </p:nvSpPr>
        <p:spPr>
          <a:xfrm>
            <a:off x="365760" y="4206240"/>
            <a:ext cx="1920240" cy="365760"/>
          </a:xfrm>
          <a:prstGeom prst="rect">
            <a:avLst/>
          </a:prstGeom>
          <a:noFill/>
          <a:ln/>
        </p:spPr>
        <p:txBody>
          <a:bodyPr wrap="square" rtlCol="0" anchor="ctr"/>
          <a:lstStyle/>
          <a:p>
            <a:pPr marL="0" indent="0" algn="ctr">
              <a:buNone/>
            </a:pPr>
            <a:r>
              <a:rPr lang="en-US" sz="1800" b="1" dirty="0">
                <a:solidFill>
                  <a:srgbClr val="5DA8E0"/>
                </a:solidFill>
                <a:latin typeface="Calibri" pitchFamily="34" charset="0"/>
                <a:ea typeface="Calibri" pitchFamily="34" charset="-122"/>
                <a:cs typeface="Calibri" pitchFamily="34" charset="-120"/>
              </a:rPr>
              <a:t>147K</a:t>
            </a:r>
            <a:endParaRPr lang="en-US" sz="1800" dirty="0"/>
          </a:p>
        </p:txBody>
      </p:sp>
      <p:sp>
        <p:nvSpPr>
          <p:cNvPr id="14" name="Text 12"/>
          <p:cNvSpPr/>
          <p:nvPr/>
        </p:nvSpPr>
        <p:spPr>
          <a:xfrm>
            <a:off x="365760" y="4526280"/>
            <a:ext cx="1920240" cy="274320"/>
          </a:xfrm>
          <a:prstGeom prst="rect">
            <a:avLst/>
          </a:prstGeom>
          <a:noFill/>
          <a:ln/>
        </p:spPr>
        <p:txBody>
          <a:bodyPr wrap="square" rtlCol="0" anchor="ctr"/>
          <a:lstStyle/>
          <a:p>
            <a:pPr marL="0" indent="0" algn="ctr">
              <a:buNone/>
            </a:pPr>
            <a:r>
              <a:rPr lang="en-US" sz="1000" dirty="0">
                <a:solidFill>
                  <a:srgbClr val="8892A4"/>
                </a:solidFill>
                <a:latin typeface="Calibri" pitchFamily="34" charset="0"/>
                <a:ea typeface="Calibri" pitchFamily="34" charset="-122"/>
                <a:cs typeface="Calibri" pitchFamily="34" charset="-120"/>
              </a:rPr>
              <a:t>Training Images</a:t>
            </a:r>
            <a:endParaRPr lang="en-US" sz="1000" dirty="0"/>
          </a:p>
        </p:txBody>
      </p:sp>
      <p:sp>
        <p:nvSpPr>
          <p:cNvPr id="15" name="Shape 13"/>
          <p:cNvSpPr/>
          <p:nvPr/>
        </p:nvSpPr>
        <p:spPr>
          <a:xfrm>
            <a:off x="2468880" y="4160520"/>
            <a:ext cx="1920240" cy="685800"/>
          </a:xfrm>
          <a:prstGeom prst="rect">
            <a:avLst/>
          </a:prstGeom>
          <a:solidFill>
            <a:srgbClr val="0D1F3C"/>
          </a:solidFill>
          <a:ln/>
        </p:spPr>
      </p:sp>
      <p:sp>
        <p:nvSpPr>
          <p:cNvPr id="16" name="Text 14"/>
          <p:cNvSpPr/>
          <p:nvPr/>
        </p:nvSpPr>
        <p:spPr>
          <a:xfrm>
            <a:off x="2468880" y="4206240"/>
            <a:ext cx="1920240" cy="365760"/>
          </a:xfrm>
          <a:prstGeom prst="rect">
            <a:avLst/>
          </a:prstGeom>
          <a:noFill/>
          <a:ln/>
        </p:spPr>
        <p:txBody>
          <a:bodyPr wrap="square" rtlCol="0" anchor="ctr"/>
          <a:lstStyle/>
          <a:p>
            <a:pPr marL="0" indent="0" algn="ctr">
              <a:buNone/>
            </a:pPr>
            <a:r>
              <a:rPr lang="en-US" sz="1800" b="1" dirty="0">
                <a:solidFill>
                  <a:srgbClr val="5DA8E0"/>
                </a:solidFill>
                <a:latin typeface="Calibri" pitchFamily="34" charset="0"/>
                <a:ea typeface="Calibri" pitchFamily="34" charset="-122"/>
                <a:cs typeface="Calibri" pitchFamily="34" charset="-120"/>
              </a:rPr>
              <a:t>5 Levels</a:t>
            </a:r>
            <a:endParaRPr lang="en-US" sz="1800" dirty="0"/>
          </a:p>
        </p:txBody>
      </p:sp>
      <p:sp>
        <p:nvSpPr>
          <p:cNvPr id="17" name="Text 15"/>
          <p:cNvSpPr/>
          <p:nvPr/>
        </p:nvSpPr>
        <p:spPr>
          <a:xfrm>
            <a:off x="2468880" y="4526280"/>
            <a:ext cx="1920240" cy="274320"/>
          </a:xfrm>
          <a:prstGeom prst="rect">
            <a:avLst/>
          </a:prstGeom>
          <a:noFill/>
          <a:ln/>
        </p:spPr>
        <p:txBody>
          <a:bodyPr wrap="square" rtlCol="0" anchor="ctr"/>
          <a:lstStyle/>
          <a:p>
            <a:pPr marL="0" indent="0" algn="ctr">
              <a:buNone/>
            </a:pPr>
            <a:r>
              <a:rPr lang="en-US" sz="1000" dirty="0">
                <a:solidFill>
                  <a:srgbClr val="8892A4"/>
                </a:solidFill>
                <a:latin typeface="Calibri" pitchFamily="34" charset="0"/>
                <a:ea typeface="Calibri" pitchFamily="34" charset="-122"/>
                <a:cs typeface="Calibri" pitchFamily="34" charset="-120"/>
              </a:rPr>
              <a:t>Verdict System</a:t>
            </a:r>
            <a:endParaRPr lang="en-US" sz="1000" dirty="0"/>
          </a:p>
        </p:txBody>
      </p:sp>
      <p:sp>
        <p:nvSpPr>
          <p:cNvPr id="18" name="Text 16"/>
          <p:cNvSpPr/>
          <p:nvPr/>
        </p:nvSpPr>
        <p:spPr>
          <a:xfrm>
            <a:off x="4846320" y="1097280"/>
            <a:ext cx="3931920" cy="365760"/>
          </a:xfrm>
          <a:prstGeom prst="rect">
            <a:avLst/>
          </a:prstGeom>
          <a:noFill/>
          <a:ln/>
        </p:spPr>
        <p:txBody>
          <a:bodyPr wrap="square" rtlCol="0" anchor="ctr"/>
          <a:lstStyle/>
          <a:p>
            <a:pPr marL="0" indent="0">
              <a:buNone/>
            </a:pPr>
            <a:r>
              <a:rPr lang="en-US" sz="1600" b="1" dirty="0">
                <a:solidFill>
                  <a:srgbClr val="0D1F3C"/>
                </a:solidFill>
                <a:latin typeface="Calibri" pitchFamily="34" charset="0"/>
                <a:ea typeface="Calibri" pitchFamily="34" charset="-122"/>
                <a:cs typeface="Calibri" pitchFamily="34" charset="-120"/>
              </a:rPr>
              <a:t>Technology Stack</a:t>
            </a:r>
            <a:endParaRPr lang="en-US" sz="1600" dirty="0"/>
          </a:p>
        </p:txBody>
      </p:sp>
      <p:sp>
        <p:nvSpPr>
          <p:cNvPr id="19" name="Shape 17"/>
          <p:cNvSpPr/>
          <p:nvPr/>
        </p:nvSpPr>
        <p:spPr>
          <a:xfrm>
            <a:off x="4846320" y="1508760"/>
            <a:ext cx="1371600" cy="320040"/>
          </a:xfrm>
          <a:prstGeom prst="rect">
            <a:avLst/>
          </a:prstGeom>
          <a:solidFill>
            <a:srgbClr val="F4F6F9"/>
          </a:solidFill>
          <a:ln/>
        </p:spPr>
      </p:sp>
      <p:sp>
        <p:nvSpPr>
          <p:cNvPr id="20" name="Text 18"/>
          <p:cNvSpPr/>
          <p:nvPr/>
        </p:nvSpPr>
        <p:spPr>
          <a:xfrm>
            <a:off x="4846320" y="1508760"/>
            <a:ext cx="1371600" cy="320040"/>
          </a:xfrm>
          <a:prstGeom prst="rect">
            <a:avLst/>
          </a:prstGeom>
          <a:noFill/>
          <a:ln/>
        </p:spPr>
        <p:txBody>
          <a:bodyPr wrap="square" rtlCol="0" anchor="ctr"/>
          <a:lstStyle/>
          <a:p>
            <a:pPr marL="0" indent="0" algn="ctr">
              <a:buNone/>
            </a:pPr>
            <a:r>
              <a:rPr lang="en-US" sz="1100" b="1" dirty="0">
                <a:solidFill>
                  <a:srgbClr val="0D1F3C"/>
                </a:solidFill>
                <a:latin typeface="Calibri" pitchFamily="34" charset="0"/>
                <a:ea typeface="Calibri" pitchFamily="34" charset="-122"/>
                <a:cs typeface="Calibri" pitchFamily="34" charset="-120"/>
              </a:rPr>
              <a:t>Model</a:t>
            </a:r>
            <a:endParaRPr lang="en-US" sz="1100" dirty="0"/>
          </a:p>
        </p:txBody>
      </p:sp>
      <p:sp>
        <p:nvSpPr>
          <p:cNvPr id="21" name="Text 19"/>
          <p:cNvSpPr/>
          <p:nvPr/>
        </p:nvSpPr>
        <p:spPr>
          <a:xfrm>
            <a:off x="6263640" y="1508760"/>
            <a:ext cx="2514600" cy="32004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EfficientNetB4 (ImageNet pretrained)</a:t>
            </a:r>
            <a:endParaRPr lang="en-US" sz="1100" dirty="0"/>
          </a:p>
        </p:txBody>
      </p:sp>
      <p:sp>
        <p:nvSpPr>
          <p:cNvPr id="22" name="Shape 20"/>
          <p:cNvSpPr/>
          <p:nvPr/>
        </p:nvSpPr>
        <p:spPr>
          <a:xfrm>
            <a:off x="4846320" y="1911096"/>
            <a:ext cx="1371600" cy="320040"/>
          </a:xfrm>
          <a:prstGeom prst="rect">
            <a:avLst/>
          </a:prstGeom>
          <a:solidFill>
            <a:srgbClr val="F4F6F9"/>
          </a:solidFill>
          <a:ln/>
        </p:spPr>
      </p:sp>
      <p:sp>
        <p:nvSpPr>
          <p:cNvPr id="23" name="Text 21"/>
          <p:cNvSpPr/>
          <p:nvPr/>
        </p:nvSpPr>
        <p:spPr>
          <a:xfrm>
            <a:off x="4846320" y="1911096"/>
            <a:ext cx="1371600" cy="320040"/>
          </a:xfrm>
          <a:prstGeom prst="rect">
            <a:avLst/>
          </a:prstGeom>
          <a:noFill/>
          <a:ln/>
        </p:spPr>
        <p:txBody>
          <a:bodyPr wrap="square" rtlCol="0" anchor="ctr"/>
          <a:lstStyle/>
          <a:p>
            <a:pPr marL="0" indent="0" algn="ctr">
              <a:buNone/>
            </a:pPr>
            <a:r>
              <a:rPr lang="en-US" sz="1100" b="1" dirty="0">
                <a:solidFill>
                  <a:srgbClr val="0D1F3C"/>
                </a:solidFill>
                <a:latin typeface="Calibri" pitchFamily="34" charset="0"/>
                <a:ea typeface="Calibri" pitchFamily="34" charset="-122"/>
                <a:cs typeface="Calibri" pitchFamily="34" charset="-120"/>
              </a:rPr>
              <a:t>Face Detection</a:t>
            </a:r>
            <a:endParaRPr lang="en-US" sz="1100" dirty="0"/>
          </a:p>
        </p:txBody>
      </p:sp>
      <p:sp>
        <p:nvSpPr>
          <p:cNvPr id="24" name="Text 22"/>
          <p:cNvSpPr/>
          <p:nvPr/>
        </p:nvSpPr>
        <p:spPr>
          <a:xfrm>
            <a:off x="6263640" y="1911096"/>
            <a:ext cx="2514600" cy="32004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MTCNN</a:t>
            </a:r>
            <a:endParaRPr lang="en-US" sz="1100" dirty="0"/>
          </a:p>
        </p:txBody>
      </p:sp>
      <p:sp>
        <p:nvSpPr>
          <p:cNvPr id="25" name="Shape 23"/>
          <p:cNvSpPr/>
          <p:nvPr/>
        </p:nvSpPr>
        <p:spPr>
          <a:xfrm>
            <a:off x="4846320" y="2313432"/>
            <a:ext cx="1371600" cy="320040"/>
          </a:xfrm>
          <a:prstGeom prst="rect">
            <a:avLst/>
          </a:prstGeom>
          <a:solidFill>
            <a:srgbClr val="F4F6F9"/>
          </a:solidFill>
          <a:ln/>
        </p:spPr>
      </p:sp>
      <p:sp>
        <p:nvSpPr>
          <p:cNvPr id="26" name="Text 24"/>
          <p:cNvSpPr/>
          <p:nvPr/>
        </p:nvSpPr>
        <p:spPr>
          <a:xfrm>
            <a:off x="4846320" y="2313432"/>
            <a:ext cx="1371600" cy="320040"/>
          </a:xfrm>
          <a:prstGeom prst="rect">
            <a:avLst/>
          </a:prstGeom>
          <a:noFill/>
          <a:ln/>
        </p:spPr>
        <p:txBody>
          <a:bodyPr wrap="square" rtlCol="0" anchor="ctr"/>
          <a:lstStyle/>
          <a:p>
            <a:pPr marL="0" indent="0" algn="ctr">
              <a:buNone/>
            </a:pPr>
            <a:r>
              <a:rPr lang="en-US" sz="1100" b="1" dirty="0">
                <a:solidFill>
                  <a:srgbClr val="0D1F3C"/>
                </a:solidFill>
                <a:latin typeface="Calibri" pitchFamily="34" charset="0"/>
                <a:ea typeface="Calibri" pitchFamily="34" charset="-122"/>
                <a:cs typeface="Calibri" pitchFamily="34" charset="-120"/>
              </a:rPr>
              <a:t>Explainability</a:t>
            </a:r>
            <a:endParaRPr lang="en-US" sz="1100" dirty="0"/>
          </a:p>
        </p:txBody>
      </p:sp>
      <p:sp>
        <p:nvSpPr>
          <p:cNvPr id="27" name="Text 25"/>
          <p:cNvSpPr/>
          <p:nvPr/>
        </p:nvSpPr>
        <p:spPr>
          <a:xfrm>
            <a:off x="6263640" y="2313432"/>
            <a:ext cx="2514600" cy="32004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Grad-CAM</a:t>
            </a:r>
            <a:endParaRPr lang="en-US" sz="1100" dirty="0"/>
          </a:p>
        </p:txBody>
      </p:sp>
      <p:sp>
        <p:nvSpPr>
          <p:cNvPr id="28" name="Shape 26"/>
          <p:cNvSpPr/>
          <p:nvPr/>
        </p:nvSpPr>
        <p:spPr>
          <a:xfrm>
            <a:off x="4846320" y="2715768"/>
            <a:ext cx="1371600" cy="320040"/>
          </a:xfrm>
          <a:prstGeom prst="rect">
            <a:avLst/>
          </a:prstGeom>
          <a:solidFill>
            <a:srgbClr val="F4F6F9"/>
          </a:solidFill>
          <a:ln/>
        </p:spPr>
      </p:sp>
      <p:sp>
        <p:nvSpPr>
          <p:cNvPr id="29" name="Text 27"/>
          <p:cNvSpPr/>
          <p:nvPr/>
        </p:nvSpPr>
        <p:spPr>
          <a:xfrm>
            <a:off x="4846320" y="2715768"/>
            <a:ext cx="1371600" cy="320040"/>
          </a:xfrm>
          <a:prstGeom prst="rect">
            <a:avLst/>
          </a:prstGeom>
          <a:noFill/>
          <a:ln/>
        </p:spPr>
        <p:txBody>
          <a:bodyPr wrap="square" rtlCol="0" anchor="ctr"/>
          <a:lstStyle/>
          <a:p>
            <a:pPr marL="0" indent="0" algn="ctr">
              <a:buNone/>
            </a:pPr>
            <a:r>
              <a:rPr lang="en-US" sz="1100" b="1" dirty="0">
                <a:solidFill>
                  <a:srgbClr val="0D1F3C"/>
                </a:solidFill>
                <a:latin typeface="Calibri" pitchFamily="34" charset="0"/>
                <a:ea typeface="Calibri" pitchFamily="34" charset="-122"/>
                <a:cs typeface="Calibri" pitchFamily="34" charset="-120"/>
              </a:rPr>
              <a:t>Framework</a:t>
            </a:r>
            <a:endParaRPr lang="en-US" sz="1100" dirty="0"/>
          </a:p>
        </p:txBody>
      </p:sp>
      <p:sp>
        <p:nvSpPr>
          <p:cNvPr id="30" name="Text 28"/>
          <p:cNvSpPr/>
          <p:nvPr/>
        </p:nvSpPr>
        <p:spPr>
          <a:xfrm>
            <a:off x="6263640" y="2715768"/>
            <a:ext cx="2514600" cy="32004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TensorFlow 2.17 / Keras 3.4</a:t>
            </a:r>
            <a:endParaRPr lang="en-US" sz="1100" dirty="0"/>
          </a:p>
        </p:txBody>
      </p:sp>
      <p:sp>
        <p:nvSpPr>
          <p:cNvPr id="31" name="Shape 29"/>
          <p:cNvSpPr/>
          <p:nvPr/>
        </p:nvSpPr>
        <p:spPr>
          <a:xfrm>
            <a:off x="4846320" y="3118104"/>
            <a:ext cx="1371600" cy="320040"/>
          </a:xfrm>
          <a:prstGeom prst="rect">
            <a:avLst/>
          </a:prstGeom>
          <a:solidFill>
            <a:srgbClr val="F4F6F9"/>
          </a:solidFill>
          <a:ln/>
        </p:spPr>
      </p:sp>
      <p:sp>
        <p:nvSpPr>
          <p:cNvPr id="32" name="Text 30"/>
          <p:cNvSpPr/>
          <p:nvPr/>
        </p:nvSpPr>
        <p:spPr>
          <a:xfrm>
            <a:off x="4846320" y="3118104"/>
            <a:ext cx="1371600" cy="320040"/>
          </a:xfrm>
          <a:prstGeom prst="rect">
            <a:avLst/>
          </a:prstGeom>
          <a:noFill/>
          <a:ln/>
        </p:spPr>
        <p:txBody>
          <a:bodyPr wrap="square" rtlCol="0" anchor="ctr"/>
          <a:lstStyle/>
          <a:p>
            <a:pPr marL="0" indent="0" algn="ctr">
              <a:buNone/>
            </a:pPr>
            <a:r>
              <a:rPr lang="en-US" sz="1100" b="1" dirty="0">
                <a:solidFill>
                  <a:srgbClr val="0D1F3C"/>
                </a:solidFill>
                <a:latin typeface="Calibri" pitchFamily="34" charset="0"/>
                <a:ea typeface="Calibri" pitchFamily="34" charset="-122"/>
                <a:cs typeface="Calibri" pitchFamily="34" charset="-120"/>
              </a:rPr>
              <a:t>Interface</a:t>
            </a:r>
            <a:endParaRPr lang="en-US" sz="1100" dirty="0"/>
          </a:p>
        </p:txBody>
      </p:sp>
      <p:sp>
        <p:nvSpPr>
          <p:cNvPr id="33" name="Text 31"/>
          <p:cNvSpPr/>
          <p:nvPr/>
        </p:nvSpPr>
        <p:spPr>
          <a:xfrm>
            <a:off x="6263640" y="3118104"/>
            <a:ext cx="2514600" cy="32004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Streamlit (dark theme)</a:t>
            </a:r>
            <a:endParaRPr lang="en-US" sz="1100" dirty="0"/>
          </a:p>
        </p:txBody>
      </p:sp>
      <p:sp>
        <p:nvSpPr>
          <p:cNvPr id="34" name="Shape 32"/>
          <p:cNvSpPr/>
          <p:nvPr/>
        </p:nvSpPr>
        <p:spPr>
          <a:xfrm>
            <a:off x="4846320" y="3520440"/>
            <a:ext cx="1371600" cy="320040"/>
          </a:xfrm>
          <a:prstGeom prst="rect">
            <a:avLst/>
          </a:prstGeom>
          <a:solidFill>
            <a:srgbClr val="F4F6F9"/>
          </a:solidFill>
          <a:ln/>
        </p:spPr>
      </p:sp>
      <p:sp>
        <p:nvSpPr>
          <p:cNvPr id="35" name="Text 33"/>
          <p:cNvSpPr/>
          <p:nvPr/>
        </p:nvSpPr>
        <p:spPr>
          <a:xfrm>
            <a:off x="4846320" y="3520440"/>
            <a:ext cx="1371600" cy="320040"/>
          </a:xfrm>
          <a:prstGeom prst="rect">
            <a:avLst/>
          </a:prstGeom>
          <a:noFill/>
          <a:ln/>
        </p:spPr>
        <p:txBody>
          <a:bodyPr wrap="square" rtlCol="0" anchor="ctr"/>
          <a:lstStyle/>
          <a:p>
            <a:pPr marL="0" indent="0" algn="ctr">
              <a:buNone/>
            </a:pPr>
            <a:r>
              <a:rPr lang="en-US" sz="1100" b="1" dirty="0">
                <a:solidFill>
                  <a:srgbClr val="0D1F3C"/>
                </a:solidFill>
                <a:latin typeface="Calibri" pitchFamily="34" charset="0"/>
                <a:ea typeface="Calibri" pitchFamily="34" charset="-122"/>
                <a:cs typeface="Calibri" pitchFamily="34" charset="-120"/>
              </a:rPr>
              <a:t>Reports</a:t>
            </a:r>
            <a:endParaRPr lang="en-US" sz="1100" dirty="0"/>
          </a:p>
        </p:txBody>
      </p:sp>
      <p:sp>
        <p:nvSpPr>
          <p:cNvPr id="36" name="Text 34"/>
          <p:cNvSpPr/>
          <p:nvPr/>
        </p:nvSpPr>
        <p:spPr>
          <a:xfrm>
            <a:off x="6263640" y="3520440"/>
            <a:ext cx="2514600" cy="32004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ReportLab PDF + CSV</a:t>
            </a:r>
            <a:endParaRPr lang="en-US" sz="1100" dirty="0"/>
          </a:p>
        </p:txBody>
      </p:sp>
      <p:sp>
        <p:nvSpPr>
          <p:cNvPr id="37" name="Shape 35"/>
          <p:cNvSpPr/>
          <p:nvPr/>
        </p:nvSpPr>
        <p:spPr>
          <a:xfrm>
            <a:off x="4846320" y="3922776"/>
            <a:ext cx="1371600" cy="320040"/>
          </a:xfrm>
          <a:prstGeom prst="rect">
            <a:avLst/>
          </a:prstGeom>
          <a:solidFill>
            <a:srgbClr val="F4F6F9"/>
          </a:solidFill>
          <a:ln/>
        </p:spPr>
      </p:sp>
      <p:sp>
        <p:nvSpPr>
          <p:cNvPr id="38" name="Text 36"/>
          <p:cNvSpPr/>
          <p:nvPr/>
        </p:nvSpPr>
        <p:spPr>
          <a:xfrm>
            <a:off x="4846320" y="3922776"/>
            <a:ext cx="1371600" cy="320040"/>
          </a:xfrm>
          <a:prstGeom prst="rect">
            <a:avLst/>
          </a:prstGeom>
          <a:noFill/>
          <a:ln/>
        </p:spPr>
        <p:txBody>
          <a:bodyPr wrap="square" rtlCol="0" anchor="ctr"/>
          <a:lstStyle/>
          <a:p>
            <a:pPr marL="0" indent="0" algn="ctr">
              <a:buNone/>
            </a:pPr>
            <a:r>
              <a:rPr lang="en-US" sz="1100" b="1" dirty="0">
                <a:solidFill>
                  <a:srgbClr val="0D1F3C"/>
                </a:solidFill>
                <a:latin typeface="Calibri" pitchFamily="34" charset="0"/>
                <a:ea typeface="Calibri" pitchFamily="34" charset="-122"/>
                <a:cs typeface="Calibri" pitchFamily="34" charset="-120"/>
              </a:rPr>
              <a:t>Language</a:t>
            </a:r>
            <a:endParaRPr lang="en-US" sz="1100" dirty="0"/>
          </a:p>
        </p:txBody>
      </p:sp>
      <p:sp>
        <p:nvSpPr>
          <p:cNvPr id="39" name="Text 37"/>
          <p:cNvSpPr/>
          <p:nvPr/>
        </p:nvSpPr>
        <p:spPr>
          <a:xfrm>
            <a:off x="6263640" y="3922776"/>
            <a:ext cx="2514600" cy="32004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Python 3.10</a:t>
            </a:r>
            <a:endParaRPr lang="en-US" sz="1100" dirty="0"/>
          </a:p>
        </p:txBody>
      </p:sp>
      <p:sp>
        <p:nvSpPr>
          <p:cNvPr id="40" name="Shape 38"/>
          <p:cNvSpPr/>
          <p:nvPr/>
        </p:nvSpPr>
        <p:spPr>
          <a:xfrm>
            <a:off x="4846320" y="4325112"/>
            <a:ext cx="1371600" cy="320040"/>
          </a:xfrm>
          <a:prstGeom prst="rect">
            <a:avLst/>
          </a:prstGeom>
          <a:solidFill>
            <a:srgbClr val="F4F6F9"/>
          </a:solidFill>
          <a:ln/>
        </p:spPr>
      </p:sp>
      <p:sp>
        <p:nvSpPr>
          <p:cNvPr id="41" name="Text 39"/>
          <p:cNvSpPr/>
          <p:nvPr/>
        </p:nvSpPr>
        <p:spPr>
          <a:xfrm>
            <a:off x="4846320" y="4325112"/>
            <a:ext cx="1371600" cy="320040"/>
          </a:xfrm>
          <a:prstGeom prst="rect">
            <a:avLst/>
          </a:prstGeom>
          <a:noFill/>
          <a:ln/>
        </p:spPr>
        <p:txBody>
          <a:bodyPr wrap="square" rtlCol="0" anchor="ctr"/>
          <a:lstStyle/>
          <a:p>
            <a:pPr marL="0" indent="0" algn="ctr">
              <a:buNone/>
            </a:pPr>
            <a:r>
              <a:rPr lang="en-US" sz="1100" b="1" dirty="0">
                <a:solidFill>
                  <a:srgbClr val="0D1F3C"/>
                </a:solidFill>
                <a:latin typeface="Calibri" pitchFamily="34" charset="0"/>
                <a:ea typeface="Calibri" pitchFamily="34" charset="-122"/>
                <a:cs typeface="Calibri" pitchFamily="34" charset="-120"/>
              </a:rPr>
              <a:t>Training Platform</a:t>
            </a:r>
            <a:endParaRPr lang="en-US" sz="1100" dirty="0"/>
          </a:p>
        </p:txBody>
      </p:sp>
      <p:sp>
        <p:nvSpPr>
          <p:cNvPr id="42" name="Text 40"/>
          <p:cNvSpPr/>
          <p:nvPr/>
        </p:nvSpPr>
        <p:spPr>
          <a:xfrm>
            <a:off x="6263640" y="4325112"/>
            <a:ext cx="2514600" cy="32004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Google Colab T4 GPU</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1F3C"/>
          </a:solidFill>
          <a:ln/>
        </p:spPr>
      </p:sp>
      <p:sp>
        <p:nvSpPr>
          <p:cNvPr id="3" name="Text 1"/>
          <p:cNvSpPr/>
          <p:nvPr/>
        </p:nvSpPr>
        <p:spPr>
          <a:xfrm>
            <a:off x="365760" y="182880"/>
            <a:ext cx="8229600" cy="64008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System Architecture</a:t>
            </a:r>
            <a:endParaRPr lang="en-US" sz="2800" dirty="0"/>
          </a:p>
        </p:txBody>
      </p:sp>
      <p:sp>
        <p:nvSpPr>
          <p:cNvPr id="4" name="Shape 2"/>
          <p:cNvSpPr/>
          <p:nvPr/>
        </p:nvSpPr>
        <p:spPr>
          <a:xfrm>
            <a:off x="182880" y="1143000"/>
            <a:ext cx="1600200" cy="1005840"/>
          </a:xfrm>
          <a:prstGeom prst="rect">
            <a:avLst/>
          </a:prstGeom>
          <a:solidFill>
            <a:srgbClr val="2E6DA4"/>
          </a:solidFill>
          <a:ln/>
        </p:spPr>
      </p:sp>
      <p:sp>
        <p:nvSpPr>
          <p:cNvPr id="5" name="Text 3"/>
          <p:cNvSpPr/>
          <p:nvPr/>
        </p:nvSpPr>
        <p:spPr>
          <a:xfrm>
            <a:off x="182880" y="1170432"/>
            <a:ext cx="1600200" cy="274320"/>
          </a:xfrm>
          <a:prstGeom prst="rect">
            <a:avLst/>
          </a:prstGeom>
          <a:noFill/>
          <a:ln/>
        </p:spPr>
        <p:txBody>
          <a:bodyPr wrap="square" rtlCol="0" anchor="ctr"/>
          <a:lstStyle/>
          <a:p>
            <a:pPr marL="0" indent="0" algn="ctr">
              <a:buNone/>
            </a:pPr>
            <a:r>
              <a:rPr lang="en-US" sz="1000" b="1" dirty="0">
                <a:solidFill>
                  <a:srgbClr val="5DA8E0"/>
                </a:solidFill>
                <a:latin typeface="Calibri" pitchFamily="34" charset="0"/>
                <a:ea typeface="Calibri" pitchFamily="34" charset="-122"/>
                <a:cs typeface="Calibri" pitchFamily="34" charset="-120"/>
              </a:rPr>
              <a:t>01</a:t>
            </a:r>
            <a:endParaRPr lang="en-US" sz="1000" dirty="0"/>
          </a:p>
        </p:txBody>
      </p:sp>
      <p:sp>
        <p:nvSpPr>
          <p:cNvPr id="6" name="Text 4"/>
          <p:cNvSpPr/>
          <p:nvPr/>
        </p:nvSpPr>
        <p:spPr>
          <a:xfrm>
            <a:off x="182880" y="1417320"/>
            <a:ext cx="1600200" cy="3200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INPUT</a:t>
            </a:r>
            <a:endParaRPr lang="en-US" sz="1300" dirty="0"/>
          </a:p>
        </p:txBody>
      </p:sp>
      <p:sp>
        <p:nvSpPr>
          <p:cNvPr id="7" name="Text 5"/>
          <p:cNvSpPr/>
          <p:nvPr/>
        </p:nvSpPr>
        <p:spPr>
          <a:xfrm>
            <a:off x="182880" y="1719072"/>
            <a:ext cx="1600200" cy="384048"/>
          </a:xfrm>
          <a:prstGeom prst="rect">
            <a:avLst/>
          </a:prstGeom>
          <a:noFill/>
          <a:ln/>
        </p:spPr>
        <p:txBody>
          <a:bodyPr wrap="square" rtlCol="0" anchor="ctr"/>
          <a:lstStyle/>
          <a:p>
            <a:pPr marL="0" indent="0" algn="ctr">
              <a:buNone/>
            </a:pPr>
            <a:r>
              <a:rPr lang="en-US" sz="1000" dirty="0">
                <a:solidFill>
                  <a:srgbClr val="8892A4"/>
                </a:solidFill>
                <a:latin typeface="Calibri" pitchFamily="34" charset="0"/>
                <a:ea typeface="Calibri" pitchFamily="34" charset="-122"/>
                <a:cs typeface="Calibri" pitchFamily="34" charset="-120"/>
              </a:rPr>
              <a:t>Upload image</a:t>
            </a:r>
            <a:endParaRPr lang="en-US" sz="1000" dirty="0"/>
          </a:p>
          <a:p>
            <a:pPr marL="0" indent="0" algn="ctr">
              <a:buNone/>
            </a:pPr>
            <a:r>
              <a:rPr lang="en-US" sz="1000" dirty="0">
                <a:solidFill>
                  <a:srgbClr val="8892A4"/>
                </a:solidFill>
                <a:latin typeface="Calibri" pitchFamily="34" charset="0"/>
                <a:ea typeface="Calibri" pitchFamily="34" charset="-122"/>
                <a:cs typeface="Calibri" pitchFamily="34" charset="-120"/>
              </a:rPr>
              <a:t>or Webcam capture</a:t>
            </a:r>
            <a:endParaRPr lang="en-US" sz="1000" dirty="0"/>
          </a:p>
        </p:txBody>
      </p:sp>
      <p:sp>
        <p:nvSpPr>
          <p:cNvPr id="8" name="Text 6"/>
          <p:cNvSpPr/>
          <p:nvPr/>
        </p:nvSpPr>
        <p:spPr>
          <a:xfrm>
            <a:off x="1783080" y="1463040"/>
            <a:ext cx="173736" cy="365760"/>
          </a:xfrm>
          <a:prstGeom prst="rect">
            <a:avLst/>
          </a:prstGeom>
          <a:noFill/>
          <a:ln/>
        </p:spPr>
        <p:txBody>
          <a:bodyPr wrap="square" rtlCol="0" anchor="ctr"/>
          <a:lstStyle/>
          <a:p>
            <a:pPr marL="0" indent="0" algn="ctr">
              <a:buNone/>
            </a:pPr>
            <a:r>
              <a:rPr lang="en-US" sz="1600" b="1" dirty="0">
                <a:solidFill>
                  <a:srgbClr val="5DA8E0"/>
                </a:solidFill>
                <a:latin typeface="Calibri" pitchFamily="34" charset="0"/>
                <a:ea typeface="Calibri" pitchFamily="34" charset="-122"/>
                <a:cs typeface="Calibri" pitchFamily="34" charset="-120"/>
              </a:rPr>
              <a:t>→</a:t>
            </a:r>
            <a:endParaRPr lang="en-US" sz="1600" dirty="0"/>
          </a:p>
        </p:txBody>
      </p:sp>
      <p:sp>
        <p:nvSpPr>
          <p:cNvPr id="9" name="Shape 7"/>
          <p:cNvSpPr/>
          <p:nvPr/>
        </p:nvSpPr>
        <p:spPr>
          <a:xfrm>
            <a:off x="1956816" y="1143000"/>
            <a:ext cx="1600200" cy="1005840"/>
          </a:xfrm>
          <a:prstGeom prst="rect">
            <a:avLst/>
          </a:prstGeom>
          <a:solidFill>
            <a:srgbClr val="2E6DA4"/>
          </a:solidFill>
          <a:ln/>
        </p:spPr>
      </p:sp>
      <p:sp>
        <p:nvSpPr>
          <p:cNvPr id="10" name="Text 8"/>
          <p:cNvSpPr/>
          <p:nvPr/>
        </p:nvSpPr>
        <p:spPr>
          <a:xfrm>
            <a:off x="1956816" y="1170432"/>
            <a:ext cx="1600200" cy="274320"/>
          </a:xfrm>
          <a:prstGeom prst="rect">
            <a:avLst/>
          </a:prstGeom>
          <a:noFill/>
          <a:ln/>
        </p:spPr>
        <p:txBody>
          <a:bodyPr wrap="square" rtlCol="0" anchor="ctr"/>
          <a:lstStyle/>
          <a:p>
            <a:pPr marL="0" indent="0" algn="ctr">
              <a:buNone/>
            </a:pPr>
            <a:r>
              <a:rPr lang="en-US" sz="1000" b="1" dirty="0">
                <a:solidFill>
                  <a:srgbClr val="5DA8E0"/>
                </a:solidFill>
                <a:latin typeface="Calibri" pitchFamily="34" charset="0"/>
                <a:ea typeface="Calibri" pitchFamily="34" charset="-122"/>
                <a:cs typeface="Calibri" pitchFamily="34" charset="-120"/>
              </a:rPr>
              <a:t>02</a:t>
            </a:r>
            <a:endParaRPr lang="en-US" sz="1000" dirty="0"/>
          </a:p>
        </p:txBody>
      </p:sp>
      <p:sp>
        <p:nvSpPr>
          <p:cNvPr id="11" name="Text 9"/>
          <p:cNvSpPr/>
          <p:nvPr/>
        </p:nvSpPr>
        <p:spPr>
          <a:xfrm>
            <a:off x="1956816" y="1417320"/>
            <a:ext cx="1600200" cy="3200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FACE DETECT</a:t>
            </a:r>
            <a:endParaRPr lang="en-US" sz="1300" dirty="0"/>
          </a:p>
        </p:txBody>
      </p:sp>
      <p:sp>
        <p:nvSpPr>
          <p:cNvPr id="12" name="Text 10"/>
          <p:cNvSpPr/>
          <p:nvPr/>
        </p:nvSpPr>
        <p:spPr>
          <a:xfrm>
            <a:off x="1956816" y="1719072"/>
            <a:ext cx="1600200" cy="384048"/>
          </a:xfrm>
          <a:prstGeom prst="rect">
            <a:avLst/>
          </a:prstGeom>
          <a:noFill/>
          <a:ln/>
        </p:spPr>
        <p:txBody>
          <a:bodyPr wrap="square" rtlCol="0" anchor="ctr"/>
          <a:lstStyle/>
          <a:p>
            <a:pPr marL="0" indent="0" algn="ctr">
              <a:buNone/>
            </a:pPr>
            <a:r>
              <a:rPr lang="en-US" sz="1000" dirty="0">
                <a:solidFill>
                  <a:srgbClr val="8892A4"/>
                </a:solidFill>
                <a:latin typeface="Calibri" pitchFamily="34" charset="0"/>
                <a:ea typeface="Calibri" pitchFamily="34" charset="-122"/>
                <a:cs typeface="Calibri" pitchFamily="34" charset="-120"/>
              </a:rPr>
              <a:t>MTCNN</a:t>
            </a:r>
            <a:endParaRPr lang="en-US" sz="1000" dirty="0"/>
          </a:p>
          <a:p>
            <a:pPr marL="0" indent="0" algn="ctr">
              <a:buNone/>
            </a:pPr>
            <a:r>
              <a:rPr lang="en-US" sz="1000" dirty="0">
                <a:solidFill>
                  <a:srgbClr val="8892A4"/>
                </a:solidFill>
                <a:latin typeface="Calibri" pitchFamily="34" charset="0"/>
                <a:ea typeface="Calibri" pitchFamily="34" charset="-122"/>
                <a:cs typeface="Calibri" pitchFamily="34" charset="-120"/>
              </a:rPr>
              <a:t>+ 20% padding</a:t>
            </a:r>
            <a:endParaRPr lang="en-US" sz="1000" dirty="0"/>
          </a:p>
        </p:txBody>
      </p:sp>
      <p:sp>
        <p:nvSpPr>
          <p:cNvPr id="13" name="Text 11"/>
          <p:cNvSpPr/>
          <p:nvPr/>
        </p:nvSpPr>
        <p:spPr>
          <a:xfrm>
            <a:off x="3557016" y="1463040"/>
            <a:ext cx="173736" cy="365760"/>
          </a:xfrm>
          <a:prstGeom prst="rect">
            <a:avLst/>
          </a:prstGeom>
          <a:noFill/>
          <a:ln/>
        </p:spPr>
        <p:txBody>
          <a:bodyPr wrap="square" rtlCol="0" anchor="ctr"/>
          <a:lstStyle/>
          <a:p>
            <a:pPr marL="0" indent="0" algn="ctr">
              <a:buNone/>
            </a:pPr>
            <a:r>
              <a:rPr lang="en-US" sz="1600" b="1" dirty="0">
                <a:solidFill>
                  <a:srgbClr val="5DA8E0"/>
                </a:solidFill>
                <a:latin typeface="Calibri" pitchFamily="34" charset="0"/>
                <a:ea typeface="Calibri" pitchFamily="34" charset="-122"/>
                <a:cs typeface="Calibri" pitchFamily="34" charset="-120"/>
              </a:rPr>
              <a:t>→</a:t>
            </a:r>
            <a:endParaRPr lang="en-US" sz="1600" dirty="0"/>
          </a:p>
        </p:txBody>
      </p:sp>
      <p:sp>
        <p:nvSpPr>
          <p:cNvPr id="14" name="Shape 12"/>
          <p:cNvSpPr/>
          <p:nvPr/>
        </p:nvSpPr>
        <p:spPr>
          <a:xfrm>
            <a:off x="3730752" y="1143000"/>
            <a:ext cx="1600200" cy="1005840"/>
          </a:xfrm>
          <a:prstGeom prst="rect">
            <a:avLst/>
          </a:prstGeom>
          <a:solidFill>
            <a:srgbClr val="2E6DA4"/>
          </a:solidFill>
          <a:ln/>
        </p:spPr>
      </p:sp>
      <p:sp>
        <p:nvSpPr>
          <p:cNvPr id="15" name="Text 13"/>
          <p:cNvSpPr/>
          <p:nvPr/>
        </p:nvSpPr>
        <p:spPr>
          <a:xfrm>
            <a:off x="3730752" y="1170432"/>
            <a:ext cx="1600200" cy="274320"/>
          </a:xfrm>
          <a:prstGeom prst="rect">
            <a:avLst/>
          </a:prstGeom>
          <a:noFill/>
          <a:ln/>
        </p:spPr>
        <p:txBody>
          <a:bodyPr wrap="square" rtlCol="0" anchor="ctr"/>
          <a:lstStyle/>
          <a:p>
            <a:pPr marL="0" indent="0" algn="ctr">
              <a:buNone/>
            </a:pPr>
            <a:r>
              <a:rPr lang="en-US" sz="1000" b="1" dirty="0">
                <a:solidFill>
                  <a:srgbClr val="5DA8E0"/>
                </a:solidFill>
                <a:latin typeface="Calibri" pitchFamily="34" charset="0"/>
                <a:ea typeface="Calibri" pitchFamily="34" charset="-122"/>
                <a:cs typeface="Calibri" pitchFamily="34" charset="-120"/>
              </a:rPr>
              <a:t>03</a:t>
            </a:r>
            <a:endParaRPr lang="en-US" sz="1000" dirty="0"/>
          </a:p>
        </p:txBody>
      </p:sp>
      <p:sp>
        <p:nvSpPr>
          <p:cNvPr id="16" name="Text 14"/>
          <p:cNvSpPr/>
          <p:nvPr/>
        </p:nvSpPr>
        <p:spPr>
          <a:xfrm>
            <a:off x="3730752" y="1417320"/>
            <a:ext cx="1600200" cy="3200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PREPROCESS</a:t>
            </a:r>
            <a:endParaRPr lang="en-US" sz="1300" dirty="0"/>
          </a:p>
        </p:txBody>
      </p:sp>
      <p:sp>
        <p:nvSpPr>
          <p:cNvPr id="17" name="Text 15"/>
          <p:cNvSpPr/>
          <p:nvPr/>
        </p:nvSpPr>
        <p:spPr>
          <a:xfrm>
            <a:off x="3730752" y="1719072"/>
            <a:ext cx="1600200" cy="384048"/>
          </a:xfrm>
          <a:prstGeom prst="rect">
            <a:avLst/>
          </a:prstGeom>
          <a:noFill/>
          <a:ln/>
        </p:spPr>
        <p:txBody>
          <a:bodyPr wrap="square" rtlCol="0" anchor="ctr"/>
          <a:lstStyle/>
          <a:p>
            <a:pPr marL="0" indent="0" algn="ctr">
              <a:buNone/>
            </a:pPr>
            <a:r>
              <a:rPr lang="en-US" sz="1000" dirty="0">
                <a:solidFill>
                  <a:srgbClr val="8892A4"/>
                </a:solidFill>
                <a:latin typeface="Calibri" pitchFamily="34" charset="0"/>
                <a:ea typeface="Calibri" pitchFamily="34" charset="-122"/>
                <a:cs typeface="Calibri" pitchFamily="34" charset="-120"/>
              </a:rPr>
              <a:t>Resize 224×224</a:t>
            </a:r>
            <a:endParaRPr lang="en-US" sz="1000" dirty="0"/>
          </a:p>
          <a:p>
            <a:pPr marL="0" indent="0" algn="ctr">
              <a:buNone/>
            </a:pPr>
            <a:r>
              <a:rPr lang="en-US" sz="1000" dirty="0" err="1">
                <a:solidFill>
                  <a:srgbClr val="8892A4"/>
                </a:solidFill>
                <a:latin typeface="Calibri" pitchFamily="34" charset="0"/>
                <a:ea typeface="Calibri" pitchFamily="34" charset="-122"/>
                <a:cs typeface="Calibri" pitchFamily="34" charset="-120"/>
              </a:rPr>
              <a:t>EfficientNet</a:t>
            </a:r>
            <a:r>
              <a:rPr lang="en-US" sz="1000" dirty="0">
                <a:solidFill>
                  <a:srgbClr val="8892A4"/>
                </a:solidFill>
                <a:latin typeface="Calibri" pitchFamily="34" charset="0"/>
                <a:ea typeface="Calibri" pitchFamily="34" charset="-122"/>
                <a:cs typeface="Calibri" pitchFamily="34" charset="-120"/>
              </a:rPr>
              <a:t> </a:t>
            </a:r>
            <a:r>
              <a:rPr lang="en-US" sz="1000" dirty="0" err="1">
                <a:solidFill>
                  <a:srgbClr val="8892A4"/>
                </a:solidFill>
                <a:latin typeface="Calibri" pitchFamily="34" charset="0"/>
                <a:ea typeface="Calibri" pitchFamily="34" charset="-122"/>
                <a:cs typeface="Calibri" pitchFamily="34" charset="-120"/>
              </a:rPr>
              <a:t>preprocess_input</a:t>
            </a:r>
            <a:endParaRPr lang="en-US" sz="1000" dirty="0"/>
          </a:p>
        </p:txBody>
      </p:sp>
      <p:sp>
        <p:nvSpPr>
          <p:cNvPr id="18" name="Text 16"/>
          <p:cNvSpPr/>
          <p:nvPr/>
        </p:nvSpPr>
        <p:spPr>
          <a:xfrm>
            <a:off x="5330952" y="1463040"/>
            <a:ext cx="173736" cy="365760"/>
          </a:xfrm>
          <a:prstGeom prst="rect">
            <a:avLst/>
          </a:prstGeom>
          <a:noFill/>
          <a:ln/>
        </p:spPr>
        <p:txBody>
          <a:bodyPr wrap="square" rtlCol="0" anchor="ctr"/>
          <a:lstStyle/>
          <a:p>
            <a:pPr marL="0" indent="0" algn="ctr">
              <a:buNone/>
            </a:pPr>
            <a:r>
              <a:rPr lang="en-US" sz="1600" b="1" dirty="0">
                <a:solidFill>
                  <a:srgbClr val="5DA8E0"/>
                </a:solidFill>
                <a:latin typeface="Calibri" pitchFamily="34" charset="0"/>
                <a:ea typeface="Calibri" pitchFamily="34" charset="-122"/>
                <a:cs typeface="Calibri" pitchFamily="34" charset="-120"/>
              </a:rPr>
              <a:t>→</a:t>
            </a:r>
            <a:endParaRPr lang="en-US" sz="1600" dirty="0"/>
          </a:p>
        </p:txBody>
      </p:sp>
      <p:sp>
        <p:nvSpPr>
          <p:cNvPr id="19" name="Shape 17"/>
          <p:cNvSpPr/>
          <p:nvPr/>
        </p:nvSpPr>
        <p:spPr>
          <a:xfrm>
            <a:off x="5504688" y="1143000"/>
            <a:ext cx="1600200" cy="1005840"/>
          </a:xfrm>
          <a:prstGeom prst="rect">
            <a:avLst/>
          </a:prstGeom>
          <a:solidFill>
            <a:srgbClr val="0D1F3C"/>
          </a:solidFill>
          <a:ln/>
        </p:spPr>
      </p:sp>
      <p:sp>
        <p:nvSpPr>
          <p:cNvPr id="20" name="Text 18"/>
          <p:cNvSpPr/>
          <p:nvPr/>
        </p:nvSpPr>
        <p:spPr>
          <a:xfrm>
            <a:off x="5504688" y="1170432"/>
            <a:ext cx="1600200" cy="274320"/>
          </a:xfrm>
          <a:prstGeom prst="rect">
            <a:avLst/>
          </a:prstGeom>
          <a:noFill/>
          <a:ln/>
        </p:spPr>
        <p:txBody>
          <a:bodyPr wrap="square" rtlCol="0" anchor="ctr"/>
          <a:lstStyle/>
          <a:p>
            <a:pPr marL="0" indent="0" algn="ctr">
              <a:buNone/>
            </a:pPr>
            <a:r>
              <a:rPr lang="en-US" sz="1000" b="1" dirty="0">
                <a:solidFill>
                  <a:srgbClr val="5DA8E0"/>
                </a:solidFill>
                <a:latin typeface="Calibri" pitchFamily="34" charset="0"/>
                <a:ea typeface="Calibri" pitchFamily="34" charset="-122"/>
                <a:cs typeface="Calibri" pitchFamily="34" charset="-120"/>
              </a:rPr>
              <a:t>04</a:t>
            </a:r>
            <a:endParaRPr lang="en-US" sz="1000" dirty="0"/>
          </a:p>
        </p:txBody>
      </p:sp>
      <p:sp>
        <p:nvSpPr>
          <p:cNvPr id="21" name="Text 19"/>
          <p:cNvSpPr/>
          <p:nvPr/>
        </p:nvSpPr>
        <p:spPr>
          <a:xfrm>
            <a:off x="5504688" y="1417320"/>
            <a:ext cx="1600200" cy="3200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INFERENCE</a:t>
            </a:r>
            <a:endParaRPr lang="en-US" sz="1300" dirty="0"/>
          </a:p>
        </p:txBody>
      </p:sp>
      <p:sp>
        <p:nvSpPr>
          <p:cNvPr id="22" name="Text 20"/>
          <p:cNvSpPr/>
          <p:nvPr/>
        </p:nvSpPr>
        <p:spPr>
          <a:xfrm>
            <a:off x="5504688" y="1719072"/>
            <a:ext cx="1600200" cy="384048"/>
          </a:xfrm>
          <a:prstGeom prst="rect">
            <a:avLst/>
          </a:prstGeom>
          <a:noFill/>
          <a:ln/>
        </p:spPr>
        <p:txBody>
          <a:bodyPr wrap="square" rtlCol="0" anchor="ctr"/>
          <a:lstStyle/>
          <a:p>
            <a:pPr marL="0" indent="0" algn="ctr">
              <a:buNone/>
            </a:pPr>
            <a:r>
              <a:rPr lang="en-US" sz="1000" dirty="0">
                <a:solidFill>
                  <a:srgbClr val="8892A4"/>
                </a:solidFill>
                <a:latin typeface="Calibri" pitchFamily="34" charset="0"/>
                <a:ea typeface="Calibri" pitchFamily="34" charset="-122"/>
                <a:cs typeface="Calibri" pitchFamily="34" charset="-120"/>
              </a:rPr>
              <a:t>EfficientNetB4</a:t>
            </a:r>
            <a:endParaRPr lang="en-US" sz="1000" dirty="0"/>
          </a:p>
          <a:p>
            <a:pPr marL="0" indent="0" algn="ctr">
              <a:buNone/>
            </a:pPr>
            <a:r>
              <a:rPr lang="en-US" sz="1000" dirty="0">
                <a:solidFill>
                  <a:srgbClr val="8892A4"/>
                </a:solidFill>
                <a:latin typeface="Calibri" pitchFamily="34" charset="0"/>
                <a:ea typeface="Calibri" pitchFamily="34" charset="-122"/>
                <a:cs typeface="Calibri" pitchFamily="34" charset="-120"/>
              </a:rPr>
              <a:t>Sigmoid output</a:t>
            </a:r>
            <a:endParaRPr lang="en-US" sz="1000" dirty="0"/>
          </a:p>
        </p:txBody>
      </p:sp>
      <p:sp>
        <p:nvSpPr>
          <p:cNvPr id="23" name="Text 21"/>
          <p:cNvSpPr/>
          <p:nvPr/>
        </p:nvSpPr>
        <p:spPr>
          <a:xfrm>
            <a:off x="7104888" y="1463040"/>
            <a:ext cx="173736" cy="365760"/>
          </a:xfrm>
          <a:prstGeom prst="rect">
            <a:avLst/>
          </a:prstGeom>
          <a:noFill/>
          <a:ln/>
        </p:spPr>
        <p:txBody>
          <a:bodyPr wrap="square" rtlCol="0" anchor="ctr"/>
          <a:lstStyle/>
          <a:p>
            <a:pPr marL="0" indent="0" algn="ctr">
              <a:buNone/>
            </a:pPr>
            <a:r>
              <a:rPr lang="en-US" sz="1600" b="1" dirty="0">
                <a:solidFill>
                  <a:srgbClr val="5DA8E0"/>
                </a:solidFill>
                <a:latin typeface="Calibri" pitchFamily="34" charset="0"/>
                <a:ea typeface="Calibri" pitchFamily="34" charset="-122"/>
                <a:cs typeface="Calibri" pitchFamily="34" charset="-120"/>
              </a:rPr>
              <a:t>→</a:t>
            </a:r>
            <a:endParaRPr lang="en-US" sz="1600" dirty="0"/>
          </a:p>
        </p:txBody>
      </p:sp>
      <p:sp>
        <p:nvSpPr>
          <p:cNvPr id="24" name="Shape 22"/>
          <p:cNvSpPr/>
          <p:nvPr/>
        </p:nvSpPr>
        <p:spPr>
          <a:xfrm>
            <a:off x="7278624" y="1143000"/>
            <a:ext cx="1600200" cy="1005840"/>
          </a:xfrm>
          <a:prstGeom prst="rect">
            <a:avLst/>
          </a:prstGeom>
          <a:solidFill>
            <a:srgbClr val="0D1F3C"/>
          </a:solidFill>
          <a:ln/>
        </p:spPr>
      </p:sp>
      <p:sp>
        <p:nvSpPr>
          <p:cNvPr id="25" name="Text 23"/>
          <p:cNvSpPr/>
          <p:nvPr/>
        </p:nvSpPr>
        <p:spPr>
          <a:xfrm>
            <a:off x="7278624" y="1170432"/>
            <a:ext cx="1600200" cy="274320"/>
          </a:xfrm>
          <a:prstGeom prst="rect">
            <a:avLst/>
          </a:prstGeom>
          <a:noFill/>
          <a:ln/>
        </p:spPr>
        <p:txBody>
          <a:bodyPr wrap="square" rtlCol="0" anchor="ctr"/>
          <a:lstStyle/>
          <a:p>
            <a:pPr marL="0" indent="0" algn="ctr">
              <a:buNone/>
            </a:pPr>
            <a:r>
              <a:rPr lang="en-US" sz="1000" b="1" dirty="0">
                <a:solidFill>
                  <a:srgbClr val="5DA8E0"/>
                </a:solidFill>
                <a:latin typeface="Calibri" pitchFamily="34" charset="0"/>
                <a:ea typeface="Calibri" pitchFamily="34" charset="-122"/>
                <a:cs typeface="Calibri" pitchFamily="34" charset="-120"/>
              </a:rPr>
              <a:t>05</a:t>
            </a:r>
            <a:endParaRPr lang="en-US" sz="1000" dirty="0"/>
          </a:p>
        </p:txBody>
      </p:sp>
      <p:sp>
        <p:nvSpPr>
          <p:cNvPr id="26" name="Text 24"/>
          <p:cNvSpPr/>
          <p:nvPr/>
        </p:nvSpPr>
        <p:spPr>
          <a:xfrm>
            <a:off x="7278624" y="1417320"/>
            <a:ext cx="1600200" cy="3200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OUTPUT</a:t>
            </a:r>
            <a:endParaRPr lang="en-US" sz="1300" dirty="0"/>
          </a:p>
        </p:txBody>
      </p:sp>
      <p:sp>
        <p:nvSpPr>
          <p:cNvPr id="27" name="Text 25"/>
          <p:cNvSpPr/>
          <p:nvPr/>
        </p:nvSpPr>
        <p:spPr>
          <a:xfrm>
            <a:off x="7278624" y="1719072"/>
            <a:ext cx="1600200" cy="384048"/>
          </a:xfrm>
          <a:prstGeom prst="rect">
            <a:avLst/>
          </a:prstGeom>
          <a:noFill/>
          <a:ln/>
        </p:spPr>
        <p:txBody>
          <a:bodyPr wrap="square" rtlCol="0" anchor="ctr"/>
          <a:lstStyle/>
          <a:p>
            <a:pPr marL="0" indent="0" algn="ctr">
              <a:buNone/>
            </a:pPr>
            <a:r>
              <a:rPr lang="en-US" sz="1000" dirty="0">
                <a:solidFill>
                  <a:srgbClr val="8892A4"/>
                </a:solidFill>
                <a:latin typeface="Calibri" pitchFamily="34" charset="0"/>
                <a:ea typeface="Calibri" pitchFamily="34" charset="-122"/>
                <a:cs typeface="Calibri" pitchFamily="34" charset="-120"/>
              </a:rPr>
              <a:t>Verdict + Grad-CAM</a:t>
            </a:r>
            <a:endParaRPr lang="en-US" sz="1000" dirty="0"/>
          </a:p>
          <a:p>
            <a:pPr marL="0" indent="0" algn="ctr">
              <a:buNone/>
            </a:pPr>
            <a:r>
              <a:rPr lang="en-US" sz="1000" dirty="0">
                <a:solidFill>
                  <a:srgbClr val="8892A4"/>
                </a:solidFill>
                <a:latin typeface="Calibri" pitchFamily="34" charset="0"/>
                <a:ea typeface="Calibri" pitchFamily="34" charset="-122"/>
                <a:cs typeface="Calibri" pitchFamily="34" charset="-120"/>
              </a:rPr>
              <a:t>+ PDF Report</a:t>
            </a:r>
            <a:endParaRPr lang="en-US" sz="1000" dirty="0"/>
          </a:p>
        </p:txBody>
      </p:sp>
      <p:sp>
        <p:nvSpPr>
          <p:cNvPr id="28" name="Text 26"/>
          <p:cNvSpPr/>
          <p:nvPr/>
        </p:nvSpPr>
        <p:spPr>
          <a:xfrm>
            <a:off x="365760" y="2331720"/>
            <a:ext cx="8412480" cy="320040"/>
          </a:xfrm>
          <a:prstGeom prst="rect">
            <a:avLst/>
          </a:prstGeom>
          <a:noFill/>
          <a:ln/>
        </p:spPr>
        <p:txBody>
          <a:bodyPr wrap="square" rtlCol="0" anchor="ctr"/>
          <a:lstStyle/>
          <a:p>
            <a:pPr marL="0" indent="0">
              <a:buNone/>
            </a:pPr>
            <a:r>
              <a:rPr lang="en-US" sz="1400" b="1" dirty="0">
                <a:solidFill>
                  <a:srgbClr val="0D1F3C"/>
                </a:solidFill>
                <a:latin typeface="Calibri" pitchFamily="34" charset="0"/>
                <a:ea typeface="Calibri" pitchFamily="34" charset="-122"/>
                <a:cs typeface="Calibri" pitchFamily="34" charset="-120"/>
              </a:rPr>
              <a:t>Component Details</a:t>
            </a:r>
            <a:endParaRPr lang="en-US" sz="1400" dirty="0"/>
          </a:p>
        </p:txBody>
      </p:sp>
      <p:sp>
        <p:nvSpPr>
          <p:cNvPr id="29" name="Shape 27"/>
          <p:cNvSpPr/>
          <p:nvPr/>
        </p:nvSpPr>
        <p:spPr>
          <a:xfrm>
            <a:off x="274320" y="2697480"/>
            <a:ext cx="1828800" cy="347472"/>
          </a:xfrm>
          <a:prstGeom prst="rect">
            <a:avLst/>
          </a:prstGeom>
          <a:solidFill>
            <a:srgbClr val="0D1F3C"/>
          </a:solidFill>
          <a:ln w="12700">
            <a:solidFill>
              <a:srgbClr val="CCCCCC"/>
            </a:solidFill>
            <a:prstDash val="solid"/>
          </a:ln>
        </p:spPr>
      </p:sp>
      <p:sp>
        <p:nvSpPr>
          <p:cNvPr id="30" name="Text 28"/>
          <p:cNvSpPr/>
          <p:nvPr/>
        </p:nvSpPr>
        <p:spPr>
          <a:xfrm>
            <a:off x="320040" y="2697480"/>
            <a:ext cx="173736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Stage</a:t>
            </a:r>
            <a:endParaRPr lang="en-US" sz="1100" dirty="0"/>
          </a:p>
        </p:txBody>
      </p:sp>
      <p:sp>
        <p:nvSpPr>
          <p:cNvPr id="31" name="Shape 29"/>
          <p:cNvSpPr/>
          <p:nvPr/>
        </p:nvSpPr>
        <p:spPr>
          <a:xfrm>
            <a:off x="2103120" y="2697480"/>
            <a:ext cx="2743200" cy="347472"/>
          </a:xfrm>
          <a:prstGeom prst="rect">
            <a:avLst/>
          </a:prstGeom>
          <a:solidFill>
            <a:srgbClr val="0D1F3C"/>
          </a:solidFill>
          <a:ln w="12700">
            <a:solidFill>
              <a:srgbClr val="CCCCCC"/>
            </a:solidFill>
            <a:prstDash val="solid"/>
          </a:ln>
        </p:spPr>
      </p:sp>
      <p:sp>
        <p:nvSpPr>
          <p:cNvPr id="32" name="Text 30"/>
          <p:cNvSpPr/>
          <p:nvPr/>
        </p:nvSpPr>
        <p:spPr>
          <a:xfrm>
            <a:off x="2148840" y="2697480"/>
            <a:ext cx="265176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Component</a:t>
            </a:r>
            <a:endParaRPr lang="en-US" sz="1100" dirty="0"/>
          </a:p>
        </p:txBody>
      </p:sp>
      <p:sp>
        <p:nvSpPr>
          <p:cNvPr id="33" name="Shape 31"/>
          <p:cNvSpPr/>
          <p:nvPr/>
        </p:nvSpPr>
        <p:spPr>
          <a:xfrm>
            <a:off x="4846320" y="2697480"/>
            <a:ext cx="2103120" cy="347472"/>
          </a:xfrm>
          <a:prstGeom prst="rect">
            <a:avLst/>
          </a:prstGeom>
          <a:solidFill>
            <a:srgbClr val="0D1F3C"/>
          </a:solidFill>
          <a:ln w="12700">
            <a:solidFill>
              <a:srgbClr val="CCCCCC"/>
            </a:solidFill>
            <a:prstDash val="solid"/>
          </a:ln>
        </p:spPr>
      </p:sp>
      <p:sp>
        <p:nvSpPr>
          <p:cNvPr id="34" name="Text 32"/>
          <p:cNvSpPr/>
          <p:nvPr/>
        </p:nvSpPr>
        <p:spPr>
          <a:xfrm>
            <a:off x="4892040" y="2697480"/>
            <a:ext cx="20116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Input</a:t>
            </a:r>
            <a:endParaRPr lang="en-US" sz="1100" dirty="0"/>
          </a:p>
        </p:txBody>
      </p:sp>
      <p:sp>
        <p:nvSpPr>
          <p:cNvPr id="35" name="Shape 33"/>
          <p:cNvSpPr/>
          <p:nvPr/>
        </p:nvSpPr>
        <p:spPr>
          <a:xfrm>
            <a:off x="6949440" y="2697480"/>
            <a:ext cx="2103120" cy="347472"/>
          </a:xfrm>
          <a:prstGeom prst="rect">
            <a:avLst/>
          </a:prstGeom>
          <a:solidFill>
            <a:srgbClr val="0D1F3C"/>
          </a:solidFill>
          <a:ln w="12700">
            <a:solidFill>
              <a:srgbClr val="CCCCCC"/>
            </a:solidFill>
            <a:prstDash val="solid"/>
          </a:ln>
        </p:spPr>
      </p:sp>
      <p:sp>
        <p:nvSpPr>
          <p:cNvPr id="36" name="Text 34"/>
          <p:cNvSpPr/>
          <p:nvPr/>
        </p:nvSpPr>
        <p:spPr>
          <a:xfrm>
            <a:off x="6995160" y="2697480"/>
            <a:ext cx="20116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Output</a:t>
            </a:r>
            <a:endParaRPr lang="en-US" sz="1100" dirty="0"/>
          </a:p>
        </p:txBody>
      </p:sp>
      <p:sp>
        <p:nvSpPr>
          <p:cNvPr id="37" name="Shape 35"/>
          <p:cNvSpPr/>
          <p:nvPr/>
        </p:nvSpPr>
        <p:spPr>
          <a:xfrm>
            <a:off x="274320" y="3081528"/>
            <a:ext cx="1828800" cy="347472"/>
          </a:xfrm>
          <a:prstGeom prst="rect">
            <a:avLst/>
          </a:prstGeom>
          <a:solidFill>
            <a:srgbClr val="FFFFFF"/>
          </a:solidFill>
          <a:ln w="12700">
            <a:solidFill>
              <a:srgbClr val="CCCCCC"/>
            </a:solidFill>
            <a:prstDash val="solid"/>
          </a:ln>
        </p:spPr>
      </p:sp>
      <p:sp>
        <p:nvSpPr>
          <p:cNvPr id="38" name="Text 36"/>
          <p:cNvSpPr/>
          <p:nvPr/>
        </p:nvSpPr>
        <p:spPr>
          <a:xfrm>
            <a:off x="320040" y="3081528"/>
            <a:ext cx="1737360" cy="34747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Face Detection</a:t>
            </a:r>
            <a:endParaRPr lang="en-US" sz="1000" dirty="0"/>
          </a:p>
        </p:txBody>
      </p:sp>
      <p:sp>
        <p:nvSpPr>
          <p:cNvPr id="39" name="Shape 37"/>
          <p:cNvSpPr/>
          <p:nvPr/>
        </p:nvSpPr>
        <p:spPr>
          <a:xfrm>
            <a:off x="2103120" y="3081528"/>
            <a:ext cx="2743200" cy="347472"/>
          </a:xfrm>
          <a:prstGeom prst="rect">
            <a:avLst/>
          </a:prstGeom>
          <a:solidFill>
            <a:srgbClr val="FFFFFF"/>
          </a:solidFill>
          <a:ln w="12700">
            <a:solidFill>
              <a:srgbClr val="CCCCCC"/>
            </a:solidFill>
            <a:prstDash val="solid"/>
          </a:ln>
        </p:spPr>
      </p:sp>
      <p:sp>
        <p:nvSpPr>
          <p:cNvPr id="40" name="Text 38"/>
          <p:cNvSpPr/>
          <p:nvPr/>
        </p:nvSpPr>
        <p:spPr>
          <a:xfrm>
            <a:off x="2148840" y="3081528"/>
            <a:ext cx="2651760" cy="34747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MTCNN (3-stage cascade)</a:t>
            </a:r>
            <a:endParaRPr lang="en-US" sz="1000" dirty="0"/>
          </a:p>
        </p:txBody>
      </p:sp>
      <p:sp>
        <p:nvSpPr>
          <p:cNvPr id="41" name="Shape 39"/>
          <p:cNvSpPr/>
          <p:nvPr/>
        </p:nvSpPr>
        <p:spPr>
          <a:xfrm>
            <a:off x="4846320" y="3081528"/>
            <a:ext cx="2103120" cy="347472"/>
          </a:xfrm>
          <a:prstGeom prst="rect">
            <a:avLst/>
          </a:prstGeom>
          <a:solidFill>
            <a:srgbClr val="FFFFFF"/>
          </a:solidFill>
          <a:ln w="12700">
            <a:solidFill>
              <a:srgbClr val="CCCCCC"/>
            </a:solidFill>
            <a:prstDash val="solid"/>
          </a:ln>
        </p:spPr>
      </p:sp>
      <p:sp>
        <p:nvSpPr>
          <p:cNvPr id="42" name="Text 40"/>
          <p:cNvSpPr/>
          <p:nvPr/>
        </p:nvSpPr>
        <p:spPr>
          <a:xfrm>
            <a:off x="4892040" y="3081528"/>
            <a:ext cx="2011680" cy="34747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Full RGB image</a:t>
            </a:r>
            <a:endParaRPr lang="en-US" sz="1000" dirty="0"/>
          </a:p>
        </p:txBody>
      </p:sp>
      <p:sp>
        <p:nvSpPr>
          <p:cNvPr id="43" name="Shape 41"/>
          <p:cNvSpPr/>
          <p:nvPr/>
        </p:nvSpPr>
        <p:spPr>
          <a:xfrm>
            <a:off x="6949440" y="3081528"/>
            <a:ext cx="2103120" cy="347472"/>
          </a:xfrm>
          <a:prstGeom prst="rect">
            <a:avLst/>
          </a:prstGeom>
          <a:solidFill>
            <a:srgbClr val="FFFFFF"/>
          </a:solidFill>
          <a:ln w="12700">
            <a:solidFill>
              <a:srgbClr val="CCCCCC"/>
            </a:solidFill>
            <a:prstDash val="solid"/>
          </a:ln>
        </p:spPr>
      </p:sp>
      <p:sp>
        <p:nvSpPr>
          <p:cNvPr id="44" name="Text 42"/>
          <p:cNvSpPr/>
          <p:nvPr/>
        </p:nvSpPr>
        <p:spPr>
          <a:xfrm>
            <a:off x="6995160" y="3081528"/>
            <a:ext cx="2011680" cy="34747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Bounding box coordinates</a:t>
            </a:r>
            <a:endParaRPr lang="en-US" sz="1000" dirty="0"/>
          </a:p>
        </p:txBody>
      </p:sp>
      <p:sp>
        <p:nvSpPr>
          <p:cNvPr id="45" name="Shape 43"/>
          <p:cNvSpPr/>
          <p:nvPr/>
        </p:nvSpPr>
        <p:spPr>
          <a:xfrm>
            <a:off x="274320" y="3465576"/>
            <a:ext cx="1828800" cy="347472"/>
          </a:xfrm>
          <a:prstGeom prst="rect">
            <a:avLst/>
          </a:prstGeom>
          <a:solidFill>
            <a:srgbClr val="F4F6F9"/>
          </a:solidFill>
          <a:ln w="12700">
            <a:solidFill>
              <a:srgbClr val="CCCCCC"/>
            </a:solidFill>
            <a:prstDash val="solid"/>
          </a:ln>
        </p:spPr>
      </p:sp>
      <p:sp>
        <p:nvSpPr>
          <p:cNvPr id="46" name="Text 44"/>
          <p:cNvSpPr/>
          <p:nvPr/>
        </p:nvSpPr>
        <p:spPr>
          <a:xfrm>
            <a:off x="320040" y="3465576"/>
            <a:ext cx="1737360" cy="34747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Preprocessing</a:t>
            </a:r>
            <a:endParaRPr lang="en-US" sz="1000" dirty="0"/>
          </a:p>
        </p:txBody>
      </p:sp>
      <p:sp>
        <p:nvSpPr>
          <p:cNvPr id="47" name="Shape 45"/>
          <p:cNvSpPr/>
          <p:nvPr/>
        </p:nvSpPr>
        <p:spPr>
          <a:xfrm>
            <a:off x="2103120" y="3465576"/>
            <a:ext cx="2743200" cy="347472"/>
          </a:xfrm>
          <a:prstGeom prst="rect">
            <a:avLst/>
          </a:prstGeom>
          <a:solidFill>
            <a:srgbClr val="F4F6F9"/>
          </a:solidFill>
          <a:ln w="12700">
            <a:solidFill>
              <a:srgbClr val="CCCCCC"/>
            </a:solidFill>
            <a:prstDash val="solid"/>
          </a:ln>
        </p:spPr>
      </p:sp>
      <p:sp>
        <p:nvSpPr>
          <p:cNvPr id="48" name="Text 46"/>
          <p:cNvSpPr/>
          <p:nvPr/>
        </p:nvSpPr>
        <p:spPr>
          <a:xfrm>
            <a:off x="2148840" y="3465576"/>
            <a:ext cx="2651760" cy="34747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OpenCV + EfficientNet preprocess_input</a:t>
            </a:r>
            <a:endParaRPr lang="en-US" sz="1000" dirty="0"/>
          </a:p>
        </p:txBody>
      </p:sp>
      <p:sp>
        <p:nvSpPr>
          <p:cNvPr id="49" name="Shape 47"/>
          <p:cNvSpPr/>
          <p:nvPr/>
        </p:nvSpPr>
        <p:spPr>
          <a:xfrm>
            <a:off x="4846320" y="3465576"/>
            <a:ext cx="2103120" cy="347472"/>
          </a:xfrm>
          <a:prstGeom prst="rect">
            <a:avLst/>
          </a:prstGeom>
          <a:solidFill>
            <a:srgbClr val="F4F6F9"/>
          </a:solidFill>
          <a:ln w="12700">
            <a:solidFill>
              <a:srgbClr val="CCCCCC"/>
            </a:solidFill>
            <a:prstDash val="solid"/>
          </a:ln>
        </p:spPr>
      </p:sp>
      <p:sp>
        <p:nvSpPr>
          <p:cNvPr id="50" name="Text 48"/>
          <p:cNvSpPr/>
          <p:nvPr/>
        </p:nvSpPr>
        <p:spPr>
          <a:xfrm>
            <a:off x="4892040" y="3465576"/>
            <a:ext cx="2011680" cy="34747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Cropped face region</a:t>
            </a:r>
            <a:endParaRPr lang="en-US" sz="1000" dirty="0"/>
          </a:p>
        </p:txBody>
      </p:sp>
      <p:sp>
        <p:nvSpPr>
          <p:cNvPr id="51" name="Shape 49"/>
          <p:cNvSpPr/>
          <p:nvPr/>
        </p:nvSpPr>
        <p:spPr>
          <a:xfrm>
            <a:off x="6949440" y="3465576"/>
            <a:ext cx="2103120" cy="347472"/>
          </a:xfrm>
          <a:prstGeom prst="rect">
            <a:avLst/>
          </a:prstGeom>
          <a:solidFill>
            <a:srgbClr val="F4F6F9"/>
          </a:solidFill>
          <a:ln w="12700">
            <a:solidFill>
              <a:srgbClr val="CCCCCC"/>
            </a:solidFill>
            <a:prstDash val="solid"/>
          </a:ln>
        </p:spPr>
      </p:sp>
      <p:sp>
        <p:nvSpPr>
          <p:cNvPr id="52" name="Text 50"/>
          <p:cNvSpPr/>
          <p:nvPr/>
        </p:nvSpPr>
        <p:spPr>
          <a:xfrm>
            <a:off x="6995160" y="3465576"/>
            <a:ext cx="2011680" cy="34747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224×224 normalised array</a:t>
            </a:r>
            <a:endParaRPr lang="en-US" sz="1000" dirty="0"/>
          </a:p>
        </p:txBody>
      </p:sp>
      <p:sp>
        <p:nvSpPr>
          <p:cNvPr id="53" name="Shape 51"/>
          <p:cNvSpPr/>
          <p:nvPr/>
        </p:nvSpPr>
        <p:spPr>
          <a:xfrm>
            <a:off x="274320" y="3849624"/>
            <a:ext cx="1828800" cy="347472"/>
          </a:xfrm>
          <a:prstGeom prst="rect">
            <a:avLst/>
          </a:prstGeom>
          <a:solidFill>
            <a:srgbClr val="FFFFFF"/>
          </a:solidFill>
          <a:ln w="12700">
            <a:solidFill>
              <a:srgbClr val="CCCCCC"/>
            </a:solidFill>
            <a:prstDash val="solid"/>
          </a:ln>
        </p:spPr>
      </p:sp>
      <p:sp>
        <p:nvSpPr>
          <p:cNvPr id="54" name="Text 52"/>
          <p:cNvSpPr/>
          <p:nvPr/>
        </p:nvSpPr>
        <p:spPr>
          <a:xfrm>
            <a:off x="320040" y="3849624"/>
            <a:ext cx="1737360" cy="34747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Inference</a:t>
            </a:r>
            <a:endParaRPr lang="en-US" sz="1000" dirty="0"/>
          </a:p>
        </p:txBody>
      </p:sp>
      <p:sp>
        <p:nvSpPr>
          <p:cNvPr id="55" name="Shape 53"/>
          <p:cNvSpPr/>
          <p:nvPr/>
        </p:nvSpPr>
        <p:spPr>
          <a:xfrm>
            <a:off x="2103120" y="3849624"/>
            <a:ext cx="2743200" cy="347472"/>
          </a:xfrm>
          <a:prstGeom prst="rect">
            <a:avLst/>
          </a:prstGeom>
          <a:solidFill>
            <a:srgbClr val="FFFFFF"/>
          </a:solidFill>
          <a:ln w="12700">
            <a:solidFill>
              <a:srgbClr val="CCCCCC"/>
            </a:solidFill>
            <a:prstDash val="solid"/>
          </a:ln>
        </p:spPr>
      </p:sp>
      <p:sp>
        <p:nvSpPr>
          <p:cNvPr id="56" name="Text 54"/>
          <p:cNvSpPr/>
          <p:nvPr/>
        </p:nvSpPr>
        <p:spPr>
          <a:xfrm>
            <a:off x="2148840" y="3849624"/>
            <a:ext cx="2651760" cy="34747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EfficientNetB4 + Dense head (256→128→1)</a:t>
            </a:r>
            <a:endParaRPr lang="en-US" sz="1000" dirty="0"/>
          </a:p>
        </p:txBody>
      </p:sp>
      <p:sp>
        <p:nvSpPr>
          <p:cNvPr id="57" name="Shape 55"/>
          <p:cNvSpPr/>
          <p:nvPr/>
        </p:nvSpPr>
        <p:spPr>
          <a:xfrm>
            <a:off x="4846320" y="3849624"/>
            <a:ext cx="2103120" cy="347472"/>
          </a:xfrm>
          <a:prstGeom prst="rect">
            <a:avLst/>
          </a:prstGeom>
          <a:solidFill>
            <a:srgbClr val="FFFFFF"/>
          </a:solidFill>
          <a:ln w="12700">
            <a:solidFill>
              <a:srgbClr val="CCCCCC"/>
            </a:solidFill>
            <a:prstDash val="solid"/>
          </a:ln>
        </p:spPr>
      </p:sp>
      <p:sp>
        <p:nvSpPr>
          <p:cNvPr id="58" name="Text 56"/>
          <p:cNvSpPr/>
          <p:nvPr/>
        </p:nvSpPr>
        <p:spPr>
          <a:xfrm>
            <a:off x="4892040" y="3849624"/>
            <a:ext cx="2011680" cy="34747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Normalised face array</a:t>
            </a:r>
            <a:endParaRPr lang="en-US" sz="1000" dirty="0"/>
          </a:p>
        </p:txBody>
      </p:sp>
      <p:sp>
        <p:nvSpPr>
          <p:cNvPr id="59" name="Shape 57"/>
          <p:cNvSpPr/>
          <p:nvPr/>
        </p:nvSpPr>
        <p:spPr>
          <a:xfrm>
            <a:off x="6949440" y="3849624"/>
            <a:ext cx="2103120" cy="347472"/>
          </a:xfrm>
          <a:prstGeom prst="rect">
            <a:avLst/>
          </a:prstGeom>
          <a:solidFill>
            <a:srgbClr val="FFFFFF"/>
          </a:solidFill>
          <a:ln w="12700">
            <a:solidFill>
              <a:srgbClr val="CCCCCC"/>
            </a:solidFill>
            <a:prstDash val="solid"/>
          </a:ln>
        </p:spPr>
      </p:sp>
      <p:sp>
        <p:nvSpPr>
          <p:cNvPr id="60" name="Text 58"/>
          <p:cNvSpPr/>
          <p:nvPr/>
        </p:nvSpPr>
        <p:spPr>
          <a:xfrm>
            <a:off x="6995160" y="3849624"/>
            <a:ext cx="2011680" cy="34747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Sigmoid score 0.0–1.0</a:t>
            </a:r>
            <a:endParaRPr lang="en-US" sz="1000" dirty="0"/>
          </a:p>
        </p:txBody>
      </p:sp>
      <p:sp>
        <p:nvSpPr>
          <p:cNvPr id="61" name="Shape 59"/>
          <p:cNvSpPr/>
          <p:nvPr/>
        </p:nvSpPr>
        <p:spPr>
          <a:xfrm>
            <a:off x="274320" y="4233672"/>
            <a:ext cx="1828800" cy="347472"/>
          </a:xfrm>
          <a:prstGeom prst="rect">
            <a:avLst/>
          </a:prstGeom>
          <a:solidFill>
            <a:srgbClr val="F4F6F9"/>
          </a:solidFill>
          <a:ln w="12700">
            <a:solidFill>
              <a:srgbClr val="CCCCCC"/>
            </a:solidFill>
            <a:prstDash val="solid"/>
          </a:ln>
        </p:spPr>
      </p:sp>
      <p:sp>
        <p:nvSpPr>
          <p:cNvPr id="62" name="Text 60"/>
          <p:cNvSpPr/>
          <p:nvPr/>
        </p:nvSpPr>
        <p:spPr>
          <a:xfrm>
            <a:off x="320040" y="4233672"/>
            <a:ext cx="1737360" cy="34747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Grad-CAM</a:t>
            </a:r>
            <a:endParaRPr lang="en-US" sz="1000" dirty="0"/>
          </a:p>
        </p:txBody>
      </p:sp>
      <p:sp>
        <p:nvSpPr>
          <p:cNvPr id="63" name="Shape 61"/>
          <p:cNvSpPr/>
          <p:nvPr/>
        </p:nvSpPr>
        <p:spPr>
          <a:xfrm>
            <a:off x="2103120" y="4233672"/>
            <a:ext cx="2743200" cy="347472"/>
          </a:xfrm>
          <a:prstGeom prst="rect">
            <a:avLst/>
          </a:prstGeom>
          <a:solidFill>
            <a:srgbClr val="F4F6F9"/>
          </a:solidFill>
          <a:ln w="12700">
            <a:solidFill>
              <a:srgbClr val="CCCCCC"/>
            </a:solidFill>
            <a:prstDash val="solid"/>
          </a:ln>
        </p:spPr>
      </p:sp>
      <p:sp>
        <p:nvSpPr>
          <p:cNvPr id="64" name="Text 62"/>
          <p:cNvSpPr/>
          <p:nvPr/>
        </p:nvSpPr>
        <p:spPr>
          <a:xfrm>
            <a:off x="2148840" y="4233672"/>
            <a:ext cx="2651760" cy="34747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GradientTape on last Conv2D layer</a:t>
            </a:r>
            <a:endParaRPr lang="en-US" sz="1000" dirty="0"/>
          </a:p>
        </p:txBody>
      </p:sp>
      <p:sp>
        <p:nvSpPr>
          <p:cNvPr id="65" name="Shape 63"/>
          <p:cNvSpPr/>
          <p:nvPr/>
        </p:nvSpPr>
        <p:spPr>
          <a:xfrm>
            <a:off x="4846320" y="4233672"/>
            <a:ext cx="2103120" cy="347472"/>
          </a:xfrm>
          <a:prstGeom prst="rect">
            <a:avLst/>
          </a:prstGeom>
          <a:solidFill>
            <a:srgbClr val="F4F6F9"/>
          </a:solidFill>
          <a:ln w="12700">
            <a:solidFill>
              <a:srgbClr val="CCCCCC"/>
            </a:solidFill>
            <a:prstDash val="solid"/>
          </a:ln>
        </p:spPr>
      </p:sp>
      <p:sp>
        <p:nvSpPr>
          <p:cNvPr id="66" name="Text 64"/>
          <p:cNvSpPr/>
          <p:nvPr/>
        </p:nvSpPr>
        <p:spPr>
          <a:xfrm>
            <a:off x="4892040" y="4233672"/>
            <a:ext cx="2011680" cy="34747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Sigmoid score + conv outputs</a:t>
            </a:r>
            <a:endParaRPr lang="en-US" sz="1000" dirty="0"/>
          </a:p>
        </p:txBody>
      </p:sp>
      <p:sp>
        <p:nvSpPr>
          <p:cNvPr id="67" name="Shape 65"/>
          <p:cNvSpPr/>
          <p:nvPr/>
        </p:nvSpPr>
        <p:spPr>
          <a:xfrm>
            <a:off x="6949440" y="4233672"/>
            <a:ext cx="2103120" cy="347472"/>
          </a:xfrm>
          <a:prstGeom prst="rect">
            <a:avLst/>
          </a:prstGeom>
          <a:solidFill>
            <a:srgbClr val="F4F6F9"/>
          </a:solidFill>
          <a:ln w="12700">
            <a:solidFill>
              <a:srgbClr val="CCCCCC"/>
            </a:solidFill>
            <a:prstDash val="solid"/>
          </a:ln>
        </p:spPr>
      </p:sp>
      <p:sp>
        <p:nvSpPr>
          <p:cNvPr id="68" name="Text 66"/>
          <p:cNvSpPr/>
          <p:nvPr/>
        </p:nvSpPr>
        <p:spPr>
          <a:xfrm>
            <a:off x="6995160" y="4233672"/>
            <a:ext cx="2011680" cy="34747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Heatmap overlay image</a:t>
            </a:r>
            <a:endParaRPr lang="en-US" sz="1000" dirty="0"/>
          </a:p>
        </p:txBody>
      </p:sp>
      <p:sp>
        <p:nvSpPr>
          <p:cNvPr id="69" name="Shape 67"/>
          <p:cNvSpPr/>
          <p:nvPr/>
        </p:nvSpPr>
        <p:spPr>
          <a:xfrm>
            <a:off x="274320" y="4617720"/>
            <a:ext cx="1828800" cy="347472"/>
          </a:xfrm>
          <a:prstGeom prst="rect">
            <a:avLst/>
          </a:prstGeom>
          <a:solidFill>
            <a:srgbClr val="FFFFFF"/>
          </a:solidFill>
          <a:ln w="12700">
            <a:solidFill>
              <a:srgbClr val="CCCCCC"/>
            </a:solidFill>
            <a:prstDash val="solid"/>
          </a:ln>
        </p:spPr>
      </p:sp>
      <p:sp>
        <p:nvSpPr>
          <p:cNvPr id="70" name="Text 68"/>
          <p:cNvSpPr/>
          <p:nvPr/>
        </p:nvSpPr>
        <p:spPr>
          <a:xfrm>
            <a:off x="320040" y="4617720"/>
            <a:ext cx="1737360" cy="34747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Output</a:t>
            </a:r>
            <a:endParaRPr lang="en-US" sz="1000" dirty="0"/>
          </a:p>
        </p:txBody>
      </p:sp>
      <p:sp>
        <p:nvSpPr>
          <p:cNvPr id="71" name="Shape 69"/>
          <p:cNvSpPr/>
          <p:nvPr/>
        </p:nvSpPr>
        <p:spPr>
          <a:xfrm>
            <a:off x="2103120" y="4617720"/>
            <a:ext cx="2743200" cy="347472"/>
          </a:xfrm>
          <a:prstGeom prst="rect">
            <a:avLst/>
          </a:prstGeom>
          <a:solidFill>
            <a:srgbClr val="FFFFFF"/>
          </a:solidFill>
          <a:ln w="12700">
            <a:solidFill>
              <a:srgbClr val="CCCCCC"/>
            </a:solidFill>
            <a:prstDash val="solid"/>
          </a:ln>
        </p:spPr>
      </p:sp>
      <p:sp>
        <p:nvSpPr>
          <p:cNvPr id="72" name="Text 70"/>
          <p:cNvSpPr/>
          <p:nvPr/>
        </p:nvSpPr>
        <p:spPr>
          <a:xfrm>
            <a:off x="2148840" y="4617720"/>
            <a:ext cx="2651760" cy="34747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Streamlit UI + ReportLab</a:t>
            </a:r>
            <a:endParaRPr lang="en-US" sz="1000" dirty="0"/>
          </a:p>
        </p:txBody>
      </p:sp>
      <p:sp>
        <p:nvSpPr>
          <p:cNvPr id="73" name="Shape 71"/>
          <p:cNvSpPr/>
          <p:nvPr/>
        </p:nvSpPr>
        <p:spPr>
          <a:xfrm>
            <a:off x="4846320" y="4617720"/>
            <a:ext cx="2103120" cy="347472"/>
          </a:xfrm>
          <a:prstGeom prst="rect">
            <a:avLst/>
          </a:prstGeom>
          <a:solidFill>
            <a:srgbClr val="FFFFFF"/>
          </a:solidFill>
          <a:ln w="12700">
            <a:solidFill>
              <a:srgbClr val="CCCCCC"/>
            </a:solidFill>
            <a:prstDash val="solid"/>
          </a:ln>
        </p:spPr>
      </p:sp>
      <p:sp>
        <p:nvSpPr>
          <p:cNvPr id="74" name="Text 72"/>
          <p:cNvSpPr/>
          <p:nvPr/>
        </p:nvSpPr>
        <p:spPr>
          <a:xfrm>
            <a:off x="4892040" y="4617720"/>
            <a:ext cx="2011680" cy="34747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Score + heatmap</a:t>
            </a:r>
            <a:endParaRPr lang="en-US" sz="1000" dirty="0"/>
          </a:p>
        </p:txBody>
      </p:sp>
      <p:sp>
        <p:nvSpPr>
          <p:cNvPr id="75" name="Shape 73"/>
          <p:cNvSpPr/>
          <p:nvPr/>
        </p:nvSpPr>
        <p:spPr>
          <a:xfrm>
            <a:off x="6949440" y="4617720"/>
            <a:ext cx="2103120" cy="347472"/>
          </a:xfrm>
          <a:prstGeom prst="rect">
            <a:avLst/>
          </a:prstGeom>
          <a:solidFill>
            <a:srgbClr val="FFFFFF"/>
          </a:solidFill>
          <a:ln w="12700">
            <a:solidFill>
              <a:srgbClr val="CCCCCC"/>
            </a:solidFill>
            <a:prstDash val="solid"/>
          </a:ln>
        </p:spPr>
      </p:sp>
      <p:sp>
        <p:nvSpPr>
          <p:cNvPr id="76" name="Text 74"/>
          <p:cNvSpPr/>
          <p:nvPr/>
        </p:nvSpPr>
        <p:spPr>
          <a:xfrm>
            <a:off x="6995160" y="4617720"/>
            <a:ext cx="2011680" cy="34747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5-level verdict + PDF report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1F3C"/>
          </a:solidFill>
          <a:ln/>
        </p:spPr>
      </p:sp>
      <p:sp>
        <p:nvSpPr>
          <p:cNvPr id="3" name="Text 1"/>
          <p:cNvSpPr/>
          <p:nvPr/>
        </p:nvSpPr>
        <p:spPr>
          <a:xfrm>
            <a:off x="365760" y="182880"/>
            <a:ext cx="8229600" cy="64008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Dataset &amp; Model Training</a:t>
            </a:r>
            <a:endParaRPr lang="en-US" sz="2800" dirty="0"/>
          </a:p>
        </p:txBody>
      </p:sp>
      <p:sp>
        <p:nvSpPr>
          <p:cNvPr id="4" name="Text 2"/>
          <p:cNvSpPr/>
          <p:nvPr/>
        </p:nvSpPr>
        <p:spPr>
          <a:xfrm>
            <a:off x="365760" y="1097280"/>
            <a:ext cx="3840480" cy="320040"/>
          </a:xfrm>
          <a:prstGeom prst="rect">
            <a:avLst/>
          </a:prstGeom>
          <a:noFill/>
          <a:ln/>
        </p:spPr>
        <p:txBody>
          <a:bodyPr wrap="square" rtlCol="0" anchor="ctr"/>
          <a:lstStyle/>
          <a:p>
            <a:pPr marL="0" indent="0">
              <a:buNone/>
            </a:pPr>
            <a:r>
              <a:rPr lang="en-US" sz="1500" b="1" dirty="0">
                <a:solidFill>
                  <a:srgbClr val="0D1F3C"/>
                </a:solidFill>
                <a:latin typeface="Calibri" pitchFamily="34" charset="0"/>
                <a:ea typeface="Calibri" pitchFamily="34" charset="-122"/>
                <a:cs typeface="Calibri" pitchFamily="34" charset="-120"/>
              </a:rPr>
              <a:t>Dataset Used</a:t>
            </a:r>
            <a:endParaRPr lang="en-US" sz="1500" dirty="0"/>
          </a:p>
        </p:txBody>
      </p:sp>
      <p:sp>
        <p:nvSpPr>
          <p:cNvPr id="5" name="Shape 3"/>
          <p:cNvSpPr/>
          <p:nvPr/>
        </p:nvSpPr>
        <p:spPr>
          <a:xfrm>
            <a:off x="274320" y="1463040"/>
            <a:ext cx="1371600" cy="347472"/>
          </a:xfrm>
          <a:prstGeom prst="rect">
            <a:avLst/>
          </a:prstGeom>
          <a:solidFill>
            <a:srgbClr val="0D1F3C"/>
          </a:solidFill>
          <a:ln w="12700">
            <a:solidFill>
              <a:srgbClr val="CCCCCC"/>
            </a:solidFill>
            <a:prstDash val="solid"/>
          </a:ln>
        </p:spPr>
      </p:sp>
      <p:sp>
        <p:nvSpPr>
          <p:cNvPr id="6" name="Text 4"/>
          <p:cNvSpPr/>
          <p:nvPr/>
        </p:nvSpPr>
        <p:spPr>
          <a:xfrm>
            <a:off x="320040" y="1463040"/>
            <a:ext cx="1280160"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Split</a:t>
            </a:r>
            <a:endParaRPr lang="en-US" sz="1100" dirty="0"/>
          </a:p>
        </p:txBody>
      </p:sp>
      <p:sp>
        <p:nvSpPr>
          <p:cNvPr id="7" name="Shape 5"/>
          <p:cNvSpPr/>
          <p:nvPr/>
        </p:nvSpPr>
        <p:spPr>
          <a:xfrm>
            <a:off x="1645920" y="1463040"/>
            <a:ext cx="1097280" cy="347472"/>
          </a:xfrm>
          <a:prstGeom prst="rect">
            <a:avLst/>
          </a:prstGeom>
          <a:solidFill>
            <a:srgbClr val="0D1F3C"/>
          </a:solidFill>
          <a:ln w="12700">
            <a:solidFill>
              <a:srgbClr val="CCCCCC"/>
            </a:solidFill>
            <a:prstDash val="solid"/>
          </a:ln>
        </p:spPr>
      </p:sp>
      <p:sp>
        <p:nvSpPr>
          <p:cNvPr id="8" name="Text 6"/>
          <p:cNvSpPr/>
          <p:nvPr/>
        </p:nvSpPr>
        <p:spPr>
          <a:xfrm>
            <a:off x="1691640" y="1463040"/>
            <a:ext cx="1005840"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Real</a:t>
            </a:r>
            <a:endParaRPr lang="en-US" sz="1100" dirty="0"/>
          </a:p>
        </p:txBody>
      </p:sp>
      <p:sp>
        <p:nvSpPr>
          <p:cNvPr id="9" name="Shape 7"/>
          <p:cNvSpPr/>
          <p:nvPr/>
        </p:nvSpPr>
        <p:spPr>
          <a:xfrm>
            <a:off x="2743200" y="1463040"/>
            <a:ext cx="1097280" cy="347472"/>
          </a:xfrm>
          <a:prstGeom prst="rect">
            <a:avLst/>
          </a:prstGeom>
          <a:solidFill>
            <a:srgbClr val="0D1F3C"/>
          </a:solidFill>
          <a:ln w="12700">
            <a:solidFill>
              <a:srgbClr val="CCCCCC"/>
            </a:solidFill>
            <a:prstDash val="solid"/>
          </a:ln>
        </p:spPr>
      </p:sp>
      <p:sp>
        <p:nvSpPr>
          <p:cNvPr id="10" name="Text 8"/>
          <p:cNvSpPr/>
          <p:nvPr/>
        </p:nvSpPr>
        <p:spPr>
          <a:xfrm>
            <a:off x="2788920" y="1463040"/>
            <a:ext cx="1005840"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Fake</a:t>
            </a:r>
            <a:endParaRPr lang="en-US" sz="1100" dirty="0"/>
          </a:p>
        </p:txBody>
      </p:sp>
      <p:sp>
        <p:nvSpPr>
          <p:cNvPr id="11" name="Shape 9"/>
          <p:cNvSpPr/>
          <p:nvPr/>
        </p:nvSpPr>
        <p:spPr>
          <a:xfrm>
            <a:off x="3840480" y="1463040"/>
            <a:ext cx="1097280" cy="347472"/>
          </a:xfrm>
          <a:prstGeom prst="rect">
            <a:avLst/>
          </a:prstGeom>
          <a:solidFill>
            <a:srgbClr val="0D1F3C"/>
          </a:solidFill>
          <a:ln w="12700">
            <a:solidFill>
              <a:srgbClr val="CCCCCC"/>
            </a:solidFill>
            <a:prstDash val="solid"/>
          </a:ln>
        </p:spPr>
      </p:sp>
      <p:sp>
        <p:nvSpPr>
          <p:cNvPr id="12" name="Text 10"/>
          <p:cNvSpPr/>
          <p:nvPr/>
        </p:nvSpPr>
        <p:spPr>
          <a:xfrm>
            <a:off x="3886200" y="1463040"/>
            <a:ext cx="1005840"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Total</a:t>
            </a:r>
            <a:endParaRPr lang="en-US" sz="1100" dirty="0"/>
          </a:p>
        </p:txBody>
      </p:sp>
      <p:sp>
        <p:nvSpPr>
          <p:cNvPr id="13" name="Shape 11"/>
          <p:cNvSpPr/>
          <p:nvPr/>
        </p:nvSpPr>
        <p:spPr>
          <a:xfrm>
            <a:off x="274320" y="1847088"/>
            <a:ext cx="1371600" cy="347472"/>
          </a:xfrm>
          <a:prstGeom prst="rect">
            <a:avLst/>
          </a:prstGeom>
          <a:solidFill>
            <a:srgbClr val="FFFFFF"/>
          </a:solidFill>
          <a:ln w="12700">
            <a:solidFill>
              <a:srgbClr val="CCCCCC"/>
            </a:solidFill>
            <a:prstDash val="solid"/>
          </a:ln>
        </p:spPr>
      </p:sp>
      <p:sp>
        <p:nvSpPr>
          <p:cNvPr id="14" name="Text 12"/>
          <p:cNvSpPr/>
          <p:nvPr/>
        </p:nvSpPr>
        <p:spPr>
          <a:xfrm>
            <a:off x="320040" y="1847088"/>
            <a:ext cx="1280160" cy="347472"/>
          </a:xfrm>
          <a:prstGeom prst="rect">
            <a:avLst/>
          </a:prstGeom>
          <a:noFill/>
          <a:ln/>
        </p:spPr>
        <p:txBody>
          <a:bodyPr wrap="square" rtlCol="0" anchor="ctr"/>
          <a:lstStyle/>
          <a:p>
            <a:pPr marL="0" indent="0" algn="ctr">
              <a:buNone/>
            </a:pPr>
            <a:r>
              <a:rPr lang="en-US" sz="1100" b="1" dirty="0">
                <a:solidFill>
                  <a:srgbClr val="333333"/>
                </a:solidFill>
                <a:latin typeface="Calibri" pitchFamily="34" charset="0"/>
                <a:ea typeface="Calibri" pitchFamily="34" charset="-122"/>
                <a:cs typeface="Calibri" pitchFamily="34" charset="-120"/>
              </a:rPr>
              <a:t>Train</a:t>
            </a:r>
            <a:endParaRPr lang="en-US" sz="1100" dirty="0"/>
          </a:p>
        </p:txBody>
      </p:sp>
      <p:sp>
        <p:nvSpPr>
          <p:cNvPr id="15" name="Shape 13"/>
          <p:cNvSpPr/>
          <p:nvPr/>
        </p:nvSpPr>
        <p:spPr>
          <a:xfrm>
            <a:off x="1645920" y="1847088"/>
            <a:ext cx="1097280" cy="347472"/>
          </a:xfrm>
          <a:prstGeom prst="rect">
            <a:avLst/>
          </a:prstGeom>
          <a:solidFill>
            <a:srgbClr val="FFFFFF"/>
          </a:solidFill>
          <a:ln w="12700">
            <a:solidFill>
              <a:srgbClr val="CCCCCC"/>
            </a:solidFill>
            <a:prstDash val="solid"/>
          </a:ln>
        </p:spPr>
      </p:sp>
      <p:sp>
        <p:nvSpPr>
          <p:cNvPr id="16" name="Text 14"/>
          <p:cNvSpPr/>
          <p:nvPr/>
        </p:nvSpPr>
        <p:spPr>
          <a:xfrm>
            <a:off x="1691640" y="1847088"/>
            <a:ext cx="1005840" cy="347472"/>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77,220</a:t>
            </a:r>
            <a:endParaRPr lang="en-US" sz="1100" dirty="0"/>
          </a:p>
        </p:txBody>
      </p:sp>
      <p:sp>
        <p:nvSpPr>
          <p:cNvPr id="17" name="Shape 15"/>
          <p:cNvSpPr/>
          <p:nvPr/>
        </p:nvSpPr>
        <p:spPr>
          <a:xfrm>
            <a:off x="2743200" y="1847088"/>
            <a:ext cx="1097280" cy="347472"/>
          </a:xfrm>
          <a:prstGeom prst="rect">
            <a:avLst/>
          </a:prstGeom>
          <a:solidFill>
            <a:srgbClr val="FFFFFF"/>
          </a:solidFill>
          <a:ln w="12700">
            <a:solidFill>
              <a:srgbClr val="CCCCCC"/>
            </a:solidFill>
            <a:prstDash val="solid"/>
          </a:ln>
        </p:spPr>
      </p:sp>
      <p:sp>
        <p:nvSpPr>
          <p:cNvPr id="18" name="Text 16"/>
          <p:cNvSpPr/>
          <p:nvPr/>
        </p:nvSpPr>
        <p:spPr>
          <a:xfrm>
            <a:off x="2788920" y="1847088"/>
            <a:ext cx="1005840" cy="347472"/>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70,001</a:t>
            </a:r>
            <a:endParaRPr lang="en-US" sz="1100" dirty="0"/>
          </a:p>
        </p:txBody>
      </p:sp>
      <p:sp>
        <p:nvSpPr>
          <p:cNvPr id="19" name="Shape 17"/>
          <p:cNvSpPr/>
          <p:nvPr/>
        </p:nvSpPr>
        <p:spPr>
          <a:xfrm>
            <a:off x="3840480" y="1847088"/>
            <a:ext cx="1097280" cy="347472"/>
          </a:xfrm>
          <a:prstGeom prst="rect">
            <a:avLst/>
          </a:prstGeom>
          <a:solidFill>
            <a:srgbClr val="FFFFFF"/>
          </a:solidFill>
          <a:ln w="12700">
            <a:solidFill>
              <a:srgbClr val="CCCCCC"/>
            </a:solidFill>
            <a:prstDash val="solid"/>
          </a:ln>
        </p:spPr>
      </p:sp>
      <p:sp>
        <p:nvSpPr>
          <p:cNvPr id="20" name="Text 18"/>
          <p:cNvSpPr/>
          <p:nvPr/>
        </p:nvSpPr>
        <p:spPr>
          <a:xfrm>
            <a:off x="3886200" y="1847088"/>
            <a:ext cx="1005840" cy="347472"/>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147,221</a:t>
            </a:r>
            <a:endParaRPr lang="en-US" sz="1100" dirty="0"/>
          </a:p>
        </p:txBody>
      </p:sp>
      <p:sp>
        <p:nvSpPr>
          <p:cNvPr id="21" name="Shape 19"/>
          <p:cNvSpPr/>
          <p:nvPr/>
        </p:nvSpPr>
        <p:spPr>
          <a:xfrm>
            <a:off x="274320" y="2231136"/>
            <a:ext cx="1371600" cy="347472"/>
          </a:xfrm>
          <a:prstGeom prst="rect">
            <a:avLst/>
          </a:prstGeom>
          <a:solidFill>
            <a:srgbClr val="F4F6F9"/>
          </a:solidFill>
          <a:ln w="12700">
            <a:solidFill>
              <a:srgbClr val="CCCCCC"/>
            </a:solidFill>
            <a:prstDash val="solid"/>
          </a:ln>
        </p:spPr>
      </p:sp>
      <p:sp>
        <p:nvSpPr>
          <p:cNvPr id="22" name="Text 20"/>
          <p:cNvSpPr/>
          <p:nvPr/>
        </p:nvSpPr>
        <p:spPr>
          <a:xfrm>
            <a:off x="320040" y="2231136"/>
            <a:ext cx="1280160" cy="347472"/>
          </a:xfrm>
          <a:prstGeom prst="rect">
            <a:avLst/>
          </a:prstGeom>
          <a:noFill/>
          <a:ln/>
        </p:spPr>
        <p:txBody>
          <a:bodyPr wrap="square" rtlCol="0" anchor="ctr"/>
          <a:lstStyle/>
          <a:p>
            <a:pPr marL="0" indent="0" algn="ctr">
              <a:buNone/>
            </a:pPr>
            <a:r>
              <a:rPr lang="en-US" sz="1100" b="1" dirty="0">
                <a:solidFill>
                  <a:srgbClr val="333333"/>
                </a:solidFill>
                <a:latin typeface="Calibri" pitchFamily="34" charset="0"/>
                <a:ea typeface="Calibri" pitchFamily="34" charset="-122"/>
                <a:cs typeface="Calibri" pitchFamily="34" charset="-120"/>
              </a:rPr>
              <a:t>Validation</a:t>
            </a:r>
            <a:endParaRPr lang="en-US" sz="1100" dirty="0"/>
          </a:p>
        </p:txBody>
      </p:sp>
      <p:sp>
        <p:nvSpPr>
          <p:cNvPr id="23" name="Shape 21"/>
          <p:cNvSpPr/>
          <p:nvPr/>
        </p:nvSpPr>
        <p:spPr>
          <a:xfrm>
            <a:off x="1645920" y="2231136"/>
            <a:ext cx="1097280" cy="347472"/>
          </a:xfrm>
          <a:prstGeom prst="rect">
            <a:avLst/>
          </a:prstGeom>
          <a:solidFill>
            <a:srgbClr val="F4F6F9"/>
          </a:solidFill>
          <a:ln w="12700">
            <a:solidFill>
              <a:srgbClr val="CCCCCC"/>
            </a:solidFill>
            <a:prstDash val="solid"/>
          </a:ln>
        </p:spPr>
      </p:sp>
      <p:sp>
        <p:nvSpPr>
          <p:cNvPr id="24" name="Text 22"/>
          <p:cNvSpPr/>
          <p:nvPr/>
        </p:nvSpPr>
        <p:spPr>
          <a:xfrm>
            <a:off x="1691640" y="2231136"/>
            <a:ext cx="1005840" cy="347472"/>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19,787</a:t>
            </a:r>
            <a:endParaRPr lang="en-US" sz="1100" dirty="0"/>
          </a:p>
        </p:txBody>
      </p:sp>
      <p:sp>
        <p:nvSpPr>
          <p:cNvPr id="25" name="Shape 23"/>
          <p:cNvSpPr/>
          <p:nvPr/>
        </p:nvSpPr>
        <p:spPr>
          <a:xfrm>
            <a:off x="2743200" y="2231136"/>
            <a:ext cx="1097280" cy="347472"/>
          </a:xfrm>
          <a:prstGeom prst="rect">
            <a:avLst/>
          </a:prstGeom>
          <a:solidFill>
            <a:srgbClr val="F4F6F9"/>
          </a:solidFill>
          <a:ln w="12700">
            <a:solidFill>
              <a:srgbClr val="CCCCCC"/>
            </a:solidFill>
            <a:prstDash val="solid"/>
          </a:ln>
        </p:spPr>
      </p:sp>
      <p:sp>
        <p:nvSpPr>
          <p:cNvPr id="26" name="Text 24"/>
          <p:cNvSpPr/>
          <p:nvPr/>
        </p:nvSpPr>
        <p:spPr>
          <a:xfrm>
            <a:off x="2788920" y="2231136"/>
            <a:ext cx="1005840" cy="347472"/>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19,641</a:t>
            </a:r>
            <a:endParaRPr lang="en-US" sz="1100" dirty="0"/>
          </a:p>
        </p:txBody>
      </p:sp>
      <p:sp>
        <p:nvSpPr>
          <p:cNvPr id="27" name="Shape 25"/>
          <p:cNvSpPr/>
          <p:nvPr/>
        </p:nvSpPr>
        <p:spPr>
          <a:xfrm>
            <a:off x="3840480" y="2231136"/>
            <a:ext cx="1097280" cy="347472"/>
          </a:xfrm>
          <a:prstGeom prst="rect">
            <a:avLst/>
          </a:prstGeom>
          <a:solidFill>
            <a:srgbClr val="F4F6F9"/>
          </a:solidFill>
          <a:ln w="12700">
            <a:solidFill>
              <a:srgbClr val="CCCCCC"/>
            </a:solidFill>
            <a:prstDash val="solid"/>
          </a:ln>
        </p:spPr>
      </p:sp>
      <p:sp>
        <p:nvSpPr>
          <p:cNvPr id="28" name="Text 26"/>
          <p:cNvSpPr/>
          <p:nvPr/>
        </p:nvSpPr>
        <p:spPr>
          <a:xfrm>
            <a:off x="3886200" y="2231136"/>
            <a:ext cx="1005840" cy="347472"/>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39,428</a:t>
            </a:r>
            <a:endParaRPr lang="en-US" sz="1100" dirty="0"/>
          </a:p>
        </p:txBody>
      </p:sp>
      <p:sp>
        <p:nvSpPr>
          <p:cNvPr id="29" name="Shape 27"/>
          <p:cNvSpPr/>
          <p:nvPr/>
        </p:nvSpPr>
        <p:spPr>
          <a:xfrm>
            <a:off x="274320" y="2615184"/>
            <a:ext cx="1371600" cy="347472"/>
          </a:xfrm>
          <a:prstGeom prst="rect">
            <a:avLst/>
          </a:prstGeom>
          <a:solidFill>
            <a:srgbClr val="FFFFFF"/>
          </a:solidFill>
          <a:ln w="12700">
            <a:solidFill>
              <a:srgbClr val="CCCCCC"/>
            </a:solidFill>
            <a:prstDash val="solid"/>
          </a:ln>
        </p:spPr>
      </p:sp>
      <p:sp>
        <p:nvSpPr>
          <p:cNvPr id="30" name="Text 28"/>
          <p:cNvSpPr/>
          <p:nvPr/>
        </p:nvSpPr>
        <p:spPr>
          <a:xfrm>
            <a:off x="320040" y="2615184"/>
            <a:ext cx="1280160" cy="347472"/>
          </a:xfrm>
          <a:prstGeom prst="rect">
            <a:avLst/>
          </a:prstGeom>
          <a:noFill/>
          <a:ln/>
        </p:spPr>
        <p:txBody>
          <a:bodyPr wrap="square" rtlCol="0" anchor="ctr"/>
          <a:lstStyle/>
          <a:p>
            <a:pPr marL="0" indent="0" algn="ctr">
              <a:buNone/>
            </a:pPr>
            <a:r>
              <a:rPr lang="en-US" sz="1100" b="1" dirty="0">
                <a:solidFill>
                  <a:srgbClr val="333333"/>
                </a:solidFill>
                <a:latin typeface="Calibri" pitchFamily="34" charset="0"/>
                <a:ea typeface="Calibri" pitchFamily="34" charset="-122"/>
                <a:cs typeface="Calibri" pitchFamily="34" charset="-120"/>
              </a:rPr>
              <a:t>Test</a:t>
            </a:r>
            <a:endParaRPr lang="en-US" sz="1100" dirty="0"/>
          </a:p>
        </p:txBody>
      </p:sp>
      <p:sp>
        <p:nvSpPr>
          <p:cNvPr id="31" name="Shape 29"/>
          <p:cNvSpPr/>
          <p:nvPr/>
        </p:nvSpPr>
        <p:spPr>
          <a:xfrm>
            <a:off x="1645920" y="2615184"/>
            <a:ext cx="1097280" cy="347472"/>
          </a:xfrm>
          <a:prstGeom prst="rect">
            <a:avLst/>
          </a:prstGeom>
          <a:solidFill>
            <a:srgbClr val="FFFFFF"/>
          </a:solidFill>
          <a:ln w="12700">
            <a:solidFill>
              <a:srgbClr val="CCCCCC"/>
            </a:solidFill>
            <a:prstDash val="solid"/>
          </a:ln>
        </p:spPr>
      </p:sp>
      <p:sp>
        <p:nvSpPr>
          <p:cNvPr id="32" name="Text 30"/>
          <p:cNvSpPr/>
          <p:nvPr/>
        </p:nvSpPr>
        <p:spPr>
          <a:xfrm>
            <a:off x="1691640" y="2615184"/>
            <a:ext cx="1005840" cy="347472"/>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5,413</a:t>
            </a:r>
            <a:endParaRPr lang="en-US" sz="1100" dirty="0"/>
          </a:p>
        </p:txBody>
      </p:sp>
      <p:sp>
        <p:nvSpPr>
          <p:cNvPr id="33" name="Shape 31"/>
          <p:cNvSpPr/>
          <p:nvPr/>
        </p:nvSpPr>
        <p:spPr>
          <a:xfrm>
            <a:off x="2743200" y="2615184"/>
            <a:ext cx="1097280" cy="347472"/>
          </a:xfrm>
          <a:prstGeom prst="rect">
            <a:avLst/>
          </a:prstGeom>
          <a:solidFill>
            <a:srgbClr val="FFFFFF"/>
          </a:solidFill>
          <a:ln w="12700">
            <a:solidFill>
              <a:srgbClr val="CCCCCC"/>
            </a:solidFill>
            <a:prstDash val="solid"/>
          </a:ln>
        </p:spPr>
      </p:sp>
      <p:sp>
        <p:nvSpPr>
          <p:cNvPr id="34" name="Text 32"/>
          <p:cNvSpPr/>
          <p:nvPr/>
        </p:nvSpPr>
        <p:spPr>
          <a:xfrm>
            <a:off x="2788920" y="2615184"/>
            <a:ext cx="1005840" cy="347472"/>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5,492</a:t>
            </a:r>
            <a:endParaRPr lang="en-US" sz="1100" dirty="0"/>
          </a:p>
        </p:txBody>
      </p:sp>
      <p:sp>
        <p:nvSpPr>
          <p:cNvPr id="35" name="Shape 33"/>
          <p:cNvSpPr/>
          <p:nvPr/>
        </p:nvSpPr>
        <p:spPr>
          <a:xfrm>
            <a:off x="3840480" y="2615184"/>
            <a:ext cx="1097280" cy="347472"/>
          </a:xfrm>
          <a:prstGeom prst="rect">
            <a:avLst/>
          </a:prstGeom>
          <a:solidFill>
            <a:srgbClr val="FFFFFF"/>
          </a:solidFill>
          <a:ln w="12700">
            <a:solidFill>
              <a:srgbClr val="CCCCCC"/>
            </a:solidFill>
            <a:prstDash val="solid"/>
          </a:ln>
        </p:spPr>
      </p:sp>
      <p:sp>
        <p:nvSpPr>
          <p:cNvPr id="36" name="Text 34"/>
          <p:cNvSpPr/>
          <p:nvPr/>
        </p:nvSpPr>
        <p:spPr>
          <a:xfrm>
            <a:off x="3886200" y="2615184"/>
            <a:ext cx="1005840" cy="347472"/>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10,905</a:t>
            </a:r>
            <a:endParaRPr lang="en-US" sz="1100" dirty="0"/>
          </a:p>
        </p:txBody>
      </p:sp>
      <p:sp>
        <p:nvSpPr>
          <p:cNvPr id="37" name="Text 35"/>
          <p:cNvSpPr/>
          <p:nvPr/>
        </p:nvSpPr>
        <p:spPr>
          <a:xfrm>
            <a:off x="274320" y="3127248"/>
            <a:ext cx="4663440" cy="502920"/>
          </a:xfrm>
          <a:prstGeom prst="rect">
            <a:avLst/>
          </a:prstGeom>
          <a:noFill/>
          <a:ln/>
        </p:spPr>
        <p:txBody>
          <a:bodyPr wrap="square" rtlCol="0" anchor="ctr"/>
          <a:lstStyle/>
          <a:p>
            <a:pPr marL="0" indent="0">
              <a:buNone/>
            </a:pPr>
            <a:r>
              <a:rPr lang="en-US" sz="1000" dirty="0">
                <a:solidFill>
                  <a:srgbClr val="8892A4"/>
                </a:solidFill>
                <a:latin typeface="Calibri" pitchFamily="34" charset="0"/>
                <a:ea typeface="Calibri" pitchFamily="34" charset="-122"/>
                <a:cs typeface="Calibri" pitchFamily="34" charset="-120"/>
              </a:rPr>
              <a:t>Sources: Kaggle (manjilkarki/deepfake-and-real-images)</a:t>
            </a:r>
            <a:endParaRPr lang="en-US" sz="1000" dirty="0"/>
          </a:p>
          <a:p>
            <a:pPr marL="0" indent="0">
              <a:buNone/>
            </a:pPr>
            <a:r>
              <a:rPr lang="en-US" sz="1000" dirty="0">
                <a:solidFill>
                  <a:srgbClr val="8892A4"/>
                </a:solidFill>
                <a:latin typeface="Calibri" pitchFamily="34" charset="0"/>
                <a:ea typeface="Calibri" pitchFamily="34" charset="-122"/>
                <a:cs typeface="Calibri" pitchFamily="34" charset="-120"/>
              </a:rPr>
              <a:t>+ ashwingupta3012/human-faces (7,219 diverse real photos)</a:t>
            </a:r>
            <a:endParaRPr lang="en-US" sz="1000" dirty="0"/>
          </a:p>
        </p:txBody>
      </p:sp>
      <p:sp>
        <p:nvSpPr>
          <p:cNvPr id="38" name="Text 36"/>
          <p:cNvSpPr/>
          <p:nvPr/>
        </p:nvSpPr>
        <p:spPr>
          <a:xfrm>
            <a:off x="4937760" y="1097280"/>
            <a:ext cx="3840480" cy="320040"/>
          </a:xfrm>
          <a:prstGeom prst="rect">
            <a:avLst/>
          </a:prstGeom>
          <a:noFill/>
          <a:ln/>
        </p:spPr>
        <p:txBody>
          <a:bodyPr wrap="square" rtlCol="0" anchor="ctr"/>
          <a:lstStyle/>
          <a:p>
            <a:pPr marL="0" indent="0">
              <a:buNone/>
            </a:pPr>
            <a:r>
              <a:rPr lang="en-US" sz="1500" b="1" dirty="0">
                <a:solidFill>
                  <a:srgbClr val="0D1F3C"/>
                </a:solidFill>
                <a:latin typeface="Calibri" pitchFamily="34" charset="0"/>
                <a:ea typeface="Calibri" pitchFamily="34" charset="-122"/>
                <a:cs typeface="Calibri" pitchFamily="34" charset="-120"/>
              </a:rPr>
              <a:t>Training Strategy</a:t>
            </a:r>
            <a:endParaRPr lang="en-US" sz="1500" dirty="0"/>
          </a:p>
        </p:txBody>
      </p:sp>
      <p:sp>
        <p:nvSpPr>
          <p:cNvPr id="39" name="Shape 37"/>
          <p:cNvSpPr/>
          <p:nvPr/>
        </p:nvSpPr>
        <p:spPr>
          <a:xfrm>
            <a:off x="4937760" y="1481328"/>
            <a:ext cx="3749040" cy="914400"/>
          </a:xfrm>
          <a:prstGeom prst="rect">
            <a:avLst/>
          </a:prstGeom>
          <a:solidFill>
            <a:srgbClr val="2E6DA4"/>
          </a:solidFill>
          <a:ln/>
        </p:spPr>
      </p:sp>
      <p:sp>
        <p:nvSpPr>
          <p:cNvPr id="40" name="Text 38"/>
          <p:cNvSpPr/>
          <p:nvPr/>
        </p:nvSpPr>
        <p:spPr>
          <a:xfrm>
            <a:off x="5029200" y="1554480"/>
            <a:ext cx="356616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Phase 1  —  10 epochs</a:t>
            </a:r>
            <a:endParaRPr lang="en-US" sz="1300" dirty="0"/>
          </a:p>
        </p:txBody>
      </p:sp>
      <p:sp>
        <p:nvSpPr>
          <p:cNvPr id="41" name="Text 39"/>
          <p:cNvSpPr/>
          <p:nvPr/>
        </p:nvSpPr>
        <p:spPr>
          <a:xfrm>
            <a:off x="5029200" y="1801368"/>
            <a:ext cx="3566160" cy="228600"/>
          </a:xfrm>
          <a:prstGeom prst="rect">
            <a:avLst/>
          </a:prstGeom>
          <a:noFill/>
          <a:ln/>
        </p:spPr>
        <p:txBody>
          <a:bodyPr wrap="square" rtlCol="0" anchor="ctr"/>
          <a:lstStyle/>
          <a:p>
            <a:pPr marL="0" indent="0">
              <a:buNone/>
            </a:pPr>
            <a:r>
              <a:rPr lang="en-US" sz="1100" dirty="0">
                <a:solidFill>
                  <a:srgbClr val="5DA8E0"/>
                </a:solidFill>
                <a:latin typeface="Calibri" pitchFamily="34" charset="0"/>
                <a:ea typeface="Calibri" pitchFamily="34" charset="-122"/>
                <a:cs typeface="Calibri" pitchFamily="34" charset="-120"/>
              </a:rPr>
              <a:t>lr = 1e-3</a:t>
            </a:r>
            <a:endParaRPr lang="en-US" sz="1100" dirty="0"/>
          </a:p>
        </p:txBody>
      </p:sp>
      <p:sp>
        <p:nvSpPr>
          <p:cNvPr id="42" name="Text 40"/>
          <p:cNvSpPr/>
          <p:nvPr/>
        </p:nvSpPr>
        <p:spPr>
          <a:xfrm>
            <a:off x="5029200" y="2011680"/>
            <a:ext cx="3566160" cy="320040"/>
          </a:xfrm>
          <a:prstGeom prst="rect">
            <a:avLst/>
          </a:prstGeom>
          <a:noFill/>
          <a:ln/>
        </p:spPr>
        <p:txBody>
          <a:bodyPr wrap="square" rtlCol="0" anchor="ctr"/>
          <a:lstStyle/>
          <a:p>
            <a:pPr marL="0" indent="0">
              <a:buNone/>
            </a:pPr>
            <a:r>
              <a:rPr lang="en-US" sz="1100" dirty="0">
                <a:solidFill>
                  <a:srgbClr val="8892A4"/>
                </a:solidFill>
                <a:latin typeface="Calibri" pitchFamily="34" charset="0"/>
                <a:ea typeface="Calibri" pitchFamily="34" charset="-122"/>
                <a:cs typeface="Calibri" pitchFamily="34" charset="-120"/>
              </a:rPr>
              <a:t>Base frozen — only classification head trained</a:t>
            </a:r>
            <a:endParaRPr lang="en-US" sz="1100" dirty="0"/>
          </a:p>
        </p:txBody>
      </p:sp>
      <p:sp>
        <p:nvSpPr>
          <p:cNvPr id="43" name="Shape 41"/>
          <p:cNvSpPr/>
          <p:nvPr/>
        </p:nvSpPr>
        <p:spPr>
          <a:xfrm>
            <a:off x="4937760" y="2578608"/>
            <a:ext cx="3749040" cy="914400"/>
          </a:xfrm>
          <a:prstGeom prst="rect">
            <a:avLst/>
          </a:prstGeom>
          <a:solidFill>
            <a:srgbClr val="0D1F3C"/>
          </a:solidFill>
          <a:ln/>
        </p:spPr>
      </p:sp>
      <p:sp>
        <p:nvSpPr>
          <p:cNvPr id="44" name="Text 42"/>
          <p:cNvSpPr/>
          <p:nvPr/>
        </p:nvSpPr>
        <p:spPr>
          <a:xfrm>
            <a:off x="5029200" y="2651760"/>
            <a:ext cx="356616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Phase 2  —  10 epochs</a:t>
            </a:r>
            <a:endParaRPr lang="en-US" sz="1300" dirty="0"/>
          </a:p>
        </p:txBody>
      </p:sp>
      <p:sp>
        <p:nvSpPr>
          <p:cNvPr id="45" name="Text 43"/>
          <p:cNvSpPr/>
          <p:nvPr/>
        </p:nvSpPr>
        <p:spPr>
          <a:xfrm>
            <a:off x="5029200" y="2898648"/>
            <a:ext cx="3566160" cy="228600"/>
          </a:xfrm>
          <a:prstGeom prst="rect">
            <a:avLst/>
          </a:prstGeom>
          <a:noFill/>
          <a:ln/>
        </p:spPr>
        <p:txBody>
          <a:bodyPr wrap="square" rtlCol="0" anchor="ctr"/>
          <a:lstStyle/>
          <a:p>
            <a:pPr marL="0" indent="0">
              <a:buNone/>
            </a:pPr>
            <a:r>
              <a:rPr lang="en-US" sz="1100" dirty="0">
                <a:solidFill>
                  <a:srgbClr val="5DA8E0"/>
                </a:solidFill>
                <a:latin typeface="Calibri" pitchFamily="34" charset="0"/>
                <a:ea typeface="Calibri" pitchFamily="34" charset="-122"/>
                <a:cs typeface="Calibri" pitchFamily="34" charset="-120"/>
              </a:rPr>
              <a:t>lr = 1e-5</a:t>
            </a:r>
            <a:endParaRPr lang="en-US" sz="1100" dirty="0"/>
          </a:p>
        </p:txBody>
      </p:sp>
      <p:sp>
        <p:nvSpPr>
          <p:cNvPr id="46" name="Text 44"/>
          <p:cNvSpPr/>
          <p:nvPr/>
        </p:nvSpPr>
        <p:spPr>
          <a:xfrm>
            <a:off x="5029200" y="3108960"/>
            <a:ext cx="3566160" cy="320040"/>
          </a:xfrm>
          <a:prstGeom prst="rect">
            <a:avLst/>
          </a:prstGeom>
          <a:noFill/>
          <a:ln/>
        </p:spPr>
        <p:txBody>
          <a:bodyPr wrap="square" rtlCol="0" anchor="ctr"/>
          <a:lstStyle/>
          <a:p>
            <a:pPr marL="0" indent="0">
              <a:buNone/>
            </a:pPr>
            <a:r>
              <a:rPr lang="en-US" sz="1100" dirty="0">
                <a:solidFill>
                  <a:srgbClr val="8892A4"/>
                </a:solidFill>
                <a:latin typeface="Calibri" pitchFamily="34" charset="0"/>
                <a:ea typeface="Calibri" pitchFamily="34" charset="-122"/>
                <a:cs typeface="Calibri" pitchFamily="34" charset="-120"/>
              </a:rPr>
              <a:t>Last 30 layers unfrozen — fine-tuning</a:t>
            </a:r>
            <a:endParaRPr lang="en-US" sz="1100" dirty="0"/>
          </a:p>
        </p:txBody>
      </p:sp>
      <p:sp>
        <p:nvSpPr>
          <p:cNvPr id="47" name="Text 45"/>
          <p:cNvSpPr/>
          <p:nvPr/>
        </p:nvSpPr>
        <p:spPr>
          <a:xfrm>
            <a:off x="4937760" y="3703320"/>
            <a:ext cx="3749040" cy="274320"/>
          </a:xfrm>
          <a:prstGeom prst="rect">
            <a:avLst/>
          </a:prstGeom>
          <a:noFill/>
          <a:ln/>
        </p:spPr>
        <p:txBody>
          <a:bodyPr wrap="square" rtlCol="0" anchor="ctr"/>
          <a:lstStyle/>
          <a:p>
            <a:pPr marL="0" indent="0">
              <a:buNone/>
            </a:pPr>
            <a:r>
              <a:rPr lang="en-US" sz="1100" dirty="0">
                <a:solidFill>
                  <a:srgbClr val="8892A4"/>
                </a:solidFill>
                <a:latin typeface="Calibri" pitchFamily="34" charset="0"/>
                <a:ea typeface="Calibri" pitchFamily="34" charset="-122"/>
                <a:cs typeface="Calibri" pitchFamily="34" charset="-120"/>
              </a:rPr>
              <a:t>Training Platform: Google Colab T4 GPU  |  ~5 minutes per epoch</a:t>
            </a:r>
            <a:endParaRPr lang="en-US" sz="1100" dirty="0"/>
          </a:p>
        </p:txBody>
      </p:sp>
      <p:sp>
        <p:nvSpPr>
          <p:cNvPr id="48" name="Text 46"/>
          <p:cNvSpPr/>
          <p:nvPr/>
        </p:nvSpPr>
        <p:spPr>
          <a:xfrm>
            <a:off x="365760" y="3703320"/>
            <a:ext cx="4114800" cy="274320"/>
          </a:xfrm>
          <a:prstGeom prst="rect">
            <a:avLst/>
          </a:prstGeom>
          <a:noFill/>
          <a:ln/>
        </p:spPr>
        <p:txBody>
          <a:bodyPr wrap="square" rtlCol="0" anchor="ctr"/>
          <a:lstStyle/>
          <a:p>
            <a:pPr marL="0" indent="0">
              <a:buNone/>
            </a:pPr>
            <a:r>
              <a:rPr lang="en-US" sz="1200" b="1" dirty="0">
                <a:solidFill>
                  <a:srgbClr val="0D1F3C"/>
                </a:solidFill>
                <a:latin typeface="Calibri" pitchFamily="34" charset="0"/>
                <a:ea typeface="Calibri" pitchFamily="34" charset="-122"/>
                <a:cs typeface="Calibri" pitchFamily="34" charset="-120"/>
              </a:rPr>
              <a:t>Data Augmentation Applied</a:t>
            </a:r>
            <a:endParaRPr lang="en-US" sz="1200" dirty="0"/>
          </a:p>
        </p:txBody>
      </p:sp>
      <p:sp>
        <p:nvSpPr>
          <p:cNvPr id="49" name="Text 47"/>
          <p:cNvSpPr/>
          <p:nvPr/>
        </p:nvSpPr>
        <p:spPr>
          <a:xfrm>
            <a:off x="365760" y="4023360"/>
            <a:ext cx="4114800" cy="22860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 Rotation ±15°</a:t>
            </a:r>
            <a:endParaRPr lang="en-US" sz="1100" dirty="0"/>
          </a:p>
        </p:txBody>
      </p:sp>
      <p:sp>
        <p:nvSpPr>
          <p:cNvPr id="50" name="Text 48"/>
          <p:cNvSpPr/>
          <p:nvPr/>
        </p:nvSpPr>
        <p:spPr>
          <a:xfrm>
            <a:off x="365760" y="4270248"/>
            <a:ext cx="4114800" cy="22860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 Zoom ±15%</a:t>
            </a:r>
            <a:endParaRPr lang="en-US" sz="1100" dirty="0"/>
          </a:p>
        </p:txBody>
      </p:sp>
      <p:sp>
        <p:nvSpPr>
          <p:cNvPr id="51" name="Text 49"/>
          <p:cNvSpPr/>
          <p:nvPr/>
        </p:nvSpPr>
        <p:spPr>
          <a:xfrm>
            <a:off x="365760" y="4517136"/>
            <a:ext cx="4114800" cy="22860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 Horizontal flip</a:t>
            </a:r>
            <a:endParaRPr lang="en-US" sz="1100" dirty="0"/>
          </a:p>
        </p:txBody>
      </p:sp>
      <p:sp>
        <p:nvSpPr>
          <p:cNvPr id="52" name="Text 50"/>
          <p:cNvSpPr/>
          <p:nvPr/>
        </p:nvSpPr>
        <p:spPr>
          <a:xfrm>
            <a:off x="365760" y="4764024"/>
            <a:ext cx="4114800" cy="22860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 Brightness ±20%</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1F3C"/>
          </a:solidFill>
          <a:ln/>
        </p:spPr>
      </p:sp>
      <p:sp>
        <p:nvSpPr>
          <p:cNvPr id="3" name="Text 1"/>
          <p:cNvSpPr/>
          <p:nvPr/>
        </p:nvSpPr>
        <p:spPr>
          <a:xfrm>
            <a:off x="365760" y="182880"/>
            <a:ext cx="8229600" cy="64008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Key Features</a:t>
            </a:r>
            <a:endParaRPr lang="en-US" sz="2800" dirty="0"/>
          </a:p>
        </p:txBody>
      </p:sp>
      <p:sp>
        <p:nvSpPr>
          <p:cNvPr id="4" name="Shape 2"/>
          <p:cNvSpPr/>
          <p:nvPr/>
        </p:nvSpPr>
        <p:spPr>
          <a:xfrm>
            <a:off x="274320" y="1097280"/>
            <a:ext cx="4206240" cy="1170432"/>
          </a:xfrm>
          <a:prstGeom prst="rect">
            <a:avLst/>
          </a:prstGeom>
          <a:solidFill>
            <a:srgbClr val="F4F6F9"/>
          </a:solidFill>
          <a:ln w="12700">
            <a:solidFill>
              <a:srgbClr val="DDDDDD"/>
            </a:solidFill>
            <a:prstDash val="solid"/>
          </a:ln>
        </p:spPr>
      </p:sp>
      <p:sp>
        <p:nvSpPr>
          <p:cNvPr id="5" name="Shape 3"/>
          <p:cNvSpPr/>
          <p:nvPr/>
        </p:nvSpPr>
        <p:spPr>
          <a:xfrm>
            <a:off x="274320" y="1097280"/>
            <a:ext cx="4206240" cy="201168"/>
          </a:xfrm>
          <a:prstGeom prst="rect">
            <a:avLst/>
          </a:prstGeom>
          <a:solidFill>
            <a:srgbClr val="0D1F3C"/>
          </a:solidFill>
          <a:ln/>
        </p:spPr>
      </p:sp>
      <p:sp>
        <p:nvSpPr>
          <p:cNvPr id="6" name="Text 4"/>
          <p:cNvSpPr/>
          <p:nvPr/>
        </p:nvSpPr>
        <p:spPr>
          <a:xfrm>
            <a:off x="347472" y="1115568"/>
            <a:ext cx="4023360" cy="164592"/>
          </a:xfrm>
          <a:prstGeom prst="rect">
            <a:avLst/>
          </a:prstGeom>
          <a:noFill/>
          <a:ln/>
        </p:spPr>
        <p:txBody>
          <a:bodyPr wrap="square" rtlCol="0" anchor="ctr"/>
          <a:lstStyle/>
          <a:p>
            <a:pPr marL="0" indent="0">
              <a:buNone/>
            </a:pPr>
            <a:r>
              <a:rPr lang="en-US" sz="900" b="1" dirty="0">
                <a:solidFill>
                  <a:srgbClr val="5DA8E0"/>
                </a:solidFill>
                <a:latin typeface="Calibri" pitchFamily="34" charset="0"/>
                <a:ea typeface="Calibri" pitchFamily="34" charset="-122"/>
                <a:cs typeface="Calibri" pitchFamily="34" charset="-120"/>
              </a:rPr>
              <a:t>★ UNIQUE FEATURE</a:t>
            </a:r>
            <a:endParaRPr lang="en-US" sz="900" dirty="0"/>
          </a:p>
        </p:txBody>
      </p:sp>
      <p:sp>
        <p:nvSpPr>
          <p:cNvPr id="7" name="Text 5"/>
          <p:cNvSpPr/>
          <p:nvPr/>
        </p:nvSpPr>
        <p:spPr>
          <a:xfrm>
            <a:off x="384048" y="1316736"/>
            <a:ext cx="3931920" cy="292608"/>
          </a:xfrm>
          <a:prstGeom prst="rect">
            <a:avLst/>
          </a:prstGeom>
          <a:noFill/>
          <a:ln/>
        </p:spPr>
        <p:txBody>
          <a:bodyPr wrap="square" rtlCol="0" anchor="ctr"/>
          <a:lstStyle/>
          <a:p>
            <a:pPr marL="0" indent="0">
              <a:buNone/>
            </a:pPr>
            <a:r>
              <a:rPr lang="en-US" sz="1300" b="1" dirty="0">
                <a:solidFill>
                  <a:srgbClr val="0D1F3C"/>
                </a:solidFill>
                <a:latin typeface="Calibri" pitchFamily="34" charset="0"/>
                <a:ea typeface="Calibri" pitchFamily="34" charset="-122"/>
                <a:cs typeface="Calibri" pitchFamily="34" charset="-120"/>
              </a:rPr>
              <a:t>🔬  Grad-CAM Forensic Heatmap</a:t>
            </a:r>
            <a:endParaRPr lang="en-US" sz="1300" dirty="0"/>
          </a:p>
        </p:txBody>
      </p:sp>
      <p:sp>
        <p:nvSpPr>
          <p:cNvPr id="8" name="Text 6"/>
          <p:cNvSpPr/>
          <p:nvPr/>
        </p:nvSpPr>
        <p:spPr>
          <a:xfrm>
            <a:off x="384048" y="1609344"/>
            <a:ext cx="3931920" cy="594360"/>
          </a:xfrm>
          <a:prstGeom prst="rect">
            <a:avLst/>
          </a:prstGeom>
          <a:noFill/>
          <a:ln/>
        </p:spPr>
        <p:txBody>
          <a:bodyPr wrap="square" rtlCol="0" anchor="ctr"/>
          <a:lstStyle/>
          <a:p>
            <a:pPr marL="0" indent="0" algn="just">
              <a:buNone/>
            </a:pPr>
            <a:r>
              <a:rPr lang="en-US" sz="1050" dirty="0">
                <a:solidFill>
                  <a:srgbClr val="333333"/>
                </a:solidFill>
                <a:latin typeface="Calibri" pitchFamily="34" charset="0"/>
                <a:ea typeface="Calibri" pitchFamily="34" charset="-122"/>
                <a:cs typeface="Calibri" pitchFamily="34" charset="-120"/>
              </a:rPr>
              <a:t>Highlights which regions of the face most influenced the prediction. Red/yellow = suspicious. Blue = normal.</a:t>
            </a:r>
            <a:endParaRPr lang="en-US" sz="1050" dirty="0"/>
          </a:p>
        </p:txBody>
      </p:sp>
      <p:sp>
        <p:nvSpPr>
          <p:cNvPr id="9" name="Shape 7"/>
          <p:cNvSpPr/>
          <p:nvPr/>
        </p:nvSpPr>
        <p:spPr>
          <a:xfrm>
            <a:off x="4709160" y="1097280"/>
            <a:ext cx="4206240" cy="1170432"/>
          </a:xfrm>
          <a:prstGeom prst="rect">
            <a:avLst/>
          </a:prstGeom>
          <a:solidFill>
            <a:srgbClr val="F4F6F9"/>
          </a:solidFill>
          <a:ln w="12700">
            <a:solidFill>
              <a:srgbClr val="DDDDDD"/>
            </a:solidFill>
            <a:prstDash val="solid"/>
          </a:ln>
        </p:spPr>
      </p:sp>
      <p:sp>
        <p:nvSpPr>
          <p:cNvPr id="10" name="Shape 8"/>
          <p:cNvSpPr/>
          <p:nvPr/>
        </p:nvSpPr>
        <p:spPr>
          <a:xfrm>
            <a:off x="4709160" y="1097280"/>
            <a:ext cx="4206240" cy="201168"/>
          </a:xfrm>
          <a:prstGeom prst="rect">
            <a:avLst/>
          </a:prstGeom>
          <a:solidFill>
            <a:srgbClr val="0D1F3C"/>
          </a:solidFill>
          <a:ln/>
        </p:spPr>
      </p:sp>
      <p:sp>
        <p:nvSpPr>
          <p:cNvPr id="11" name="Text 9"/>
          <p:cNvSpPr/>
          <p:nvPr/>
        </p:nvSpPr>
        <p:spPr>
          <a:xfrm>
            <a:off x="4782312" y="1115568"/>
            <a:ext cx="4023360" cy="164592"/>
          </a:xfrm>
          <a:prstGeom prst="rect">
            <a:avLst/>
          </a:prstGeom>
          <a:noFill/>
          <a:ln/>
        </p:spPr>
        <p:txBody>
          <a:bodyPr wrap="square" rtlCol="0" anchor="ctr"/>
          <a:lstStyle/>
          <a:p>
            <a:pPr marL="0" indent="0">
              <a:buNone/>
            </a:pPr>
            <a:r>
              <a:rPr lang="en-US" sz="900" b="1" dirty="0">
                <a:solidFill>
                  <a:srgbClr val="5DA8E0"/>
                </a:solidFill>
                <a:latin typeface="Calibri" pitchFamily="34" charset="0"/>
                <a:ea typeface="Calibri" pitchFamily="34" charset="-122"/>
                <a:cs typeface="Calibri" pitchFamily="34" charset="-120"/>
              </a:rPr>
              <a:t>★ UNIQUE FEATURE</a:t>
            </a:r>
            <a:endParaRPr lang="en-US" sz="900" dirty="0"/>
          </a:p>
        </p:txBody>
      </p:sp>
      <p:sp>
        <p:nvSpPr>
          <p:cNvPr id="12" name="Text 10"/>
          <p:cNvSpPr/>
          <p:nvPr/>
        </p:nvSpPr>
        <p:spPr>
          <a:xfrm>
            <a:off x="4818888" y="1316736"/>
            <a:ext cx="3931920" cy="292608"/>
          </a:xfrm>
          <a:prstGeom prst="rect">
            <a:avLst/>
          </a:prstGeom>
          <a:noFill/>
          <a:ln/>
        </p:spPr>
        <p:txBody>
          <a:bodyPr wrap="square" rtlCol="0" anchor="ctr"/>
          <a:lstStyle/>
          <a:p>
            <a:pPr marL="0" indent="0">
              <a:buNone/>
            </a:pPr>
            <a:r>
              <a:rPr lang="en-US" sz="1300" b="1" dirty="0">
                <a:solidFill>
                  <a:srgbClr val="0D1F3C"/>
                </a:solidFill>
                <a:latin typeface="Calibri" pitchFamily="34" charset="0"/>
                <a:ea typeface="Calibri" pitchFamily="34" charset="-122"/>
                <a:cs typeface="Calibri" pitchFamily="34" charset="-120"/>
              </a:rPr>
              <a:t>📊  5-Level Verdict System</a:t>
            </a:r>
            <a:endParaRPr lang="en-US" sz="1300" dirty="0"/>
          </a:p>
        </p:txBody>
      </p:sp>
      <p:sp>
        <p:nvSpPr>
          <p:cNvPr id="13" name="Text 11"/>
          <p:cNvSpPr/>
          <p:nvPr/>
        </p:nvSpPr>
        <p:spPr>
          <a:xfrm>
            <a:off x="4818888" y="1609344"/>
            <a:ext cx="3931920" cy="594360"/>
          </a:xfrm>
          <a:prstGeom prst="rect">
            <a:avLst/>
          </a:prstGeom>
          <a:noFill/>
          <a:ln/>
        </p:spPr>
        <p:txBody>
          <a:bodyPr wrap="square" rtlCol="0" anchor="ctr"/>
          <a:lstStyle/>
          <a:p>
            <a:pPr marL="0" indent="0" algn="just">
              <a:buNone/>
            </a:pPr>
            <a:r>
              <a:rPr lang="en-US" sz="1050" dirty="0">
                <a:solidFill>
                  <a:srgbClr val="333333"/>
                </a:solidFill>
                <a:latin typeface="Calibri" pitchFamily="34" charset="0"/>
                <a:ea typeface="Calibri" pitchFamily="34" charset="-122"/>
                <a:cs typeface="Calibri" pitchFamily="34" charset="-120"/>
              </a:rPr>
              <a:t>Definitely Real / Likely Real / Uncertain / Likely Fake / Definitely Fake — more informative than binary classification for forensic use cases.</a:t>
            </a:r>
            <a:endParaRPr lang="en-US" sz="1050" dirty="0"/>
          </a:p>
        </p:txBody>
      </p:sp>
      <p:sp>
        <p:nvSpPr>
          <p:cNvPr id="14" name="Shape 12"/>
          <p:cNvSpPr/>
          <p:nvPr/>
        </p:nvSpPr>
        <p:spPr>
          <a:xfrm>
            <a:off x="274320" y="2395728"/>
            <a:ext cx="4206240" cy="1170432"/>
          </a:xfrm>
          <a:prstGeom prst="rect">
            <a:avLst/>
          </a:prstGeom>
          <a:solidFill>
            <a:srgbClr val="F4F6F9"/>
          </a:solidFill>
          <a:ln w="12700">
            <a:solidFill>
              <a:srgbClr val="DDDDDD"/>
            </a:solidFill>
            <a:prstDash val="solid"/>
          </a:ln>
        </p:spPr>
      </p:sp>
      <p:sp>
        <p:nvSpPr>
          <p:cNvPr id="15" name="Shape 13"/>
          <p:cNvSpPr/>
          <p:nvPr/>
        </p:nvSpPr>
        <p:spPr>
          <a:xfrm>
            <a:off x="274320" y="2395728"/>
            <a:ext cx="4206240" cy="201168"/>
          </a:xfrm>
          <a:prstGeom prst="rect">
            <a:avLst/>
          </a:prstGeom>
          <a:solidFill>
            <a:srgbClr val="0D1F3C"/>
          </a:solidFill>
          <a:ln/>
        </p:spPr>
      </p:sp>
      <p:sp>
        <p:nvSpPr>
          <p:cNvPr id="16" name="Text 14"/>
          <p:cNvSpPr/>
          <p:nvPr/>
        </p:nvSpPr>
        <p:spPr>
          <a:xfrm>
            <a:off x="347472" y="2414016"/>
            <a:ext cx="4023360" cy="164592"/>
          </a:xfrm>
          <a:prstGeom prst="rect">
            <a:avLst/>
          </a:prstGeom>
          <a:noFill/>
          <a:ln/>
        </p:spPr>
        <p:txBody>
          <a:bodyPr wrap="square" rtlCol="0" anchor="ctr"/>
          <a:lstStyle/>
          <a:p>
            <a:pPr marL="0" indent="0">
              <a:buNone/>
            </a:pPr>
            <a:r>
              <a:rPr lang="en-US" sz="900" b="1" dirty="0">
                <a:solidFill>
                  <a:srgbClr val="5DA8E0"/>
                </a:solidFill>
                <a:latin typeface="Calibri" pitchFamily="34" charset="0"/>
                <a:ea typeface="Calibri" pitchFamily="34" charset="-122"/>
                <a:cs typeface="Calibri" pitchFamily="34" charset="-120"/>
              </a:rPr>
              <a:t>★ UNIQUE FEATURE</a:t>
            </a:r>
            <a:endParaRPr lang="en-US" sz="900" dirty="0"/>
          </a:p>
        </p:txBody>
      </p:sp>
      <p:sp>
        <p:nvSpPr>
          <p:cNvPr id="17" name="Text 15"/>
          <p:cNvSpPr/>
          <p:nvPr/>
        </p:nvSpPr>
        <p:spPr>
          <a:xfrm>
            <a:off x="384048" y="2615184"/>
            <a:ext cx="3931920" cy="292608"/>
          </a:xfrm>
          <a:prstGeom prst="rect">
            <a:avLst/>
          </a:prstGeom>
          <a:noFill/>
          <a:ln/>
        </p:spPr>
        <p:txBody>
          <a:bodyPr wrap="square" rtlCol="0" anchor="ctr"/>
          <a:lstStyle/>
          <a:p>
            <a:pPr marL="0" indent="0">
              <a:buNone/>
            </a:pPr>
            <a:r>
              <a:rPr lang="en-US" sz="1300" b="1" dirty="0">
                <a:solidFill>
                  <a:srgbClr val="0D1F3C"/>
                </a:solidFill>
                <a:latin typeface="Calibri" pitchFamily="34" charset="0"/>
                <a:ea typeface="Calibri" pitchFamily="34" charset="-122"/>
                <a:cs typeface="Calibri" pitchFamily="34" charset="-120"/>
              </a:rPr>
              <a:t>📄  PDF + CSV Report Download</a:t>
            </a:r>
            <a:endParaRPr lang="en-US" sz="1300" dirty="0"/>
          </a:p>
        </p:txBody>
      </p:sp>
      <p:sp>
        <p:nvSpPr>
          <p:cNvPr id="18" name="Text 16"/>
          <p:cNvSpPr/>
          <p:nvPr/>
        </p:nvSpPr>
        <p:spPr>
          <a:xfrm>
            <a:off x="384048" y="2907792"/>
            <a:ext cx="3931920" cy="594360"/>
          </a:xfrm>
          <a:prstGeom prst="rect">
            <a:avLst/>
          </a:prstGeom>
          <a:noFill/>
          <a:ln/>
        </p:spPr>
        <p:txBody>
          <a:bodyPr wrap="square" rtlCol="0" anchor="ctr"/>
          <a:lstStyle/>
          <a:p>
            <a:pPr marL="0" indent="0" algn="just">
              <a:buNone/>
            </a:pPr>
            <a:r>
              <a:rPr lang="en-US" sz="1050" dirty="0">
                <a:solidFill>
                  <a:srgbClr val="333333"/>
                </a:solidFill>
                <a:latin typeface="Calibri" pitchFamily="34" charset="0"/>
                <a:ea typeface="Calibri" pitchFamily="34" charset="-122"/>
                <a:cs typeface="Calibri" pitchFamily="34" charset="-120"/>
              </a:rPr>
              <a:t>Every detection session can be exported as a formatted PDF forensic report or CSV file — including timestamps, confidence scores, verdict levels, and analysis time.</a:t>
            </a:r>
            <a:endParaRPr lang="en-US" sz="1050" dirty="0"/>
          </a:p>
        </p:txBody>
      </p:sp>
      <p:sp>
        <p:nvSpPr>
          <p:cNvPr id="19" name="Shape 17"/>
          <p:cNvSpPr/>
          <p:nvPr/>
        </p:nvSpPr>
        <p:spPr>
          <a:xfrm>
            <a:off x="4709160" y="2395728"/>
            <a:ext cx="4206240" cy="1170432"/>
          </a:xfrm>
          <a:prstGeom prst="rect">
            <a:avLst/>
          </a:prstGeom>
          <a:solidFill>
            <a:srgbClr val="F4F6F9"/>
          </a:solidFill>
          <a:ln w="12700">
            <a:solidFill>
              <a:srgbClr val="DDDDDD"/>
            </a:solidFill>
            <a:prstDash val="solid"/>
          </a:ln>
        </p:spPr>
      </p:sp>
      <p:sp>
        <p:nvSpPr>
          <p:cNvPr id="20" name="Text 18"/>
          <p:cNvSpPr/>
          <p:nvPr/>
        </p:nvSpPr>
        <p:spPr>
          <a:xfrm>
            <a:off x="4818888" y="2450592"/>
            <a:ext cx="3931920" cy="292608"/>
          </a:xfrm>
          <a:prstGeom prst="rect">
            <a:avLst/>
          </a:prstGeom>
          <a:noFill/>
          <a:ln/>
        </p:spPr>
        <p:txBody>
          <a:bodyPr wrap="square" rtlCol="0" anchor="ctr"/>
          <a:lstStyle/>
          <a:p>
            <a:pPr marL="0" indent="0">
              <a:buNone/>
            </a:pPr>
            <a:r>
              <a:rPr lang="en-US" sz="1300" b="1" dirty="0">
                <a:solidFill>
                  <a:srgbClr val="0D1F3C"/>
                </a:solidFill>
                <a:latin typeface="Calibri" pitchFamily="34" charset="0"/>
                <a:ea typeface="Calibri" pitchFamily="34" charset="-122"/>
                <a:cs typeface="Calibri" pitchFamily="34" charset="-120"/>
              </a:rPr>
              <a:t>🖼️  Image Metadata Display</a:t>
            </a:r>
            <a:endParaRPr lang="en-US" sz="1300" dirty="0"/>
          </a:p>
        </p:txBody>
      </p:sp>
      <p:sp>
        <p:nvSpPr>
          <p:cNvPr id="21" name="Text 19"/>
          <p:cNvSpPr/>
          <p:nvPr/>
        </p:nvSpPr>
        <p:spPr>
          <a:xfrm>
            <a:off x="4818888" y="2743200"/>
            <a:ext cx="3931920" cy="594360"/>
          </a:xfrm>
          <a:prstGeom prst="rect">
            <a:avLst/>
          </a:prstGeom>
          <a:noFill/>
          <a:ln/>
        </p:spPr>
        <p:txBody>
          <a:bodyPr wrap="square" rtlCol="0" anchor="ctr"/>
          <a:lstStyle/>
          <a:p>
            <a:pPr marL="0" indent="0" algn="just">
              <a:buNone/>
            </a:pPr>
            <a:r>
              <a:rPr lang="en-US" sz="1050" dirty="0">
                <a:solidFill>
                  <a:srgbClr val="333333"/>
                </a:solidFill>
                <a:latin typeface="Calibri" pitchFamily="34" charset="0"/>
                <a:ea typeface="Calibri" pitchFamily="34" charset="-122"/>
                <a:cs typeface="Calibri" pitchFamily="34" charset="-120"/>
              </a:rPr>
              <a:t>Shows filename, dimensions, file size, face region size, and analysis time in milliseconds — giving the tool a genuine forensic tool appearance.</a:t>
            </a:r>
            <a:endParaRPr lang="en-US" sz="1050" dirty="0"/>
          </a:p>
        </p:txBody>
      </p:sp>
      <p:sp>
        <p:nvSpPr>
          <p:cNvPr id="22" name="Shape 20"/>
          <p:cNvSpPr/>
          <p:nvPr/>
        </p:nvSpPr>
        <p:spPr>
          <a:xfrm>
            <a:off x="274320" y="3694176"/>
            <a:ext cx="4206240" cy="1170432"/>
          </a:xfrm>
          <a:prstGeom prst="rect">
            <a:avLst/>
          </a:prstGeom>
          <a:solidFill>
            <a:srgbClr val="F4F6F9"/>
          </a:solidFill>
          <a:ln w="12700">
            <a:solidFill>
              <a:srgbClr val="DDDDDD"/>
            </a:solidFill>
            <a:prstDash val="solid"/>
          </a:ln>
        </p:spPr>
      </p:sp>
      <p:sp>
        <p:nvSpPr>
          <p:cNvPr id="23" name="Text 21"/>
          <p:cNvSpPr/>
          <p:nvPr/>
        </p:nvSpPr>
        <p:spPr>
          <a:xfrm>
            <a:off x="384048" y="3749040"/>
            <a:ext cx="3931920" cy="292608"/>
          </a:xfrm>
          <a:prstGeom prst="rect">
            <a:avLst/>
          </a:prstGeom>
          <a:noFill/>
          <a:ln/>
        </p:spPr>
        <p:txBody>
          <a:bodyPr wrap="square" rtlCol="0" anchor="ctr"/>
          <a:lstStyle/>
          <a:p>
            <a:pPr marL="0" indent="0">
              <a:buNone/>
            </a:pPr>
            <a:r>
              <a:rPr lang="en-US" sz="1300" b="1" dirty="0">
                <a:solidFill>
                  <a:srgbClr val="0D1F3C"/>
                </a:solidFill>
                <a:latin typeface="Calibri" pitchFamily="34" charset="0"/>
                <a:ea typeface="Calibri" pitchFamily="34" charset="-122"/>
                <a:cs typeface="Calibri" pitchFamily="34" charset="-120"/>
              </a:rPr>
              <a:t>📷  Webcam + Upload Detection</a:t>
            </a:r>
            <a:endParaRPr lang="en-US" sz="1300" dirty="0"/>
          </a:p>
        </p:txBody>
      </p:sp>
      <p:sp>
        <p:nvSpPr>
          <p:cNvPr id="24" name="Text 22"/>
          <p:cNvSpPr/>
          <p:nvPr/>
        </p:nvSpPr>
        <p:spPr>
          <a:xfrm>
            <a:off x="384048" y="4041648"/>
            <a:ext cx="3931920" cy="594360"/>
          </a:xfrm>
          <a:prstGeom prst="rect">
            <a:avLst/>
          </a:prstGeom>
          <a:noFill/>
          <a:ln/>
        </p:spPr>
        <p:txBody>
          <a:bodyPr wrap="square" rtlCol="0" anchor="ctr"/>
          <a:lstStyle/>
          <a:p>
            <a:pPr marL="0" indent="0" algn="just">
              <a:buNone/>
            </a:pPr>
            <a:r>
              <a:rPr lang="en-US" sz="1050" dirty="0">
                <a:solidFill>
                  <a:srgbClr val="333333"/>
                </a:solidFill>
                <a:latin typeface="Calibri" pitchFamily="34" charset="0"/>
                <a:ea typeface="Calibri" pitchFamily="34" charset="-122"/>
                <a:cs typeface="Calibri" pitchFamily="34" charset="-120"/>
              </a:rPr>
              <a:t>Supports both file upload (JPG/PNG) and live webcam capture via Streamlit's camera widget for real-time forensic analysis.</a:t>
            </a:r>
            <a:endParaRPr lang="en-US" sz="1050" dirty="0"/>
          </a:p>
        </p:txBody>
      </p:sp>
      <p:sp>
        <p:nvSpPr>
          <p:cNvPr id="25" name="Shape 23"/>
          <p:cNvSpPr/>
          <p:nvPr/>
        </p:nvSpPr>
        <p:spPr>
          <a:xfrm>
            <a:off x="4709160" y="3694176"/>
            <a:ext cx="4206240" cy="1170432"/>
          </a:xfrm>
          <a:prstGeom prst="rect">
            <a:avLst/>
          </a:prstGeom>
          <a:solidFill>
            <a:srgbClr val="F4F6F9"/>
          </a:solidFill>
          <a:ln w="12700">
            <a:solidFill>
              <a:srgbClr val="DDDDDD"/>
            </a:solidFill>
            <a:prstDash val="solid"/>
          </a:ln>
        </p:spPr>
      </p:sp>
      <p:sp>
        <p:nvSpPr>
          <p:cNvPr id="26" name="Text 24"/>
          <p:cNvSpPr/>
          <p:nvPr/>
        </p:nvSpPr>
        <p:spPr>
          <a:xfrm>
            <a:off x="4818888" y="3749040"/>
            <a:ext cx="3931920" cy="292608"/>
          </a:xfrm>
          <a:prstGeom prst="rect">
            <a:avLst/>
          </a:prstGeom>
          <a:noFill/>
          <a:ln/>
        </p:spPr>
        <p:txBody>
          <a:bodyPr wrap="square" rtlCol="0" anchor="ctr"/>
          <a:lstStyle/>
          <a:p>
            <a:pPr marL="0" indent="0">
              <a:buNone/>
            </a:pPr>
            <a:r>
              <a:rPr lang="en-US" sz="1300" b="1" dirty="0">
                <a:solidFill>
                  <a:srgbClr val="0D1F3C"/>
                </a:solidFill>
                <a:latin typeface="Calibri" pitchFamily="34" charset="0"/>
                <a:ea typeface="Calibri" pitchFamily="34" charset="-122"/>
                <a:cs typeface="Calibri" pitchFamily="34" charset="-120"/>
              </a:rPr>
              <a:t>🎨  Professional Dark UI</a:t>
            </a:r>
            <a:endParaRPr lang="en-US" sz="1300" dirty="0"/>
          </a:p>
        </p:txBody>
      </p:sp>
      <p:sp>
        <p:nvSpPr>
          <p:cNvPr id="27" name="Text 25"/>
          <p:cNvSpPr/>
          <p:nvPr/>
        </p:nvSpPr>
        <p:spPr>
          <a:xfrm>
            <a:off x="4818888" y="4041648"/>
            <a:ext cx="3931920" cy="594360"/>
          </a:xfrm>
          <a:prstGeom prst="rect">
            <a:avLst/>
          </a:prstGeom>
          <a:noFill/>
          <a:ln/>
        </p:spPr>
        <p:txBody>
          <a:bodyPr wrap="square" rtlCol="0" anchor="ctr"/>
          <a:lstStyle/>
          <a:p>
            <a:pPr marL="0" indent="0" algn="just">
              <a:buNone/>
            </a:pPr>
            <a:r>
              <a:rPr lang="en-US" sz="1050" dirty="0">
                <a:solidFill>
                  <a:srgbClr val="333333"/>
                </a:solidFill>
                <a:latin typeface="Calibri" pitchFamily="34" charset="0"/>
                <a:ea typeface="Calibri" pitchFamily="34" charset="-122"/>
                <a:cs typeface="Calibri" pitchFamily="34" charset="-120"/>
              </a:rPr>
              <a:t>Custom CSS cybersecurity-themed dark interface with colour-coded verdict cards, confidence progress bars, and session statistics sidebar.</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1F3C"/>
          </a:solidFill>
          <a:ln/>
        </p:spPr>
      </p:sp>
      <p:sp>
        <p:nvSpPr>
          <p:cNvPr id="3" name="Text 1"/>
          <p:cNvSpPr/>
          <p:nvPr/>
        </p:nvSpPr>
        <p:spPr>
          <a:xfrm>
            <a:off x="365760" y="182880"/>
            <a:ext cx="8229600" cy="64008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Grad-CAM: What Makes Us Different</a:t>
            </a:r>
            <a:endParaRPr lang="en-US" sz="2600" dirty="0"/>
          </a:p>
        </p:txBody>
      </p:sp>
      <p:sp>
        <p:nvSpPr>
          <p:cNvPr id="4" name="Text 2"/>
          <p:cNvSpPr/>
          <p:nvPr/>
        </p:nvSpPr>
        <p:spPr>
          <a:xfrm>
            <a:off x="365760" y="1051560"/>
            <a:ext cx="8412480" cy="320040"/>
          </a:xfrm>
          <a:prstGeom prst="rect">
            <a:avLst/>
          </a:prstGeom>
          <a:noFill/>
          <a:ln/>
        </p:spPr>
        <p:txBody>
          <a:bodyPr wrap="square" rtlCol="0" anchor="ctr"/>
          <a:lstStyle/>
          <a:p>
            <a:pPr marL="0" indent="0">
              <a:buNone/>
            </a:pPr>
            <a:r>
              <a:rPr lang="en-US" sz="1500" b="1" dirty="0">
                <a:solidFill>
                  <a:srgbClr val="0D1F3C"/>
                </a:solidFill>
                <a:latin typeface="Calibri" pitchFamily="34" charset="0"/>
                <a:ea typeface="Calibri" pitchFamily="34" charset="-122"/>
                <a:cs typeface="Calibri" pitchFamily="34" charset="-120"/>
              </a:rPr>
              <a:t>Gradient-weighted Class Activation Mapping (Grad-CAM)</a:t>
            </a:r>
            <a:endParaRPr lang="en-US" sz="1500" dirty="0"/>
          </a:p>
        </p:txBody>
      </p:sp>
      <p:sp>
        <p:nvSpPr>
          <p:cNvPr id="5" name="Text 3"/>
          <p:cNvSpPr/>
          <p:nvPr/>
        </p:nvSpPr>
        <p:spPr>
          <a:xfrm>
            <a:off x="365760" y="1417320"/>
            <a:ext cx="8412480" cy="640080"/>
          </a:xfrm>
          <a:prstGeom prst="rect">
            <a:avLst/>
          </a:prstGeom>
          <a:noFill/>
          <a:ln/>
        </p:spPr>
        <p:txBody>
          <a:bodyPr wrap="square" rtlCol="0" anchor="ctr"/>
          <a:lstStyle/>
          <a:p>
            <a:pPr marL="0" indent="0" algn="just">
              <a:buNone/>
            </a:pPr>
            <a:r>
              <a:rPr lang="en-US" sz="1200" dirty="0">
                <a:solidFill>
                  <a:srgbClr val="333333"/>
                </a:solidFill>
                <a:latin typeface="Calibri" pitchFamily="34" charset="0"/>
                <a:ea typeface="Calibri" pitchFamily="34" charset="-122"/>
                <a:cs typeface="Calibri" pitchFamily="34" charset="-120"/>
              </a:rPr>
              <a:t>Grad-CAM is a research technique published at ICCV 2017. It uses the gradients of the model's output with respect to the last convolutional layer to produce a spatial heatmap. This shows exactly which parts of the face the model focused on when making its decision.</a:t>
            </a:r>
            <a:endParaRPr lang="en-US" sz="1200" dirty="0"/>
          </a:p>
        </p:txBody>
      </p:sp>
      <p:sp>
        <p:nvSpPr>
          <p:cNvPr id="6" name="Shape 4"/>
          <p:cNvSpPr/>
          <p:nvPr/>
        </p:nvSpPr>
        <p:spPr>
          <a:xfrm>
            <a:off x="274320" y="2148840"/>
            <a:ext cx="347472" cy="347472"/>
          </a:xfrm>
          <a:prstGeom prst="rect">
            <a:avLst/>
          </a:prstGeom>
          <a:solidFill>
            <a:srgbClr val="0D1F3C"/>
          </a:solidFill>
          <a:ln/>
        </p:spPr>
      </p:sp>
      <p:sp>
        <p:nvSpPr>
          <p:cNvPr id="7" name="Text 5"/>
          <p:cNvSpPr/>
          <p:nvPr/>
        </p:nvSpPr>
        <p:spPr>
          <a:xfrm>
            <a:off x="274320" y="2148840"/>
            <a:ext cx="347472" cy="347472"/>
          </a:xfrm>
          <a:prstGeom prst="rect">
            <a:avLst/>
          </a:prstGeom>
          <a:noFill/>
          <a:ln/>
        </p:spPr>
        <p:txBody>
          <a:bodyPr wrap="square" rtlCol="0" anchor="ctr"/>
          <a:lstStyle/>
          <a:p>
            <a:pPr marL="0" indent="0" algn="ctr">
              <a:buNone/>
            </a:pPr>
            <a:r>
              <a:rPr lang="en-US" sz="1300" b="1" dirty="0">
                <a:solidFill>
                  <a:srgbClr val="5DA8E0"/>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713232" y="2167128"/>
            <a:ext cx="8046720" cy="329184"/>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Run the face image through EfficientNetB4 and record the last Conv2D layer output</a:t>
            </a:r>
            <a:endParaRPr lang="en-US" sz="1200" dirty="0"/>
          </a:p>
        </p:txBody>
      </p:sp>
      <p:sp>
        <p:nvSpPr>
          <p:cNvPr id="9" name="Shape 7"/>
          <p:cNvSpPr/>
          <p:nvPr/>
        </p:nvSpPr>
        <p:spPr>
          <a:xfrm>
            <a:off x="274320" y="2560320"/>
            <a:ext cx="347472" cy="347472"/>
          </a:xfrm>
          <a:prstGeom prst="rect">
            <a:avLst/>
          </a:prstGeom>
          <a:solidFill>
            <a:srgbClr val="0D1F3C"/>
          </a:solidFill>
          <a:ln/>
        </p:spPr>
      </p:sp>
      <p:sp>
        <p:nvSpPr>
          <p:cNvPr id="10" name="Text 8"/>
          <p:cNvSpPr/>
          <p:nvPr/>
        </p:nvSpPr>
        <p:spPr>
          <a:xfrm>
            <a:off x="274320" y="2560320"/>
            <a:ext cx="347472" cy="347472"/>
          </a:xfrm>
          <a:prstGeom prst="rect">
            <a:avLst/>
          </a:prstGeom>
          <a:noFill/>
          <a:ln/>
        </p:spPr>
        <p:txBody>
          <a:bodyPr wrap="square" rtlCol="0" anchor="ctr"/>
          <a:lstStyle/>
          <a:p>
            <a:pPr marL="0" indent="0" algn="ctr">
              <a:buNone/>
            </a:pPr>
            <a:r>
              <a:rPr lang="en-US" sz="1300" b="1" dirty="0">
                <a:solidFill>
                  <a:srgbClr val="5DA8E0"/>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713232" y="2578608"/>
            <a:ext cx="8046720" cy="329184"/>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Compute the gradient of the prediction score with respect to those feature maps</a:t>
            </a:r>
            <a:endParaRPr lang="en-US" sz="1200" dirty="0"/>
          </a:p>
        </p:txBody>
      </p:sp>
      <p:sp>
        <p:nvSpPr>
          <p:cNvPr id="12" name="Shape 10"/>
          <p:cNvSpPr/>
          <p:nvPr/>
        </p:nvSpPr>
        <p:spPr>
          <a:xfrm>
            <a:off x="274320" y="2971800"/>
            <a:ext cx="347472" cy="347472"/>
          </a:xfrm>
          <a:prstGeom prst="rect">
            <a:avLst/>
          </a:prstGeom>
          <a:solidFill>
            <a:srgbClr val="0D1F3C"/>
          </a:solidFill>
          <a:ln/>
        </p:spPr>
      </p:sp>
      <p:sp>
        <p:nvSpPr>
          <p:cNvPr id="13" name="Text 11"/>
          <p:cNvSpPr/>
          <p:nvPr/>
        </p:nvSpPr>
        <p:spPr>
          <a:xfrm>
            <a:off x="274320" y="2971800"/>
            <a:ext cx="347472" cy="347472"/>
          </a:xfrm>
          <a:prstGeom prst="rect">
            <a:avLst/>
          </a:prstGeom>
          <a:noFill/>
          <a:ln/>
        </p:spPr>
        <p:txBody>
          <a:bodyPr wrap="square" rtlCol="0" anchor="ctr"/>
          <a:lstStyle/>
          <a:p>
            <a:pPr marL="0" indent="0" algn="ctr">
              <a:buNone/>
            </a:pPr>
            <a:r>
              <a:rPr lang="en-US" sz="1300" b="1" dirty="0">
                <a:solidFill>
                  <a:srgbClr val="5DA8E0"/>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713232" y="2990088"/>
            <a:ext cx="8046720" cy="329184"/>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Weight each feature map channel by its average gradient (global average pooling)</a:t>
            </a:r>
            <a:endParaRPr lang="en-US" sz="1200" dirty="0"/>
          </a:p>
        </p:txBody>
      </p:sp>
      <p:sp>
        <p:nvSpPr>
          <p:cNvPr id="15" name="Shape 13"/>
          <p:cNvSpPr/>
          <p:nvPr/>
        </p:nvSpPr>
        <p:spPr>
          <a:xfrm>
            <a:off x="274320" y="3383280"/>
            <a:ext cx="347472" cy="347472"/>
          </a:xfrm>
          <a:prstGeom prst="rect">
            <a:avLst/>
          </a:prstGeom>
          <a:solidFill>
            <a:srgbClr val="0D1F3C"/>
          </a:solidFill>
          <a:ln/>
        </p:spPr>
      </p:sp>
      <p:sp>
        <p:nvSpPr>
          <p:cNvPr id="16" name="Text 14"/>
          <p:cNvSpPr/>
          <p:nvPr/>
        </p:nvSpPr>
        <p:spPr>
          <a:xfrm>
            <a:off x="274320" y="3383280"/>
            <a:ext cx="347472" cy="347472"/>
          </a:xfrm>
          <a:prstGeom prst="rect">
            <a:avLst/>
          </a:prstGeom>
          <a:noFill/>
          <a:ln/>
        </p:spPr>
        <p:txBody>
          <a:bodyPr wrap="square" rtlCol="0" anchor="ctr"/>
          <a:lstStyle/>
          <a:p>
            <a:pPr marL="0" indent="0" algn="ctr">
              <a:buNone/>
            </a:pPr>
            <a:r>
              <a:rPr lang="en-US" sz="1300" b="1" dirty="0">
                <a:solidFill>
                  <a:srgbClr val="5DA8E0"/>
                </a:solidFill>
                <a:latin typeface="Calibri" pitchFamily="34" charset="0"/>
                <a:ea typeface="Calibri" pitchFamily="34" charset="-122"/>
                <a:cs typeface="Calibri" pitchFamily="34" charset="-120"/>
              </a:rPr>
              <a:t>4</a:t>
            </a:r>
            <a:endParaRPr lang="en-US" sz="1300" dirty="0"/>
          </a:p>
        </p:txBody>
      </p:sp>
      <p:sp>
        <p:nvSpPr>
          <p:cNvPr id="17" name="Text 15"/>
          <p:cNvSpPr/>
          <p:nvPr/>
        </p:nvSpPr>
        <p:spPr>
          <a:xfrm>
            <a:off x="713232" y="3401568"/>
            <a:ext cx="8046720" cy="329184"/>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Apply ReLU to keep only positive activations, resize to face dimensions</a:t>
            </a:r>
            <a:endParaRPr lang="en-US" sz="1200" dirty="0"/>
          </a:p>
        </p:txBody>
      </p:sp>
      <p:sp>
        <p:nvSpPr>
          <p:cNvPr id="18" name="Shape 16"/>
          <p:cNvSpPr/>
          <p:nvPr/>
        </p:nvSpPr>
        <p:spPr>
          <a:xfrm>
            <a:off x="274320" y="3794760"/>
            <a:ext cx="347472" cy="347472"/>
          </a:xfrm>
          <a:prstGeom prst="rect">
            <a:avLst/>
          </a:prstGeom>
          <a:solidFill>
            <a:srgbClr val="0D1F3C"/>
          </a:solidFill>
          <a:ln/>
        </p:spPr>
      </p:sp>
      <p:sp>
        <p:nvSpPr>
          <p:cNvPr id="19" name="Text 17"/>
          <p:cNvSpPr/>
          <p:nvPr/>
        </p:nvSpPr>
        <p:spPr>
          <a:xfrm>
            <a:off x="274320" y="3794760"/>
            <a:ext cx="347472" cy="347472"/>
          </a:xfrm>
          <a:prstGeom prst="rect">
            <a:avLst/>
          </a:prstGeom>
          <a:noFill/>
          <a:ln/>
        </p:spPr>
        <p:txBody>
          <a:bodyPr wrap="square" rtlCol="0" anchor="ctr"/>
          <a:lstStyle/>
          <a:p>
            <a:pPr marL="0" indent="0" algn="ctr">
              <a:buNone/>
            </a:pPr>
            <a:r>
              <a:rPr lang="en-US" sz="1300" b="1" dirty="0">
                <a:solidFill>
                  <a:srgbClr val="5DA8E0"/>
                </a:solidFill>
                <a:latin typeface="Calibri" pitchFamily="34" charset="0"/>
                <a:ea typeface="Calibri" pitchFamily="34" charset="-122"/>
                <a:cs typeface="Calibri" pitchFamily="34" charset="-120"/>
              </a:rPr>
              <a:t>5</a:t>
            </a:r>
            <a:endParaRPr lang="en-US" sz="1300" dirty="0"/>
          </a:p>
        </p:txBody>
      </p:sp>
      <p:sp>
        <p:nvSpPr>
          <p:cNvPr id="20" name="Text 18"/>
          <p:cNvSpPr/>
          <p:nvPr/>
        </p:nvSpPr>
        <p:spPr>
          <a:xfrm>
            <a:off x="713232" y="3813048"/>
            <a:ext cx="8046720" cy="329184"/>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Apply JET colour map and overlay on the face image at 50% transparency</a:t>
            </a:r>
          </a:p>
        </p:txBody>
      </p:sp>
      <p:pic>
        <p:nvPicPr>
          <p:cNvPr id="24" name="Picture 23">
            <a:extLst>
              <a:ext uri="{FF2B5EF4-FFF2-40B4-BE49-F238E27FC236}">
                <a16:creationId xmlns:a16="http://schemas.microsoft.com/office/drawing/2014/main" id="{75E6994A-4232-095F-0C53-7F011FC8EE43}"/>
              </a:ext>
            </a:extLst>
          </p:cNvPr>
          <p:cNvPicPr>
            <a:picLocks noChangeAspect="1"/>
          </p:cNvPicPr>
          <p:nvPr/>
        </p:nvPicPr>
        <p:blipFill>
          <a:blip r:embed="rId3"/>
          <a:stretch>
            <a:fillRect/>
          </a:stretch>
        </p:blipFill>
        <p:spPr>
          <a:xfrm>
            <a:off x="6043518" y="1859079"/>
            <a:ext cx="2961203" cy="310154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1F3C"/>
          </a:solidFill>
          <a:ln/>
        </p:spPr>
      </p:sp>
      <p:sp>
        <p:nvSpPr>
          <p:cNvPr id="3" name="Text 1"/>
          <p:cNvSpPr/>
          <p:nvPr/>
        </p:nvSpPr>
        <p:spPr>
          <a:xfrm>
            <a:off x="365760" y="182880"/>
            <a:ext cx="8229600" cy="64008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Application Screenshots</a:t>
            </a:r>
            <a:endParaRPr lang="en-US" sz="2800" dirty="0"/>
          </a:p>
        </p:txBody>
      </p:sp>
      <p:sp>
        <p:nvSpPr>
          <p:cNvPr id="6" name="Text 4"/>
          <p:cNvSpPr/>
          <p:nvPr/>
        </p:nvSpPr>
        <p:spPr>
          <a:xfrm>
            <a:off x="195596" y="941832"/>
            <a:ext cx="4193524" cy="320040"/>
          </a:xfrm>
          <a:prstGeom prst="rect">
            <a:avLst/>
          </a:prstGeom>
          <a:noFill/>
          <a:ln/>
        </p:spPr>
        <p:txBody>
          <a:bodyPr wrap="square" rtlCol="0" anchor="ctr"/>
          <a:lstStyle/>
          <a:p>
            <a:pPr marL="0" indent="0" algn="ctr">
              <a:buNone/>
            </a:pPr>
            <a:r>
              <a:rPr lang="en-US" sz="1200" b="1" dirty="0">
                <a:solidFill>
                  <a:srgbClr val="0D1F3C"/>
                </a:solidFill>
                <a:latin typeface="Calibri" pitchFamily="34" charset="0"/>
                <a:ea typeface="Calibri" pitchFamily="34" charset="-122"/>
                <a:cs typeface="Calibri" pitchFamily="34" charset="-120"/>
              </a:rPr>
              <a:t>Main Interface (Upload tab)</a:t>
            </a:r>
            <a:endParaRPr lang="en-US" sz="1200" dirty="0"/>
          </a:p>
        </p:txBody>
      </p:sp>
      <p:sp>
        <p:nvSpPr>
          <p:cNvPr id="9" name="Text 7"/>
          <p:cNvSpPr/>
          <p:nvPr/>
        </p:nvSpPr>
        <p:spPr>
          <a:xfrm>
            <a:off x="4800600" y="1005840"/>
            <a:ext cx="4023360" cy="182880"/>
          </a:xfrm>
          <a:prstGeom prst="rect">
            <a:avLst/>
          </a:prstGeom>
          <a:noFill/>
          <a:ln/>
        </p:spPr>
        <p:txBody>
          <a:bodyPr wrap="square" rtlCol="0" anchor="ctr"/>
          <a:lstStyle/>
          <a:p>
            <a:pPr algn="ctr"/>
            <a:r>
              <a:rPr lang="en-US" sz="1100" b="1" dirty="0">
                <a:solidFill>
                  <a:srgbClr val="0D1F3C"/>
                </a:solidFill>
                <a:latin typeface="Calibri" pitchFamily="34" charset="0"/>
                <a:ea typeface="Calibri" pitchFamily="34" charset="-122"/>
                <a:cs typeface="Calibri" pitchFamily="34" charset="-120"/>
              </a:rPr>
              <a:t>Real Image Detection Result</a:t>
            </a:r>
            <a:endParaRPr lang="en-US" sz="1100" dirty="0"/>
          </a:p>
        </p:txBody>
      </p:sp>
      <p:sp>
        <p:nvSpPr>
          <p:cNvPr id="14" name="Text 12"/>
          <p:cNvSpPr/>
          <p:nvPr/>
        </p:nvSpPr>
        <p:spPr>
          <a:xfrm>
            <a:off x="365760" y="3063240"/>
            <a:ext cx="4023360" cy="256032"/>
          </a:xfrm>
          <a:prstGeom prst="rect">
            <a:avLst/>
          </a:prstGeom>
          <a:noFill/>
          <a:ln/>
        </p:spPr>
        <p:txBody>
          <a:bodyPr wrap="square" rtlCol="0" anchor="ctr"/>
          <a:lstStyle/>
          <a:p>
            <a:pPr marL="0" indent="0" algn="ctr">
              <a:buNone/>
            </a:pPr>
            <a:r>
              <a:rPr lang="en-US" sz="1200" b="1" dirty="0">
                <a:solidFill>
                  <a:srgbClr val="0D1F3C"/>
                </a:solidFill>
                <a:latin typeface="Calibri" pitchFamily="34" charset="0"/>
                <a:ea typeface="Calibri" pitchFamily="34" charset="-122"/>
                <a:cs typeface="Calibri" pitchFamily="34" charset="-120"/>
              </a:rPr>
              <a:t>Fake Image Detection Result </a:t>
            </a:r>
            <a:endParaRPr lang="en-US" sz="1200" dirty="0"/>
          </a:p>
        </p:txBody>
      </p:sp>
      <p:sp>
        <p:nvSpPr>
          <p:cNvPr id="18" name="Text 16"/>
          <p:cNvSpPr/>
          <p:nvPr/>
        </p:nvSpPr>
        <p:spPr>
          <a:xfrm>
            <a:off x="4800600" y="3063240"/>
            <a:ext cx="4023360" cy="256032"/>
          </a:xfrm>
          <a:prstGeom prst="rect">
            <a:avLst/>
          </a:prstGeom>
          <a:noFill/>
          <a:ln/>
        </p:spPr>
        <p:txBody>
          <a:bodyPr wrap="square" rtlCol="0" anchor="ctr"/>
          <a:lstStyle/>
          <a:p>
            <a:pPr marL="0" indent="0" algn="ctr">
              <a:buNone/>
            </a:pPr>
            <a:r>
              <a:rPr lang="en-US" sz="1200" b="1" dirty="0">
                <a:solidFill>
                  <a:srgbClr val="0D1F3C"/>
                </a:solidFill>
                <a:latin typeface="Calibri" pitchFamily="34" charset="0"/>
                <a:ea typeface="Calibri" pitchFamily="34" charset="-122"/>
                <a:cs typeface="Calibri" pitchFamily="34" charset="-120"/>
              </a:rPr>
              <a:t>Prediction History Tab</a:t>
            </a:r>
            <a:endParaRPr lang="en-US" sz="1200" dirty="0"/>
          </a:p>
        </p:txBody>
      </p:sp>
      <p:pic>
        <p:nvPicPr>
          <p:cNvPr id="26" name="Picture 25">
            <a:extLst>
              <a:ext uri="{FF2B5EF4-FFF2-40B4-BE49-F238E27FC236}">
                <a16:creationId xmlns:a16="http://schemas.microsoft.com/office/drawing/2014/main" id="{BC2521FE-1AB8-9421-70CB-D82575B48619}"/>
              </a:ext>
            </a:extLst>
          </p:cNvPr>
          <p:cNvPicPr>
            <a:picLocks noChangeAspect="1"/>
          </p:cNvPicPr>
          <p:nvPr/>
        </p:nvPicPr>
        <p:blipFill>
          <a:blip r:embed="rId3"/>
          <a:stretch>
            <a:fillRect/>
          </a:stretch>
        </p:blipFill>
        <p:spPr>
          <a:xfrm>
            <a:off x="6897362" y="1188720"/>
            <a:ext cx="2018038" cy="1755648"/>
          </a:xfrm>
          <a:prstGeom prst="rect">
            <a:avLst/>
          </a:prstGeom>
        </p:spPr>
      </p:pic>
      <p:pic>
        <p:nvPicPr>
          <p:cNvPr id="28" name="Picture 27">
            <a:extLst>
              <a:ext uri="{FF2B5EF4-FFF2-40B4-BE49-F238E27FC236}">
                <a16:creationId xmlns:a16="http://schemas.microsoft.com/office/drawing/2014/main" id="{EEB53D92-DBE0-F196-990F-F050735597B2}"/>
              </a:ext>
            </a:extLst>
          </p:cNvPr>
          <p:cNvPicPr>
            <a:picLocks noChangeAspect="1"/>
          </p:cNvPicPr>
          <p:nvPr/>
        </p:nvPicPr>
        <p:blipFill>
          <a:blip r:embed="rId4"/>
          <a:stretch>
            <a:fillRect/>
          </a:stretch>
        </p:blipFill>
        <p:spPr>
          <a:xfrm>
            <a:off x="4709160" y="1188720"/>
            <a:ext cx="2018038" cy="1755648"/>
          </a:xfrm>
          <a:prstGeom prst="rect">
            <a:avLst/>
          </a:prstGeom>
        </p:spPr>
      </p:pic>
      <p:pic>
        <p:nvPicPr>
          <p:cNvPr id="30" name="Picture 29">
            <a:extLst>
              <a:ext uri="{FF2B5EF4-FFF2-40B4-BE49-F238E27FC236}">
                <a16:creationId xmlns:a16="http://schemas.microsoft.com/office/drawing/2014/main" id="{78ED1CFB-1961-6149-81A7-77780D892B26}"/>
              </a:ext>
            </a:extLst>
          </p:cNvPr>
          <p:cNvPicPr>
            <a:picLocks noChangeAspect="1"/>
          </p:cNvPicPr>
          <p:nvPr/>
        </p:nvPicPr>
        <p:blipFill>
          <a:blip r:embed="rId5"/>
          <a:stretch>
            <a:fillRect/>
          </a:stretch>
        </p:blipFill>
        <p:spPr>
          <a:xfrm>
            <a:off x="195596" y="3319272"/>
            <a:ext cx="1785366" cy="1696404"/>
          </a:xfrm>
          <a:prstGeom prst="rect">
            <a:avLst/>
          </a:prstGeom>
        </p:spPr>
      </p:pic>
      <p:pic>
        <p:nvPicPr>
          <p:cNvPr id="32" name="Picture 31">
            <a:extLst>
              <a:ext uri="{FF2B5EF4-FFF2-40B4-BE49-F238E27FC236}">
                <a16:creationId xmlns:a16="http://schemas.microsoft.com/office/drawing/2014/main" id="{79CFD722-4F14-3FB2-2B27-60C969D99875}"/>
              </a:ext>
            </a:extLst>
          </p:cNvPr>
          <p:cNvPicPr>
            <a:picLocks noChangeAspect="1"/>
          </p:cNvPicPr>
          <p:nvPr/>
        </p:nvPicPr>
        <p:blipFill>
          <a:blip r:embed="rId6"/>
          <a:stretch>
            <a:fillRect/>
          </a:stretch>
        </p:blipFill>
        <p:spPr>
          <a:xfrm>
            <a:off x="2072402" y="3319272"/>
            <a:ext cx="1936424" cy="1696404"/>
          </a:xfrm>
          <a:prstGeom prst="rect">
            <a:avLst/>
          </a:prstGeom>
        </p:spPr>
      </p:pic>
      <p:pic>
        <p:nvPicPr>
          <p:cNvPr id="34" name="Picture 33">
            <a:extLst>
              <a:ext uri="{FF2B5EF4-FFF2-40B4-BE49-F238E27FC236}">
                <a16:creationId xmlns:a16="http://schemas.microsoft.com/office/drawing/2014/main" id="{501996B5-FA09-FF5A-1D85-71E4DC5D7D2A}"/>
              </a:ext>
            </a:extLst>
          </p:cNvPr>
          <p:cNvPicPr>
            <a:picLocks noChangeAspect="1"/>
          </p:cNvPicPr>
          <p:nvPr/>
        </p:nvPicPr>
        <p:blipFill>
          <a:blip r:embed="rId7"/>
          <a:stretch>
            <a:fillRect/>
          </a:stretch>
        </p:blipFill>
        <p:spPr>
          <a:xfrm>
            <a:off x="4709161" y="3304983"/>
            <a:ext cx="4206240" cy="1696404"/>
          </a:xfrm>
          <a:prstGeom prst="rect">
            <a:avLst/>
          </a:prstGeom>
        </p:spPr>
      </p:pic>
      <p:pic>
        <p:nvPicPr>
          <p:cNvPr id="36" name="Picture 35">
            <a:extLst>
              <a:ext uri="{FF2B5EF4-FFF2-40B4-BE49-F238E27FC236}">
                <a16:creationId xmlns:a16="http://schemas.microsoft.com/office/drawing/2014/main" id="{0FF4820C-E2BB-1D1C-47FA-58A54B8EC4A3}"/>
              </a:ext>
            </a:extLst>
          </p:cNvPr>
          <p:cNvPicPr>
            <a:picLocks noChangeAspect="1"/>
          </p:cNvPicPr>
          <p:nvPr/>
        </p:nvPicPr>
        <p:blipFill>
          <a:blip r:embed="rId8"/>
          <a:stretch>
            <a:fillRect/>
          </a:stretch>
        </p:blipFill>
        <p:spPr>
          <a:xfrm>
            <a:off x="195596" y="1188720"/>
            <a:ext cx="3813230" cy="175564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1F3C"/>
          </a:solidFill>
          <a:ln/>
        </p:spPr>
      </p:sp>
      <p:sp>
        <p:nvSpPr>
          <p:cNvPr id="3" name="Text 1"/>
          <p:cNvSpPr/>
          <p:nvPr/>
        </p:nvSpPr>
        <p:spPr>
          <a:xfrm>
            <a:off x="365760" y="182880"/>
            <a:ext cx="8229600" cy="64008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Results &amp; Performance</a:t>
            </a:r>
            <a:endParaRPr lang="en-US" sz="2800" dirty="0"/>
          </a:p>
        </p:txBody>
      </p:sp>
      <p:sp>
        <p:nvSpPr>
          <p:cNvPr id="4" name="Shape 2"/>
          <p:cNvSpPr/>
          <p:nvPr/>
        </p:nvSpPr>
        <p:spPr>
          <a:xfrm>
            <a:off x="274320" y="1097280"/>
            <a:ext cx="1920240" cy="914400"/>
          </a:xfrm>
          <a:prstGeom prst="rect">
            <a:avLst/>
          </a:prstGeom>
          <a:solidFill>
            <a:srgbClr val="0D1F3C"/>
          </a:solidFill>
          <a:ln/>
        </p:spPr>
      </p:sp>
      <p:sp>
        <p:nvSpPr>
          <p:cNvPr id="5" name="Text 3"/>
          <p:cNvSpPr/>
          <p:nvPr/>
        </p:nvSpPr>
        <p:spPr>
          <a:xfrm>
            <a:off x="274320" y="1170432"/>
            <a:ext cx="1920240" cy="457200"/>
          </a:xfrm>
          <a:prstGeom prst="rect">
            <a:avLst/>
          </a:prstGeom>
          <a:noFill/>
          <a:ln/>
        </p:spPr>
        <p:txBody>
          <a:bodyPr wrap="square" rtlCol="0" anchor="ctr"/>
          <a:lstStyle/>
          <a:p>
            <a:pPr marL="0" indent="0" algn="ctr">
              <a:buNone/>
            </a:pPr>
            <a:r>
              <a:rPr lang="en-US" sz="2200" b="1" dirty="0">
                <a:solidFill>
                  <a:srgbClr val="22C55E"/>
                </a:solidFill>
                <a:latin typeface="Calibri" pitchFamily="34" charset="0"/>
                <a:ea typeface="Calibri" pitchFamily="34" charset="-122"/>
                <a:cs typeface="Calibri" pitchFamily="34" charset="-120"/>
              </a:rPr>
              <a:t>0.9634</a:t>
            </a:r>
            <a:endParaRPr lang="en-US" sz="2200" dirty="0"/>
          </a:p>
        </p:txBody>
      </p:sp>
      <p:sp>
        <p:nvSpPr>
          <p:cNvPr id="6" name="Text 4"/>
          <p:cNvSpPr/>
          <p:nvPr/>
        </p:nvSpPr>
        <p:spPr>
          <a:xfrm>
            <a:off x="274320" y="1627632"/>
            <a:ext cx="1920240" cy="320040"/>
          </a:xfrm>
          <a:prstGeom prst="rect">
            <a:avLst/>
          </a:prstGeom>
          <a:noFill/>
          <a:ln/>
        </p:spPr>
        <p:txBody>
          <a:bodyPr wrap="square" rtlCol="0" anchor="ctr"/>
          <a:lstStyle/>
          <a:p>
            <a:pPr marL="0" indent="0" algn="ctr">
              <a:buNone/>
            </a:pPr>
            <a:r>
              <a:rPr lang="en-US" sz="1100" dirty="0">
                <a:solidFill>
                  <a:srgbClr val="8892A4"/>
                </a:solidFill>
                <a:latin typeface="Calibri" pitchFamily="34" charset="0"/>
                <a:ea typeface="Calibri" pitchFamily="34" charset="-122"/>
                <a:cs typeface="Calibri" pitchFamily="34" charset="-120"/>
              </a:rPr>
              <a:t>Validation AUC</a:t>
            </a:r>
            <a:endParaRPr lang="en-US" sz="1100" dirty="0"/>
          </a:p>
        </p:txBody>
      </p:sp>
      <p:sp>
        <p:nvSpPr>
          <p:cNvPr id="7" name="Shape 5"/>
          <p:cNvSpPr/>
          <p:nvPr/>
        </p:nvSpPr>
        <p:spPr>
          <a:xfrm>
            <a:off x="2450592" y="1097280"/>
            <a:ext cx="1920240" cy="914400"/>
          </a:xfrm>
          <a:prstGeom prst="rect">
            <a:avLst/>
          </a:prstGeom>
          <a:solidFill>
            <a:srgbClr val="0D1F3C"/>
          </a:solidFill>
          <a:ln/>
        </p:spPr>
      </p:sp>
      <p:sp>
        <p:nvSpPr>
          <p:cNvPr id="8" name="Text 6"/>
          <p:cNvSpPr/>
          <p:nvPr/>
        </p:nvSpPr>
        <p:spPr>
          <a:xfrm>
            <a:off x="2450592" y="1170432"/>
            <a:ext cx="1920240" cy="457200"/>
          </a:xfrm>
          <a:prstGeom prst="rect">
            <a:avLst/>
          </a:prstGeom>
          <a:noFill/>
          <a:ln/>
        </p:spPr>
        <p:txBody>
          <a:bodyPr wrap="square" rtlCol="0" anchor="ctr"/>
          <a:lstStyle/>
          <a:p>
            <a:pPr marL="0" indent="0" algn="ctr">
              <a:buNone/>
            </a:pPr>
            <a:r>
              <a:rPr lang="en-US" sz="2200" b="1" dirty="0">
                <a:solidFill>
                  <a:srgbClr val="22C55E"/>
                </a:solidFill>
                <a:latin typeface="Calibri" pitchFamily="34" charset="0"/>
                <a:ea typeface="Calibri" pitchFamily="34" charset="-122"/>
                <a:cs typeface="Calibri" pitchFamily="34" charset="-120"/>
              </a:rPr>
              <a:t>89.6%</a:t>
            </a:r>
            <a:endParaRPr lang="en-US" sz="2200" dirty="0"/>
          </a:p>
        </p:txBody>
      </p:sp>
      <p:sp>
        <p:nvSpPr>
          <p:cNvPr id="9" name="Text 7"/>
          <p:cNvSpPr/>
          <p:nvPr/>
        </p:nvSpPr>
        <p:spPr>
          <a:xfrm>
            <a:off x="2450592" y="1627632"/>
            <a:ext cx="1920240" cy="320040"/>
          </a:xfrm>
          <a:prstGeom prst="rect">
            <a:avLst/>
          </a:prstGeom>
          <a:noFill/>
          <a:ln/>
        </p:spPr>
        <p:txBody>
          <a:bodyPr wrap="square" rtlCol="0" anchor="ctr"/>
          <a:lstStyle/>
          <a:p>
            <a:pPr marL="0" indent="0" algn="ctr">
              <a:buNone/>
            </a:pPr>
            <a:r>
              <a:rPr lang="en-US" sz="1100" dirty="0">
                <a:solidFill>
                  <a:srgbClr val="8892A4"/>
                </a:solidFill>
                <a:latin typeface="Calibri" pitchFamily="34" charset="0"/>
                <a:ea typeface="Calibri" pitchFamily="34" charset="-122"/>
                <a:cs typeface="Calibri" pitchFamily="34" charset="-120"/>
              </a:rPr>
              <a:t>Validation Accuracy</a:t>
            </a:r>
            <a:endParaRPr lang="en-US" sz="1100" dirty="0"/>
          </a:p>
        </p:txBody>
      </p:sp>
      <p:sp>
        <p:nvSpPr>
          <p:cNvPr id="10" name="Shape 8"/>
          <p:cNvSpPr/>
          <p:nvPr/>
        </p:nvSpPr>
        <p:spPr>
          <a:xfrm>
            <a:off x="4626864" y="1097280"/>
            <a:ext cx="1920240" cy="914400"/>
          </a:xfrm>
          <a:prstGeom prst="rect">
            <a:avLst/>
          </a:prstGeom>
          <a:solidFill>
            <a:srgbClr val="0D1F3C"/>
          </a:solidFill>
          <a:ln/>
        </p:spPr>
      </p:sp>
      <p:sp>
        <p:nvSpPr>
          <p:cNvPr id="11" name="Text 9"/>
          <p:cNvSpPr/>
          <p:nvPr/>
        </p:nvSpPr>
        <p:spPr>
          <a:xfrm>
            <a:off x="4626864" y="1170432"/>
            <a:ext cx="1920240" cy="457200"/>
          </a:xfrm>
          <a:prstGeom prst="rect">
            <a:avLst/>
          </a:prstGeom>
          <a:noFill/>
          <a:ln/>
        </p:spPr>
        <p:txBody>
          <a:bodyPr wrap="square" rtlCol="0" anchor="ctr"/>
          <a:lstStyle/>
          <a:p>
            <a:pPr marL="0" indent="0" algn="ctr">
              <a:buNone/>
            </a:pPr>
            <a:r>
              <a:rPr lang="en-US" sz="2200" b="1" dirty="0">
                <a:solidFill>
                  <a:srgbClr val="5DA8E0"/>
                </a:solidFill>
                <a:latin typeface="Calibri" pitchFamily="34" charset="0"/>
                <a:ea typeface="Calibri" pitchFamily="34" charset="-122"/>
                <a:cs typeface="Calibri" pitchFamily="34" charset="-120"/>
              </a:rPr>
              <a:t>96.7%</a:t>
            </a:r>
            <a:endParaRPr lang="en-US" sz="2200" dirty="0"/>
          </a:p>
        </p:txBody>
      </p:sp>
      <p:sp>
        <p:nvSpPr>
          <p:cNvPr id="12" name="Text 10"/>
          <p:cNvSpPr/>
          <p:nvPr/>
        </p:nvSpPr>
        <p:spPr>
          <a:xfrm>
            <a:off x="4626864" y="1627632"/>
            <a:ext cx="1920240" cy="320040"/>
          </a:xfrm>
          <a:prstGeom prst="rect">
            <a:avLst/>
          </a:prstGeom>
          <a:noFill/>
          <a:ln/>
        </p:spPr>
        <p:txBody>
          <a:bodyPr wrap="square" rtlCol="0" anchor="ctr"/>
          <a:lstStyle/>
          <a:p>
            <a:pPr marL="0" indent="0" algn="ctr">
              <a:buNone/>
            </a:pPr>
            <a:r>
              <a:rPr lang="en-US" sz="1100" dirty="0">
                <a:solidFill>
                  <a:srgbClr val="8892A4"/>
                </a:solidFill>
                <a:latin typeface="Calibri" pitchFamily="34" charset="0"/>
                <a:ea typeface="Calibri" pitchFamily="34" charset="-122"/>
                <a:cs typeface="Calibri" pitchFamily="34" charset="-120"/>
              </a:rPr>
              <a:t>Training AUC</a:t>
            </a:r>
            <a:endParaRPr lang="en-US" sz="1100" dirty="0"/>
          </a:p>
        </p:txBody>
      </p:sp>
      <p:sp>
        <p:nvSpPr>
          <p:cNvPr id="13" name="Shape 11"/>
          <p:cNvSpPr/>
          <p:nvPr/>
        </p:nvSpPr>
        <p:spPr>
          <a:xfrm>
            <a:off x="6803136" y="1097280"/>
            <a:ext cx="1920240" cy="914400"/>
          </a:xfrm>
          <a:prstGeom prst="rect">
            <a:avLst/>
          </a:prstGeom>
          <a:solidFill>
            <a:srgbClr val="0D1F3C"/>
          </a:solidFill>
          <a:ln/>
        </p:spPr>
      </p:sp>
      <p:sp>
        <p:nvSpPr>
          <p:cNvPr id="14" name="Text 12"/>
          <p:cNvSpPr/>
          <p:nvPr/>
        </p:nvSpPr>
        <p:spPr>
          <a:xfrm>
            <a:off x="6803136" y="1170432"/>
            <a:ext cx="1920240" cy="457200"/>
          </a:xfrm>
          <a:prstGeom prst="rect">
            <a:avLst/>
          </a:prstGeom>
          <a:noFill/>
          <a:ln/>
        </p:spPr>
        <p:txBody>
          <a:bodyPr wrap="square" rtlCol="0" anchor="ctr"/>
          <a:lstStyle/>
          <a:p>
            <a:pPr marL="0" indent="0" algn="ctr">
              <a:buNone/>
            </a:pPr>
            <a:r>
              <a:rPr lang="en-US" sz="2200" b="1" dirty="0">
                <a:solidFill>
                  <a:srgbClr val="5DA8E0"/>
                </a:solidFill>
                <a:latin typeface="Calibri" pitchFamily="34" charset="0"/>
                <a:ea typeface="Calibri" pitchFamily="34" charset="-122"/>
                <a:cs typeface="Calibri" pitchFamily="34" charset="-120"/>
              </a:rPr>
              <a:t>~1 sec</a:t>
            </a:r>
            <a:endParaRPr lang="en-US" sz="2200" dirty="0"/>
          </a:p>
        </p:txBody>
      </p:sp>
      <p:sp>
        <p:nvSpPr>
          <p:cNvPr id="15" name="Text 13"/>
          <p:cNvSpPr/>
          <p:nvPr/>
        </p:nvSpPr>
        <p:spPr>
          <a:xfrm>
            <a:off x="6803136" y="1627632"/>
            <a:ext cx="1920240" cy="320040"/>
          </a:xfrm>
          <a:prstGeom prst="rect">
            <a:avLst/>
          </a:prstGeom>
          <a:noFill/>
          <a:ln/>
        </p:spPr>
        <p:txBody>
          <a:bodyPr wrap="square" rtlCol="0" anchor="ctr"/>
          <a:lstStyle/>
          <a:p>
            <a:pPr marL="0" indent="0" algn="ctr">
              <a:buNone/>
            </a:pPr>
            <a:r>
              <a:rPr lang="en-US" sz="1100" dirty="0">
                <a:solidFill>
                  <a:srgbClr val="8892A4"/>
                </a:solidFill>
                <a:latin typeface="Calibri" pitchFamily="34" charset="0"/>
                <a:ea typeface="Calibri" pitchFamily="34" charset="-122"/>
                <a:cs typeface="Calibri" pitchFamily="34" charset="-120"/>
              </a:rPr>
              <a:t>Inference Time</a:t>
            </a:r>
            <a:endParaRPr lang="en-US" sz="1100" dirty="0"/>
          </a:p>
        </p:txBody>
      </p:sp>
      <p:sp>
        <p:nvSpPr>
          <p:cNvPr id="16" name="Text 14"/>
          <p:cNvSpPr/>
          <p:nvPr/>
        </p:nvSpPr>
        <p:spPr>
          <a:xfrm>
            <a:off x="365760" y="2011680"/>
            <a:ext cx="8412480" cy="274320"/>
          </a:xfrm>
          <a:prstGeom prst="rect">
            <a:avLst/>
          </a:prstGeom>
          <a:noFill/>
          <a:ln/>
        </p:spPr>
        <p:txBody>
          <a:bodyPr wrap="square" rtlCol="0" anchor="ctr"/>
          <a:lstStyle/>
          <a:p>
            <a:pPr marL="0" indent="0">
              <a:buNone/>
            </a:pPr>
            <a:r>
              <a:rPr lang="en-US" sz="1400" b="1" dirty="0">
                <a:solidFill>
                  <a:srgbClr val="0D1F3C"/>
                </a:solidFill>
                <a:latin typeface="Calibri" pitchFamily="34" charset="0"/>
                <a:ea typeface="Calibri" pitchFamily="34" charset="-122"/>
                <a:cs typeface="Calibri" pitchFamily="34" charset="-120"/>
              </a:rPr>
              <a:t>Comparison: Old System vs DeepGuard</a:t>
            </a:r>
            <a:endParaRPr lang="en-US" sz="1400" dirty="0"/>
          </a:p>
        </p:txBody>
      </p:sp>
      <p:sp>
        <p:nvSpPr>
          <p:cNvPr id="17" name="Shape 15"/>
          <p:cNvSpPr/>
          <p:nvPr/>
        </p:nvSpPr>
        <p:spPr>
          <a:xfrm>
            <a:off x="274320" y="2286000"/>
            <a:ext cx="2926080" cy="267751"/>
          </a:xfrm>
          <a:prstGeom prst="rect">
            <a:avLst/>
          </a:prstGeom>
          <a:solidFill>
            <a:srgbClr val="0D1F3C"/>
          </a:solidFill>
          <a:ln w="12700">
            <a:solidFill>
              <a:srgbClr val="CCCCCC"/>
            </a:solidFill>
            <a:prstDash val="solid"/>
          </a:ln>
        </p:spPr>
      </p:sp>
      <p:sp>
        <p:nvSpPr>
          <p:cNvPr id="18" name="Text 16"/>
          <p:cNvSpPr/>
          <p:nvPr/>
        </p:nvSpPr>
        <p:spPr>
          <a:xfrm>
            <a:off x="320040" y="2286001"/>
            <a:ext cx="2834640" cy="25603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p>
        </p:txBody>
      </p:sp>
      <p:sp>
        <p:nvSpPr>
          <p:cNvPr id="19" name="Shape 17"/>
          <p:cNvSpPr/>
          <p:nvPr/>
        </p:nvSpPr>
        <p:spPr>
          <a:xfrm>
            <a:off x="3200400" y="2286000"/>
            <a:ext cx="2743200" cy="267752"/>
          </a:xfrm>
          <a:prstGeom prst="rect">
            <a:avLst/>
          </a:prstGeom>
          <a:solidFill>
            <a:srgbClr val="0D1F3C"/>
          </a:solidFill>
          <a:ln w="12700">
            <a:solidFill>
              <a:srgbClr val="CCCCCC"/>
            </a:solidFill>
            <a:prstDash val="solid"/>
          </a:ln>
        </p:spPr>
      </p:sp>
      <p:sp>
        <p:nvSpPr>
          <p:cNvPr id="20" name="Text 18"/>
          <p:cNvSpPr/>
          <p:nvPr/>
        </p:nvSpPr>
        <p:spPr>
          <a:xfrm>
            <a:off x="3246120" y="2286000"/>
            <a:ext cx="2651760" cy="25146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Old System (MobileNetV2)</a:t>
            </a:r>
            <a:endParaRPr lang="en-US" sz="1100" dirty="0"/>
          </a:p>
        </p:txBody>
      </p:sp>
      <p:sp>
        <p:nvSpPr>
          <p:cNvPr id="21" name="Shape 19"/>
          <p:cNvSpPr/>
          <p:nvPr/>
        </p:nvSpPr>
        <p:spPr>
          <a:xfrm>
            <a:off x="5943600" y="2286000"/>
            <a:ext cx="3108960" cy="274320"/>
          </a:xfrm>
          <a:prstGeom prst="rect">
            <a:avLst/>
          </a:prstGeom>
          <a:solidFill>
            <a:srgbClr val="0D1F3C"/>
          </a:solidFill>
          <a:ln w="12700">
            <a:solidFill>
              <a:srgbClr val="CCCCCC"/>
            </a:solidFill>
            <a:prstDash val="solid"/>
          </a:ln>
        </p:spPr>
      </p:sp>
      <p:sp>
        <p:nvSpPr>
          <p:cNvPr id="22" name="Text 20"/>
          <p:cNvSpPr/>
          <p:nvPr/>
        </p:nvSpPr>
        <p:spPr>
          <a:xfrm>
            <a:off x="5989320" y="2286000"/>
            <a:ext cx="3017520" cy="25146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DeepGuard (EfficientNetB4)</a:t>
            </a:r>
            <a:endParaRPr lang="en-US" sz="1100" dirty="0"/>
          </a:p>
        </p:txBody>
      </p:sp>
      <p:sp>
        <p:nvSpPr>
          <p:cNvPr id="23" name="Shape 21"/>
          <p:cNvSpPr/>
          <p:nvPr/>
        </p:nvSpPr>
        <p:spPr>
          <a:xfrm>
            <a:off x="274320" y="2578609"/>
            <a:ext cx="2926080" cy="283463"/>
          </a:xfrm>
          <a:prstGeom prst="rect">
            <a:avLst/>
          </a:prstGeom>
          <a:solidFill>
            <a:srgbClr val="FFFFFF"/>
          </a:solidFill>
          <a:ln w="12700">
            <a:solidFill>
              <a:srgbClr val="CCCCCC"/>
            </a:solidFill>
            <a:prstDash val="solid"/>
          </a:ln>
        </p:spPr>
      </p:sp>
      <p:sp>
        <p:nvSpPr>
          <p:cNvPr id="24" name="Text 22"/>
          <p:cNvSpPr/>
          <p:nvPr/>
        </p:nvSpPr>
        <p:spPr>
          <a:xfrm>
            <a:off x="320040" y="2571750"/>
            <a:ext cx="2834640" cy="29032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Validation AUC</a:t>
            </a:r>
            <a:endParaRPr lang="en-US" sz="1000" dirty="0"/>
          </a:p>
        </p:txBody>
      </p:sp>
      <p:sp>
        <p:nvSpPr>
          <p:cNvPr id="25" name="Shape 23"/>
          <p:cNvSpPr/>
          <p:nvPr/>
        </p:nvSpPr>
        <p:spPr>
          <a:xfrm>
            <a:off x="3200400" y="2574036"/>
            <a:ext cx="2743200" cy="290322"/>
          </a:xfrm>
          <a:prstGeom prst="rect">
            <a:avLst/>
          </a:prstGeom>
          <a:solidFill>
            <a:srgbClr val="FFFFFF"/>
          </a:solidFill>
          <a:ln w="12700">
            <a:solidFill>
              <a:srgbClr val="CCCCCC"/>
            </a:solidFill>
            <a:prstDash val="solid"/>
          </a:ln>
        </p:spPr>
      </p:sp>
      <p:sp>
        <p:nvSpPr>
          <p:cNvPr id="26" name="Text 24"/>
          <p:cNvSpPr/>
          <p:nvPr/>
        </p:nvSpPr>
        <p:spPr>
          <a:xfrm>
            <a:off x="3246120" y="2589749"/>
            <a:ext cx="2651760" cy="267753"/>
          </a:xfrm>
          <a:prstGeom prst="rect">
            <a:avLst/>
          </a:prstGeom>
          <a:noFill/>
          <a:ln/>
        </p:spPr>
        <p:txBody>
          <a:bodyPr wrap="square" rtlCol="0" anchor="ctr"/>
          <a:lstStyle/>
          <a:p>
            <a:r>
              <a:rPr lang="en-IN" sz="1000" dirty="0"/>
              <a:t>Test AUC: 0.9192</a:t>
            </a:r>
            <a:endParaRPr lang="en-US" sz="1000" dirty="0"/>
          </a:p>
        </p:txBody>
      </p:sp>
      <p:sp>
        <p:nvSpPr>
          <p:cNvPr id="27" name="Shape 25"/>
          <p:cNvSpPr/>
          <p:nvPr/>
        </p:nvSpPr>
        <p:spPr>
          <a:xfrm>
            <a:off x="5943600" y="2567468"/>
            <a:ext cx="3108960" cy="290034"/>
          </a:xfrm>
          <a:prstGeom prst="rect">
            <a:avLst/>
          </a:prstGeom>
          <a:solidFill>
            <a:srgbClr val="E8F5E9"/>
          </a:solidFill>
          <a:ln w="12700">
            <a:solidFill>
              <a:srgbClr val="CCCCCC"/>
            </a:solidFill>
            <a:prstDash val="solid"/>
          </a:ln>
        </p:spPr>
      </p:sp>
      <p:sp>
        <p:nvSpPr>
          <p:cNvPr id="28" name="Text 26"/>
          <p:cNvSpPr/>
          <p:nvPr/>
        </p:nvSpPr>
        <p:spPr>
          <a:xfrm>
            <a:off x="5989320" y="2578609"/>
            <a:ext cx="3017520" cy="278893"/>
          </a:xfrm>
          <a:prstGeom prst="rect">
            <a:avLst/>
          </a:prstGeom>
          <a:noFill/>
          <a:ln/>
        </p:spPr>
        <p:txBody>
          <a:bodyPr wrap="square" rtlCol="0" anchor="ctr"/>
          <a:lstStyle/>
          <a:p>
            <a:pPr marL="0" indent="0">
              <a:buNone/>
            </a:pPr>
            <a:r>
              <a:rPr lang="en-US" sz="1000" b="1" dirty="0">
                <a:solidFill>
                  <a:srgbClr val="0D6E3A"/>
                </a:solidFill>
                <a:latin typeface="Calibri" pitchFamily="34" charset="0"/>
                <a:ea typeface="Calibri" pitchFamily="34" charset="-122"/>
                <a:cs typeface="Calibri" pitchFamily="34" charset="-120"/>
              </a:rPr>
              <a:t>0.9634</a:t>
            </a:r>
            <a:endParaRPr lang="en-US" sz="1000" dirty="0"/>
          </a:p>
        </p:txBody>
      </p:sp>
      <p:sp>
        <p:nvSpPr>
          <p:cNvPr id="29" name="Shape 27"/>
          <p:cNvSpPr/>
          <p:nvPr/>
        </p:nvSpPr>
        <p:spPr>
          <a:xfrm>
            <a:off x="274320" y="2926080"/>
            <a:ext cx="2926080" cy="265176"/>
          </a:xfrm>
          <a:prstGeom prst="rect">
            <a:avLst/>
          </a:prstGeom>
          <a:solidFill>
            <a:srgbClr val="F4F6F9"/>
          </a:solidFill>
          <a:ln w="12700">
            <a:solidFill>
              <a:srgbClr val="CCCCCC"/>
            </a:solidFill>
            <a:prstDash val="solid"/>
          </a:ln>
        </p:spPr>
      </p:sp>
      <p:sp>
        <p:nvSpPr>
          <p:cNvPr id="30" name="Text 28"/>
          <p:cNvSpPr/>
          <p:nvPr/>
        </p:nvSpPr>
        <p:spPr>
          <a:xfrm>
            <a:off x="320040" y="2953512"/>
            <a:ext cx="2834640" cy="237744"/>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Accuracy</a:t>
            </a:r>
            <a:endParaRPr lang="en-US" sz="1000" dirty="0"/>
          </a:p>
        </p:txBody>
      </p:sp>
      <p:sp>
        <p:nvSpPr>
          <p:cNvPr id="31" name="Shape 29"/>
          <p:cNvSpPr/>
          <p:nvPr/>
        </p:nvSpPr>
        <p:spPr>
          <a:xfrm>
            <a:off x="3200400" y="2923794"/>
            <a:ext cx="2743200" cy="267462"/>
          </a:xfrm>
          <a:prstGeom prst="rect">
            <a:avLst/>
          </a:prstGeom>
          <a:solidFill>
            <a:srgbClr val="F4F6F9"/>
          </a:solidFill>
          <a:ln w="12700">
            <a:solidFill>
              <a:srgbClr val="CCCCCC"/>
            </a:solidFill>
            <a:prstDash val="solid"/>
          </a:ln>
        </p:spPr>
      </p:sp>
      <p:sp>
        <p:nvSpPr>
          <p:cNvPr id="32" name="Text 30"/>
          <p:cNvSpPr/>
          <p:nvPr/>
        </p:nvSpPr>
        <p:spPr>
          <a:xfrm>
            <a:off x="3246120" y="2916936"/>
            <a:ext cx="2651760" cy="274320"/>
          </a:xfrm>
          <a:prstGeom prst="rect">
            <a:avLst/>
          </a:prstGeom>
          <a:noFill/>
          <a:ln/>
        </p:spPr>
        <p:txBody>
          <a:bodyPr wrap="square" rtlCol="0" anchor="ctr"/>
          <a:lstStyle/>
          <a:p>
            <a:r>
              <a:rPr lang="en-IN" sz="1000" dirty="0"/>
              <a:t>Test Accuracy: 81.25%</a:t>
            </a:r>
            <a:endParaRPr lang="en-US" sz="1000" dirty="0"/>
          </a:p>
        </p:txBody>
      </p:sp>
      <p:sp>
        <p:nvSpPr>
          <p:cNvPr id="33" name="Shape 31"/>
          <p:cNvSpPr/>
          <p:nvPr/>
        </p:nvSpPr>
        <p:spPr>
          <a:xfrm>
            <a:off x="5943600" y="2923794"/>
            <a:ext cx="3108960" cy="265176"/>
          </a:xfrm>
          <a:prstGeom prst="rect">
            <a:avLst/>
          </a:prstGeom>
          <a:solidFill>
            <a:srgbClr val="E8F5E9"/>
          </a:solidFill>
          <a:ln w="12700">
            <a:solidFill>
              <a:srgbClr val="CCCCCC"/>
            </a:solidFill>
            <a:prstDash val="solid"/>
          </a:ln>
        </p:spPr>
      </p:sp>
      <p:sp>
        <p:nvSpPr>
          <p:cNvPr id="34" name="Text 32"/>
          <p:cNvSpPr/>
          <p:nvPr/>
        </p:nvSpPr>
        <p:spPr>
          <a:xfrm>
            <a:off x="5989320" y="2916936"/>
            <a:ext cx="3017520" cy="274320"/>
          </a:xfrm>
          <a:prstGeom prst="rect">
            <a:avLst/>
          </a:prstGeom>
          <a:noFill/>
          <a:ln/>
        </p:spPr>
        <p:txBody>
          <a:bodyPr wrap="square" rtlCol="0" anchor="ctr"/>
          <a:lstStyle/>
          <a:p>
            <a:pPr marL="0" indent="0">
              <a:buNone/>
            </a:pPr>
            <a:r>
              <a:rPr lang="en-US" sz="1000" b="1" dirty="0">
                <a:solidFill>
                  <a:srgbClr val="0D6E3A"/>
                </a:solidFill>
                <a:latin typeface="Calibri" pitchFamily="34" charset="0"/>
                <a:ea typeface="Calibri" pitchFamily="34" charset="-122"/>
                <a:cs typeface="Calibri" pitchFamily="34" charset="-120"/>
              </a:rPr>
              <a:t>~89.6%</a:t>
            </a:r>
            <a:endParaRPr lang="en-US" sz="1000" dirty="0"/>
          </a:p>
        </p:txBody>
      </p:sp>
      <p:sp>
        <p:nvSpPr>
          <p:cNvPr id="35" name="Shape 33"/>
          <p:cNvSpPr/>
          <p:nvPr/>
        </p:nvSpPr>
        <p:spPr>
          <a:xfrm>
            <a:off x="274320" y="3227832"/>
            <a:ext cx="2926080" cy="274320"/>
          </a:xfrm>
          <a:prstGeom prst="rect">
            <a:avLst/>
          </a:prstGeom>
          <a:solidFill>
            <a:srgbClr val="FFFFFF"/>
          </a:solidFill>
          <a:ln w="12700">
            <a:solidFill>
              <a:srgbClr val="CCCCCC"/>
            </a:solidFill>
            <a:prstDash val="solid"/>
          </a:ln>
        </p:spPr>
      </p:sp>
      <p:sp>
        <p:nvSpPr>
          <p:cNvPr id="36" name="Text 34"/>
          <p:cNvSpPr/>
          <p:nvPr/>
        </p:nvSpPr>
        <p:spPr>
          <a:xfrm>
            <a:off x="320040" y="3218688"/>
            <a:ext cx="2834640" cy="283464"/>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Training Data</a:t>
            </a:r>
            <a:endParaRPr lang="en-US" sz="1000" dirty="0"/>
          </a:p>
        </p:txBody>
      </p:sp>
      <p:sp>
        <p:nvSpPr>
          <p:cNvPr id="37" name="Shape 35"/>
          <p:cNvSpPr/>
          <p:nvPr/>
        </p:nvSpPr>
        <p:spPr>
          <a:xfrm>
            <a:off x="3200400" y="3227832"/>
            <a:ext cx="2743200" cy="267462"/>
          </a:xfrm>
          <a:prstGeom prst="rect">
            <a:avLst/>
          </a:prstGeom>
          <a:solidFill>
            <a:srgbClr val="FFFFFF"/>
          </a:solidFill>
          <a:ln w="12700">
            <a:solidFill>
              <a:srgbClr val="CCCCCC"/>
            </a:solidFill>
            <a:prstDash val="solid"/>
          </a:ln>
        </p:spPr>
      </p:sp>
      <p:sp>
        <p:nvSpPr>
          <p:cNvPr id="38" name="Text 36"/>
          <p:cNvSpPr/>
          <p:nvPr/>
        </p:nvSpPr>
        <p:spPr>
          <a:xfrm>
            <a:off x="3200400" y="3227832"/>
            <a:ext cx="2697480" cy="267462"/>
          </a:xfrm>
          <a:prstGeom prst="rect">
            <a:avLst/>
          </a:prstGeom>
          <a:noFill/>
          <a:ln/>
        </p:spPr>
        <p:txBody>
          <a:bodyPr wrap="square" rtlCol="0" anchor="ctr"/>
          <a:lstStyle/>
          <a:p>
            <a:r>
              <a:rPr lang="en-IN" sz="1000" dirty="0"/>
              <a:t>10,000 images</a:t>
            </a:r>
            <a:endParaRPr lang="en-US" sz="1000" dirty="0"/>
          </a:p>
        </p:txBody>
      </p:sp>
      <p:sp>
        <p:nvSpPr>
          <p:cNvPr id="39" name="Shape 37"/>
          <p:cNvSpPr/>
          <p:nvPr/>
        </p:nvSpPr>
        <p:spPr>
          <a:xfrm>
            <a:off x="5943600" y="3227832"/>
            <a:ext cx="3108960" cy="274320"/>
          </a:xfrm>
          <a:prstGeom prst="rect">
            <a:avLst/>
          </a:prstGeom>
          <a:solidFill>
            <a:srgbClr val="E8F5E9"/>
          </a:solidFill>
          <a:ln w="12700">
            <a:solidFill>
              <a:srgbClr val="CCCCCC"/>
            </a:solidFill>
            <a:prstDash val="solid"/>
          </a:ln>
        </p:spPr>
      </p:sp>
      <p:sp>
        <p:nvSpPr>
          <p:cNvPr id="40" name="Text 38"/>
          <p:cNvSpPr/>
          <p:nvPr/>
        </p:nvSpPr>
        <p:spPr>
          <a:xfrm>
            <a:off x="5989320" y="3227832"/>
            <a:ext cx="3017520" cy="267462"/>
          </a:xfrm>
          <a:prstGeom prst="rect">
            <a:avLst/>
          </a:prstGeom>
          <a:noFill/>
          <a:ln/>
        </p:spPr>
        <p:txBody>
          <a:bodyPr wrap="square" rtlCol="0" anchor="ctr"/>
          <a:lstStyle/>
          <a:p>
            <a:pPr marL="0" indent="0">
              <a:buNone/>
            </a:pPr>
            <a:r>
              <a:rPr lang="en-US" sz="1000" b="1" dirty="0">
                <a:solidFill>
                  <a:srgbClr val="0D6E3A"/>
                </a:solidFill>
                <a:latin typeface="Calibri" pitchFamily="34" charset="0"/>
                <a:ea typeface="Calibri" pitchFamily="34" charset="-122"/>
                <a:cs typeface="Calibri" pitchFamily="34" charset="-120"/>
              </a:rPr>
              <a:t>147,221 images</a:t>
            </a:r>
            <a:endParaRPr lang="en-US" sz="1000" dirty="0"/>
          </a:p>
        </p:txBody>
      </p:sp>
      <p:sp>
        <p:nvSpPr>
          <p:cNvPr id="41" name="Shape 39"/>
          <p:cNvSpPr/>
          <p:nvPr/>
        </p:nvSpPr>
        <p:spPr>
          <a:xfrm>
            <a:off x="274320" y="3538728"/>
            <a:ext cx="2926080" cy="274320"/>
          </a:xfrm>
          <a:prstGeom prst="rect">
            <a:avLst/>
          </a:prstGeom>
          <a:solidFill>
            <a:srgbClr val="F4F6F9"/>
          </a:solidFill>
          <a:ln w="12700">
            <a:solidFill>
              <a:srgbClr val="CCCCCC"/>
            </a:solidFill>
            <a:prstDash val="solid"/>
          </a:ln>
        </p:spPr>
      </p:sp>
      <p:sp>
        <p:nvSpPr>
          <p:cNvPr id="42" name="Text 40"/>
          <p:cNvSpPr/>
          <p:nvPr/>
        </p:nvSpPr>
        <p:spPr>
          <a:xfrm>
            <a:off x="320040" y="3538728"/>
            <a:ext cx="2834640" cy="274320"/>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Face Detector</a:t>
            </a:r>
            <a:endParaRPr lang="en-US" sz="1000" dirty="0"/>
          </a:p>
        </p:txBody>
      </p:sp>
      <p:sp>
        <p:nvSpPr>
          <p:cNvPr id="43" name="Shape 41"/>
          <p:cNvSpPr/>
          <p:nvPr/>
        </p:nvSpPr>
        <p:spPr>
          <a:xfrm>
            <a:off x="3200400" y="3541014"/>
            <a:ext cx="2743200" cy="272034"/>
          </a:xfrm>
          <a:prstGeom prst="rect">
            <a:avLst/>
          </a:prstGeom>
          <a:solidFill>
            <a:srgbClr val="F4F6F9"/>
          </a:solidFill>
          <a:ln w="12700">
            <a:solidFill>
              <a:srgbClr val="CCCCCC"/>
            </a:solidFill>
            <a:prstDash val="solid"/>
          </a:ln>
        </p:spPr>
      </p:sp>
      <p:sp>
        <p:nvSpPr>
          <p:cNvPr id="44" name="Text 42"/>
          <p:cNvSpPr/>
          <p:nvPr/>
        </p:nvSpPr>
        <p:spPr>
          <a:xfrm>
            <a:off x="3246120" y="3538728"/>
            <a:ext cx="2651760" cy="267462"/>
          </a:xfrm>
          <a:prstGeom prst="rect">
            <a:avLst/>
          </a:prstGeom>
          <a:noFill/>
          <a:ln/>
        </p:spPr>
        <p:txBody>
          <a:bodyPr wrap="square" rtlCol="0" anchor="ctr"/>
          <a:lstStyle/>
          <a:p>
            <a:r>
              <a:rPr lang="en-IN" sz="1000" dirty="0"/>
              <a:t>MTCNN</a:t>
            </a:r>
            <a:endParaRPr lang="en-US" sz="1000" dirty="0"/>
          </a:p>
        </p:txBody>
      </p:sp>
      <p:sp>
        <p:nvSpPr>
          <p:cNvPr id="45" name="Shape 43"/>
          <p:cNvSpPr/>
          <p:nvPr/>
        </p:nvSpPr>
        <p:spPr>
          <a:xfrm>
            <a:off x="5943600" y="3541014"/>
            <a:ext cx="3108960" cy="265176"/>
          </a:xfrm>
          <a:prstGeom prst="rect">
            <a:avLst/>
          </a:prstGeom>
          <a:solidFill>
            <a:srgbClr val="E8F5E9"/>
          </a:solidFill>
          <a:ln w="12700">
            <a:solidFill>
              <a:srgbClr val="CCCCCC"/>
            </a:solidFill>
            <a:prstDash val="solid"/>
          </a:ln>
        </p:spPr>
      </p:sp>
      <p:sp>
        <p:nvSpPr>
          <p:cNvPr id="46" name="Text 44"/>
          <p:cNvSpPr/>
          <p:nvPr/>
        </p:nvSpPr>
        <p:spPr>
          <a:xfrm>
            <a:off x="5989320" y="3538728"/>
            <a:ext cx="3017520" cy="267462"/>
          </a:xfrm>
          <a:prstGeom prst="rect">
            <a:avLst/>
          </a:prstGeom>
          <a:noFill/>
          <a:ln/>
        </p:spPr>
        <p:txBody>
          <a:bodyPr wrap="square" rtlCol="0" anchor="ctr"/>
          <a:lstStyle/>
          <a:p>
            <a:pPr marL="0" indent="0">
              <a:buNone/>
            </a:pPr>
            <a:r>
              <a:rPr lang="en-US" sz="1000" b="1" dirty="0">
                <a:solidFill>
                  <a:srgbClr val="0D6E3A"/>
                </a:solidFill>
                <a:latin typeface="Calibri" pitchFamily="34" charset="0"/>
                <a:ea typeface="Calibri" pitchFamily="34" charset="-122"/>
                <a:cs typeface="Calibri" pitchFamily="34" charset="-120"/>
              </a:rPr>
              <a:t>MTCNN</a:t>
            </a:r>
            <a:endParaRPr lang="en-US" sz="1000" dirty="0"/>
          </a:p>
        </p:txBody>
      </p:sp>
      <p:sp>
        <p:nvSpPr>
          <p:cNvPr id="47" name="Shape 45"/>
          <p:cNvSpPr/>
          <p:nvPr/>
        </p:nvSpPr>
        <p:spPr>
          <a:xfrm>
            <a:off x="274320" y="3849624"/>
            <a:ext cx="2926080" cy="272034"/>
          </a:xfrm>
          <a:prstGeom prst="rect">
            <a:avLst/>
          </a:prstGeom>
          <a:solidFill>
            <a:srgbClr val="FFFFFF"/>
          </a:solidFill>
          <a:ln w="12700">
            <a:solidFill>
              <a:srgbClr val="CCCCCC"/>
            </a:solidFill>
            <a:prstDash val="solid"/>
          </a:ln>
        </p:spPr>
      </p:sp>
      <p:sp>
        <p:nvSpPr>
          <p:cNvPr id="48" name="Text 46"/>
          <p:cNvSpPr/>
          <p:nvPr/>
        </p:nvSpPr>
        <p:spPr>
          <a:xfrm>
            <a:off x="320040" y="3849624"/>
            <a:ext cx="2834640" cy="272034"/>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Real-world Photos</a:t>
            </a:r>
            <a:endParaRPr lang="en-US" sz="1000" dirty="0"/>
          </a:p>
        </p:txBody>
      </p:sp>
      <p:sp>
        <p:nvSpPr>
          <p:cNvPr id="49" name="Shape 47"/>
          <p:cNvSpPr/>
          <p:nvPr/>
        </p:nvSpPr>
        <p:spPr>
          <a:xfrm>
            <a:off x="3200400" y="3858768"/>
            <a:ext cx="2743200" cy="262890"/>
          </a:xfrm>
          <a:prstGeom prst="rect">
            <a:avLst/>
          </a:prstGeom>
          <a:solidFill>
            <a:srgbClr val="FFFFFF"/>
          </a:solidFill>
          <a:ln w="12700">
            <a:solidFill>
              <a:srgbClr val="CCCCCC"/>
            </a:solidFill>
            <a:prstDash val="solid"/>
          </a:ln>
        </p:spPr>
      </p:sp>
      <p:sp>
        <p:nvSpPr>
          <p:cNvPr id="50" name="Text 48"/>
          <p:cNvSpPr/>
          <p:nvPr/>
        </p:nvSpPr>
        <p:spPr>
          <a:xfrm>
            <a:off x="3246120" y="3858768"/>
            <a:ext cx="2651760" cy="262890"/>
          </a:xfrm>
          <a:prstGeom prst="rect">
            <a:avLst/>
          </a:prstGeom>
          <a:noFill/>
          <a:ln/>
        </p:spPr>
        <p:txBody>
          <a:bodyPr wrap="square" rtlCol="0" anchor="ctr"/>
          <a:lstStyle/>
          <a:p>
            <a:r>
              <a:rPr lang="en-IN" sz="1000" dirty="0"/>
              <a:t>Poor generalization observed</a:t>
            </a:r>
            <a:endParaRPr lang="en-US" sz="1000" dirty="0"/>
          </a:p>
        </p:txBody>
      </p:sp>
      <p:sp>
        <p:nvSpPr>
          <p:cNvPr id="51" name="Shape 49"/>
          <p:cNvSpPr/>
          <p:nvPr/>
        </p:nvSpPr>
        <p:spPr>
          <a:xfrm>
            <a:off x="5943600" y="3858768"/>
            <a:ext cx="3108960" cy="262890"/>
          </a:xfrm>
          <a:prstGeom prst="rect">
            <a:avLst/>
          </a:prstGeom>
          <a:solidFill>
            <a:srgbClr val="E8F5E9"/>
          </a:solidFill>
          <a:ln w="12700">
            <a:solidFill>
              <a:srgbClr val="CCCCCC"/>
            </a:solidFill>
            <a:prstDash val="solid"/>
          </a:ln>
        </p:spPr>
      </p:sp>
      <p:sp>
        <p:nvSpPr>
          <p:cNvPr id="52" name="Text 50"/>
          <p:cNvSpPr/>
          <p:nvPr/>
        </p:nvSpPr>
        <p:spPr>
          <a:xfrm>
            <a:off x="5989320" y="3858768"/>
            <a:ext cx="3017520" cy="262890"/>
          </a:xfrm>
          <a:prstGeom prst="rect">
            <a:avLst/>
          </a:prstGeom>
          <a:noFill/>
          <a:ln/>
        </p:spPr>
        <p:txBody>
          <a:bodyPr wrap="square" rtlCol="0" anchor="ctr"/>
          <a:lstStyle/>
          <a:p>
            <a:pPr marL="0" indent="0">
              <a:buNone/>
            </a:pPr>
            <a:r>
              <a:rPr lang="en-US" sz="1000" b="1" dirty="0">
                <a:solidFill>
                  <a:srgbClr val="0D6E3A"/>
                </a:solidFill>
                <a:latin typeface="Calibri" pitchFamily="34" charset="0"/>
                <a:ea typeface="Calibri" pitchFamily="34" charset="-122"/>
                <a:cs typeface="Calibri" pitchFamily="34" charset="-120"/>
              </a:rPr>
              <a:t>Improved Prediction Consistency</a:t>
            </a:r>
            <a:endParaRPr lang="en-US" sz="1000" dirty="0"/>
          </a:p>
        </p:txBody>
      </p:sp>
      <p:sp>
        <p:nvSpPr>
          <p:cNvPr id="53" name="Shape 51"/>
          <p:cNvSpPr/>
          <p:nvPr/>
        </p:nvSpPr>
        <p:spPr>
          <a:xfrm>
            <a:off x="274320" y="4155948"/>
            <a:ext cx="2926080" cy="262890"/>
          </a:xfrm>
          <a:prstGeom prst="rect">
            <a:avLst/>
          </a:prstGeom>
          <a:solidFill>
            <a:srgbClr val="F4F6F9"/>
          </a:solidFill>
          <a:ln w="12700">
            <a:solidFill>
              <a:srgbClr val="CCCCCC"/>
            </a:solidFill>
            <a:prstDash val="solid"/>
          </a:ln>
        </p:spPr>
      </p:sp>
      <p:sp>
        <p:nvSpPr>
          <p:cNvPr id="54" name="Text 52"/>
          <p:cNvSpPr/>
          <p:nvPr/>
        </p:nvSpPr>
        <p:spPr>
          <a:xfrm>
            <a:off x="320040" y="4155948"/>
            <a:ext cx="2834640" cy="262890"/>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Explainability</a:t>
            </a:r>
            <a:endParaRPr lang="en-US" sz="1000" dirty="0"/>
          </a:p>
        </p:txBody>
      </p:sp>
      <p:sp>
        <p:nvSpPr>
          <p:cNvPr id="55" name="Shape 53"/>
          <p:cNvSpPr/>
          <p:nvPr/>
        </p:nvSpPr>
        <p:spPr>
          <a:xfrm>
            <a:off x="3200400" y="4155948"/>
            <a:ext cx="2743200" cy="262890"/>
          </a:xfrm>
          <a:prstGeom prst="rect">
            <a:avLst/>
          </a:prstGeom>
          <a:solidFill>
            <a:srgbClr val="F4F6F9"/>
          </a:solidFill>
          <a:ln w="12700">
            <a:solidFill>
              <a:srgbClr val="CCCCCC"/>
            </a:solidFill>
            <a:prstDash val="solid"/>
          </a:ln>
        </p:spPr>
      </p:sp>
      <p:sp>
        <p:nvSpPr>
          <p:cNvPr id="56" name="Text 54"/>
          <p:cNvSpPr/>
          <p:nvPr/>
        </p:nvSpPr>
        <p:spPr>
          <a:xfrm>
            <a:off x="3246120" y="4155948"/>
            <a:ext cx="2651760" cy="262890"/>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None</a:t>
            </a:r>
            <a:endParaRPr lang="en-US" sz="1000" dirty="0"/>
          </a:p>
        </p:txBody>
      </p:sp>
      <p:sp>
        <p:nvSpPr>
          <p:cNvPr id="57" name="Shape 55"/>
          <p:cNvSpPr/>
          <p:nvPr/>
        </p:nvSpPr>
        <p:spPr>
          <a:xfrm>
            <a:off x="5943600" y="4155948"/>
            <a:ext cx="3108960" cy="262890"/>
          </a:xfrm>
          <a:prstGeom prst="rect">
            <a:avLst/>
          </a:prstGeom>
          <a:solidFill>
            <a:srgbClr val="E8F5E9"/>
          </a:solidFill>
          <a:ln w="12700">
            <a:solidFill>
              <a:srgbClr val="CCCCCC"/>
            </a:solidFill>
            <a:prstDash val="solid"/>
          </a:ln>
        </p:spPr>
      </p:sp>
      <p:sp>
        <p:nvSpPr>
          <p:cNvPr id="58" name="Text 56"/>
          <p:cNvSpPr/>
          <p:nvPr/>
        </p:nvSpPr>
        <p:spPr>
          <a:xfrm>
            <a:off x="5989320" y="4155948"/>
            <a:ext cx="3017520" cy="262890"/>
          </a:xfrm>
          <a:prstGeom prst="rect">
            <a:avLst/>
          </a:prstGeom>
          <a:noFill/>
          <a:ln/>
        </p:spPr>
        <p:txBody>
          <a:bodyPr wrap="square" rtlCol="0" anchor="ctr"/>
          <a:lstStyle/>
          <a:p>
            <a:pPr marL="0" indent="0">
              <a:buNone/>
            </a:pPr>
            <a:r>
              <a:rPr lang="en-US" sz="1000" b="1" dirty="0">
                <a:solidFill>
                  <a:srgbClr val="0D6E3A"/>
                </a:solidFill>
                <a:latin typeface="Calibri" pitchFamily="34" charset="0"/>
                <a:ea typeface="Calibri" pitchFamily="34" charset="-122"/>
                <a:cs typeface="Calibri" pitchFamily="34" charset="-120"/>
              </a:rPr>
              <a:t>Grad-CAM heatmap</a:t>
            </a:r>
            <a:endParaRPr lang="en-US" sz="1000" dirty="0"/>
          </a:p>
        </p:txBody>
      </p:sp>
      <p:sp>
        <p:nvSpPr>
          <p:cNvPr id="59" name="Shape 57"/>
          <p:cNvSpPr/>
          <p:nvPr/>
        </p:nvSpPr>
        <p:spPr>
          <a:xfrm>
            <a:off x="274320" y="4453128"/>
            <a:ext cx="2926080" cy="292608"/>
          </a:xfrm>
          <a:prstGeom prst="rect">
            <a:avLst/>
          </a:prstGeom>
          <a:solidFill>
            <a:srgbClr val="FFFFFF"/>
          </a:solidFill>
          <a:ln w="12700">
            <a:solidFill>
              <a:srgbClr val="CCCCCC"/>
            </a:solidFill>
            <a:prstDash val="solid"/>
          </a:ln>
        </p:spPr>
      </p:sp>
      <p:sp>
        <p:nvSpPr>
          <p:cNvPr id="60" name="Text 58"/>
          <p:cNvSpPr/>
          <p:nvPr/>
        </p:nvSpPr>
        <p:spPr>
          <a:xfrm>
            <a:off x="320040" y="4453128"/>
            <a:ext cx="2834640" cy="292608"/>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Reports</a:t>
            </a:r>
            <a:endParaRPr lang="en-US" sz="1000" dirty="0"/>
          </a:p>
        </p:txBody>
      </p:sp>
      <p:sp>
        <p:nvSpPr>
          <p:cNvPr id="61" name="Shape 59"/>
          <p:cNvSpPr/>
          <p:nvPr/>
        </p:nvSpPr>
        <p:spPr>
          <a:xfrm>
            <a:off x="3200400" y="4453128"/>
            <a:ext cx="2743200" cy="292608"/>
          </a:xfrm>
          <a:prstGeom prst="rect">
            <a:avLst/>
          </a:prstGeom>
          <a:solidFill>
            <a:srgbClr val="FFFFFF"/>
          </a:solidFill>
          <a:ln w="12700">
            <a:solidFill>
              <a:srgbClr val="CCCCCC"/>
            </a:solidFill>
            <a:prstDash val="solid"/>
          </a:ln>
        </p:spPr>
      </p:sp>
      <p:sp>
        <p:nvSpPr>
          <p:cNvPr id="62" name="Text 60"/>
          <p:cNvSpPr/>
          <p:nvPr/>
        </p:nvSpPr>
        <p:spPr>
          <a:xfrm>
            <a:off x="3246120" y="4453128"/>
            <a:ext cx="2651760" cy="292608"/>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None</a:t>
            </a:r>
            <a:endParaRPr lang="en-US" sz="1000" dirty="0"/>
          </a:p>
        </p:txBody>
      </p:sp>
      <p:sp>
        <p:nvSpPr>
          <p:cNvPr id="63" name="Shape 61"/>
          <p:cNvSpPr/>
          <p:nvPr/>
        </p:nvSpPr>
        <p:spPr>
          <a:xfrm>
            <a:off x="5943600" y="4453128"/>
            <a:ext cx="3108960" cy="301752"/>
          </a:xfrm>
          <a:prstGeom prst="rect">
            <a:avLst/>
          </a:prstGeom>
          <a:solidFill>
            <a:srgbClr val="E8F5E9"/>
          </a:solidFill>
          <a:ln w="12700">
            <a:solidFill>
              <a:srgbClr val="CCCCCC"/>
            </a:solidFill>
            <a:prstDash val="solid"/>
          </a:ln>
        </p:spPr>
      </p:sp>
      <p:sp>
        <p:nvSpPr>
          <p:cNvPr id="64" name="Text 62"/>
          <p:cNvSpPr/>
          <p:nvPr/>
        </p:nvSpPr>
        <p:spPr>
          <a:xfrm>
            <a:off x="5989320" y="4453128"/>
            <a:ext cx="3017520" cy="274320"/>
          </a:xfrm>
          <a:prstGeom prst="rect">
            <a:avLst/>
          </a:prstGeom>
          <a:noFill/>
          <a:ln/>
        </p:spPr>
        <p:txBody>
          <a:bodyPr wrap="square" rtlCol="0" anchor="ctr"/>
          <a:lstStyle/>
          <a:p>
            <a:pPr marL="0" indent="0">
              <a:buNone/>
            </a:pPr>
            <a:r>
              <a:rPr lang="en-US" sz="1000" b="1" dirty="0">
                <a:solidFill>
                  <a:srgbClr val="0D6E3A"/>
                </a:solidFill>
                <a:latin typeface="Calibri" pitchFamily="34" charset="0"/>
                <a:ea typeface="Calibri" pitchFamily="34" charset="-122"/>
                <a:cs typeface="Calibri" pitchFamily="34" charset="-120"/>
              </a:rPr>
              <a:t>PDF + CSV download</a:t>
            </a:r>
            <a:endParaRPr lang="en-US" sz="1000" dirty="0"/>
          </a:p>
        </p:txBody>
      </p:sp>
      <p:sp>
        <p:nvSpPr>
          <p:cNvPr id="65" name="Shape 63"/>
          <p:cNvSpPr/>
          <p:nvPr/>
        </p:nvSpPr>
        <p:spPr>
          <a:xfrm>
            <a:off x="274320" y="4782312"/>
            <a:ext cx="2926080" cy="292608"/>
          </a:xfrm>
          <a:prstGeom prst="rect">
            <a:avLst/>
          </a:prstGeom>
          <a:solidFill>
            <a:srgbClr val="F4F6F9"/>
          </a:solidFill>
          <a:ln w="12700">
            <a:solidFill>
              <a:srgbClr val="CCCCCC"/>
            </a:solidFill>
            <a:prstDash val="solid"/>
          </a:ln>
        </p:spPr>
      </p:sp>
      <p:sp>
        <p:nvSpPr>
          <p:cNvPr id="66" name="Text 64"/>
          <p:cNvSpPr/>
          <p:nvPr/>
        </p:nvSpPr>
        <p:spPr>
          <a:xfrm>
            <a:off x="320040" y="4782312"/>
            <a:ext cx="2834640" cy="274320"/>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Verdict Levels</a:t>
            </a:r>
            <a:endParaRPr lang="en-US" sz="1000" dirty="0"/>
          </a:p>
        </p:txBody>
      </p:sp>
      <p:sp>
        <p:nvSpPr>
          <p:cNvPr id="67" name="Shape 65"/>
          <p:cNvSpPr/>
          <p:nvPr/>
        </p:nvSpPr>
        <p:spPr>
          <a:xfrm>
            <a:off x="3200400" y="4789170"/>
            <a:ext cx="2743200" cy="285750"/>
          </a:xfrm>
          <a:prstGeom prst="rect">
            <a:avLst/>
          </a:prstGeom>
          <a:solidFill>
            <a:srgbClr val="F4F6F9"/>
          </a:solidFill>
          <a:ln w="12700">
            <a:solidFill>
              <a:srgbClr val="CCCCCC"/>
            </a:solidFill>
            <a:prstDash val="solid"/>
          </a:ln>
        </p:spPr>
      </p:sp>
      <p:sp>
        <p:nvSpPr>
          <p:cNvPr id="68" name="Text 66"/>
          <p:cNvSpPr/>
          <p:nvPr/>
        </p:nvSpPr>
        <p:spPr>
          <a:xfrm>
            <a:off x="3246120" y="4789170"/>
            <a:ext cx="2651760" cy="292608"/>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Binary (Real/Fake)</a:t>
            </a:r>
            <a:endParaRPr lang="en-US" sz="1000" dirty="0"/>
          </a:p>
        </p:txBody>
      </p:sp>
      <p:sp>
        <p:nvSpPr>
          <p:cNvPr id="69" name="Shape 67"/>
          <p:cNvSpPr/>
          <p:nvPr/>
        </p:nvSpPr>
        <p:spPr>
          <a:xfrm>
            <a:off x="5943600" y="4789170"/>
            <a:ext cx="3108960" cy="292608"/>
          </a:xfrm>
          <a:prstGeom prst="rect">
            <a:avLst/>
          </a:prstGeom>
          <a:solidFill>
            <a:srgbClr val="E8F5E9"/>
          </a:solidFill>
          <a:ln w="12700">
            <a:solidFill>
              <a:srgbClr val="CCCCCC"/>
            </a:solidFill>
            <a:prstDash val="solid"/>
          </a:ln>
        </p:spPr>
      </p:sp>
      <p:sp>
        <p:nvSpPr>
          <p:cNvPr id="70" name="Text 68"/>
          <p:cNvSpPr/>
          <p:nvPr/>
        </p:nvSpPr>
        <p:spPr>
          <a:xfrm>
            <a:off x="5989320" y="4789170"/>
            <a:ext cx="3017520" cy="292608"/>
          </a:xfrm>
          <a:prstGeom prst="rect">
            <a:avLst/>
          </a:prstGeom>
          <a:noFill/>
          <a:ln/>
        </p:spPr>
        <p:txBody>
          <a:bodyPr wrap="square" rtlCol="0" anchor="ctr"/>
          <a:lstStyle/>
          <a:p>
            <a:pPr marL="0" indent="0">
              <a:buNone/>
            </a:pPr>
            <a:r>
              <a:rPr lang="en-US" sz="1000" b="1" dirty="0">
                <a:solidFill>
                  <a:srgbClr val="0D6E3A"/>
                </a:solidFill>
                <a:latin typeface="Calibri" pitchFamily="34" charset="0"/>
                <a:ea typeface="Calibri" pitchFamily="34" charset="-122"/>
                <a:cs typeface="Calibri" pitchFamily="34" charset="-120"/>
              </a:rPr>
              <a:t>5 levels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1F3C"/>
          </a:solidFill>
          <a:ln/>
        </p:spPr>
      </p:sp>
      <p:sp>
        <p:nvSpPr>
          <p:cNvPr id="3" name="Text 1"/>
          <p:cNvSpPr/>
          <p:nvPr/>
        </p:nvSpPr>
        <p:spPr>
          <a:xfrm>
            <a:off x="365760" y="182880"/>
            <a:ext cx="8229600" cy="64008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5-Level Verdict System</a:t>
            </a:r>
            <a:endParaRPr lang="en-US" sz="2800" dirty="0"/>
          </a:p>
        </p:txBody>
      </p:sp>
      <p:sp>
        <p:nvSpPr>
          <p:cNvPr id="4" name="Text 2"/>
          <p:cNvSpPr/>
          <p:nvPr/>
        </p:nvSpPr>
        <p:spPr>
          <a:xfrm>
            <a:off x="365760" y="1051560"/>
            <a:ext cx="8412480" cy="365760"/>
          </a:xfrm>
          <a:prstGeom prst="rect">
            <a:avLst/>
          </a:prstGeom>
          <a:noFill/>
          <a:ln/>
        </p:spPr>
        <p:txBody>
          <a:bodyPr wrap="square" rtlCol="0" anchor="ctr"/>
          <a:lstStyle/>
          <a:p>
            <a:pPr algn="just"/>
            <a:r>
              <a:rPr lang="en-IN" sz="1200" dirty="0"/>
              <a:t>Score ranges were defined based on empirical analysis of the model's sigmoid output score distribution and iterative testing.</a:t>
            </a:r>
            <a:endParaRPr lang="en-US" sz="1200" dirty="0"/>
          </a:p>
        </p:txBody>
      </p:sp>
      <p:sp>
        <p:nvSpPr>
          <p:cNvPr id="5" name="Shape 3"/>
          <p:cNvSpPr/>
          <p:nvPr/>
        </p:nvSpPr>
        <p:spPr>
          <a:xfrm>
            <a:off x="274320" y="1508760"/>
            <a:ext cx="8595360" cy="594360"/>
          </a:xfrm>
          <a:prstGeom prst="rect">
            <a:avLst/>
          </a:prstGeom>
          <a:solidFill>
            <a:srgbClr val="063B1E"/>
          </a:solidFill>
          <a:ln w="12700">
            <a:solidFill>
              <a:srgbClr val="10B981"/>
            </a:solidFill>
            <a:prstDash val="solid"/>
          </a:ln>
        </p:spPr>
      </p:sp>
      <p:sp>
        <p:nvSpPr>
          <p:cNvPr id="6" name="Text 4"/>
          <p:cNvSpPr/>
          <p:nvPr/>
        </p:nvSpPr>
        <p:spPr>
          <a:xfrm>
            <a:off x="365760" y="1581912"/>
            <a:ext cx="457200" cy="457200"/>
          </a:xfrm>
          <a:prstGeom prst="rect">
            <a:avLst/>
          </a:prstGeom>
          <a:noFill/>
          <a:ln/>
        </p:spPr>
        <p:txBody>
          <a:bodyPr wrap="square" rtlCol="0" anchor="ctr"/>
          <a:lstStyle/>
          <a:p>
            <a:pPr marL="0" indent="0" algn="ctr">
              <a:buNone/>
            </a:pPr>
            <a:r>
              <a:rPr lang="en-US" sz="1600" b="1" dirty="0">
                <a:solidFill>
                  <a:srgbClr val="10B981"/>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868680" y="1554480"/>
            <a:ext cx="1645920" cy="274320"/>
          </a:xfrm>
          <a:prstGeom prst="rect">
            <a:avLst/>
          </a:prstGeom>
          <a:noFill/>
          <a:ln/>
        </p:spPr>
        <p:txBody>
          <a:bodyPr wrap="square" rtlCol="0" anchor="ctr"/>
          <a:lstStyle/>
          <a:p>
            <a:pPr marL="0" indent="0">
              <a:buNone/>
            </a:pPr>
            <a:r>
              <a:rPr lang="en-US" sz="1100" b="1" dirty="0">
                <a:solidFill>
                  <a:srgbClr val="10B981"/>
                </a:solidFill>
                <a:latin typeface="Calibri" pitchFamily="34" charset="0"/>
                <a:ea typeface="Calibri" pitchFamily="34" charset="-122"/>
                <a:cs typeface="Calibri" pitchFamily="34" charset="-120"/>
              </a:rPr>
              <a:t>Score ≥ 0.80</a:t>
            </a:r>
            <a:endParaRPr lang="en-US" sz="1100" dirty="0"/>
          </a:p>
        </p:txBody>
      </p:sp>
      <p:sp>
        <p:nvSpPr>
          <p:cNvPr id="8" name="Text 6"/>
          <p:cNvSpPr/>
          <p:nvPr/>
        </p:nvSpPr>
        <p:spPr>
          <a:xfrm>
            <a:off x="868680" y="1810512"/>
            <a:ext cx="2286000" cy="228600"/>
          </a:xfrm>
          <a:prstGeom prst="rect">
            <a:avLst/>
          </a:prstGeom>
          <a:noFill/>
          <a:ln/>
        </p:spPr>
        <p:txBody>
          <a:bodyPr wrap="square" rtlCol="0" anchor="ctr"/>
          <a:lstStyle/>
          <a:p>
            <a:pPr marL="0" indent="0">
              <a:buNone/>
            </a:pPr>
            <a:r>
              <a:rPr lang="en-US" sz="1000" dirty="0">
                <a:solidFill>
                  <a:srgbClr val="AAAAAA"/>
                </a:solidFill>
                <a:latin typeface="Calibri" pitchFamily="34" charset="0"/>
                <a:ea typeface="Calibri" pitchFamily="34" charset="-122"/>
                <a:cs typeface="Calibri" pitchFamily="34" charset="-120"/>
              </a:rPr>
              <a:t>DEFINITELY REAL</a:t>
            </a:r>
            <a:endParaRPr lang="en-US" sz="1000" dirty="0"/>
          </a:p>
        </p:txBody>
      </p:sp>
      <p:sp>
        <p:nvSpPr>
          <p:cNvPr id="9" name="Text 7"/>
          <p:cNvSpPr/>
          <p:nvPr/>
        </p:nvSpPr>
        <p:spPr>
          <a:xfrm>
            <a:off x="2926080" y="1600200"/>
            <a:ext cx="5760720" cy="411480"/>
          </a:xfrm>
          <a:prstGeom prst="rect">
            <a:avLst/>
          </a:prstGeom>
          <a:noFill/>
          <a:ln/>
        </p:spPr>
        <p:txBody>
          <a:bodyPr wrap="square" rtlCol="0" anchor="ctr"/>
          <a:lstStyle/>
          <a:p>
            <a:pPr marL="0" indent="0">
              <a:buNone/>
            </a:pPr>
            <a:r>
              <a:rPr lang="en-US" sz="1200" dirty="0">
                <a:solidFill>
                  <a:srgbClr val="CCCCCC"/>
                </a:solidFill>
                <a:latin typeface="Calibri" pitchFamily="34" charset="0"/>
                <a:ea typeface="Calibri" pitchFamily="34" charset="-122"/>
                <a:cs typeface="Calibri" pitchFamily="34" charset="-120"/>
              </a:rPr>
              <a:t>Very high confidence — strong authentic facial patterns</a:t>
            </a:r>
            <a:endParaRPr lang="en-US" sz="1200" dirty="0"/>
          </a:p>
        </p:txBody>
      </p:sp>
      <p:sp>
        <p:nvSpPr>
          <p:cNvPr id="10" name="Shape 8"/>
          <p:cNvSpPr/>
          <p:nvPr/>
        </p:nvSpPr>
        <p:spPr>
          <a:xfrm>
            <a:off x="274320" y="2185416"/>
            <a:ext cx="8595360" cy="594360"/>
          </a:xfrm>
          <a:prstGeom prst="rect">
            <a:avLst/>
          </a:prstGeom>
          <a:solidFill>
            <a:srgbClr val="0D2B1F"/>
          </a:solidFill>
          <a:ln w="12700">
            <a:solidFill>
              <a:srgbClr val="22C55E"/>
            </a:solidFill>
            <a:prstDash val="solid"/>
          </a:ln>
        </p:spPr>
      </p:sp>
      <p:sp>
        <p:nvSpPr>
          <p:cNvPr id="11" name="Text 9"/>
          <p:cNvSpPr/>
          <p:nvPr/>
        </p:nvSpPr>
        <p:spPr>
          <a:xfrm>
            <a:off x="365760" y="2258568"/>
            <a:ext cx="457200" cy="457200"/>
          </a:xfrm>
          <a:prstGeom prst="rect">
            <a:avLst/>
          </a:prstGeom>
          <a:noFill/>
          <a:ln/>
        </p:spPr>
        <p:txBody>
          <a:bodyPr wrap="square" rtlCol="0" anchor="ctr"/>
          <a:lstStyle/>
          <a:p>
            <a:pPr marL="0" indent="0" algn="ctr">
              <a:buNone/>
            </a:pPr>
            <a:r>
              <a:rPr lang="en-US" sz="1600" b="1" dirty="0">
                <a:solidFill>
                  <a:srgbClr val="22C55E"/>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868680" y="2231136"/>
            <a:ext cx="1645920" cy="274320"/>
          </a:xfrm>
          <a:prstGeom prst="rect">
            <a:avLst/>
          </a:prstGeom>
          <a:noFill/>
          <a:ln/>
        </p:spPr>
        <p:txBody>
          <a:bodyPr wrap="square" rtlCol="0" anchor="ctr"/>
          <a:lstStyle/>
          <a:p>
            <a:pPr marL="0" indent="0">
              <a:buNone/>
            </a:pPr>
            <a:r>
              <a:rPr lang="en-US" sz="1100" b="1" dirty="0">
                <a:solidFill>
                  <a:srgbClr val="22C55E"/>
                </a:solidFill>
                <a:latin typeface="Calibri" pitchFamily="34" charset="0"/>
                <a:ea typeface="Calibri" pitchFamily="34" charset="-122"/>
                <a:cs typeface="Calibri" pitchFamily="34" charset="-120"/>
              </a:rPr>
              <a:t>Score 0.40–0.79</a:t>
            </a:r>
            <a:endParaRPr lang="en-US" sz="1100" dirty="0"/>
          </a:p>
        </p:txBody>
      </p:sp>
      <p:sp>
        <p:nvSpPr>
          <p:cNvPr id="13" name="Text 11"/>
          <p:cNvSpPr/>
          <p:nvPr/>
        </p:nvSpPr>
        <p:spPr>
          <a:xfrm>
            <a:off x="868680" y="2487168"/>
            <a:ext cx="2286000" cy="228600"/>
          </a:xfrm>
          <a:prstGeom prst="rect">
            <a:avLst/>
          </a:prstGeom>
          <a:noFill/>
          <a:ln/>
        </p:spPr>
        <p:txBody>
          <a:bodyPr wrap="square" rtlCol="0" anchor="ctr"/>
          <a:lstStyle/>
          <a:p>
            <a:pPr marL="0" indent="0">
              <a:buNone/>
            </a:pPr>
            <a:r>
              <a:rPr lang="en-US" sz="1000" dirty="0">
                <a:solidFill>
                  <a:srgbClr val="AAAAAA"/>
                </a:solidFill>
                <a:latin typeface="Calibri" pitchFamily="34" charset="0"/>
                <a:ea typeface="Calibri" pitchFamily="34" charset="-122"/>
                <a:cs typeface="Calibri" pitchFamily="34" charset="-120"/>
              </a:rPr>
              <a:t>LIKELY REAL</a:t>
            </a:r>
            <a:endParaRPr lang="en-US" sz="1000" dirty="0"/>
          </a:p>
        </p:txBody>
      </p:sp>
      <p:sp>
        <p:nvSpPr>
          <p:cNvPr id="14" name="Text 12"/>
          <p:cNvSpPr/>
          <p:nvPr/>
        </p:nvSpPr>
        <p:spPr>
          <a:xfrm>
            <a:off x="2926080" y="2276856"/>
            <a:ext cx="5760720" cy="411480"/>
          </a:xfrm>
          <a:prstGeom prst="rect">
            <a:avLst/>
          </a:prstGeom>
          <a:noFill/>
          <a:ln/>
        </p:spPr>
        <p:txBody>
          <a:bodyPr wrap="square" rtlCol="0" anchor="ctr"/>
          <a:lstStyle/>
          <a:p>
            <a:pPr marL="0" indent="0">
              <a:buNone/>
            </a:pPr>
            <a:r>
              <a:rPr lang="en-US" sz="1200" dirty="0">
                <a:solidFill>
                  <a:srgbClr val="CCCCCC"/>
                </a:solidFill>
                <a:latin typeface="Calibri" pitchFamily="34" charset="0"/>
                <a:ea typeface="Calibri" pitchFamily="34" charset="-122"/>
                <a:cs typeface="Calibri" pitchFamily="34" charset="-120"/>
              </a:rPr>
              <a:t>Probable authentic image — no significant manipulation indicators</a:t>
            </a:r>
            <a:endParaRPr lang="en-US" sz="1200" dirty="0"/>
          </a:p>
        </p:txBody>
      </p:sp>
      <p:sp>
        <p:nvSpPr>
          <p:cNvPr id="15" name="Shape 13"/>
          <p:cNvSpPr/>
          <p:nvPr/>
        </p:nvSpPr>
        <p:spPr>
          <a:xfrm>
            <a:off x="274320" y="2862072"/>
            <a:ext cx="8595360" cy="594360"/>
          </a:xfrm>
          <a:prstGeom prst="rect">
            <a:avLst/>
          </a:prstGeom>
          <a:solidFill>
            <a:srgbClr val="1C1A07"/>
          </a:solidFill>
          <a:ln w="12700">
            <a:solidFill>
              <a:srgbClr val="F59E0B"/>
            </a:solidFill>
            <a:prstDash val="solid"/>
          </a:ln>
        </p:spPr>
      </p:sp>
      <p:sp>
        <p:nvSpPr>
          <p:cNvPr id="16" name="Text 14"/>
          <p:cNvSpPr/>
          <p:nvPr/>
        </p:nvSpPr>
        <p:spPr>
          <a:xfrm>
            <a:off x="365760" y="2935224"/>
            <a:ext cx="457200" cy="457200"/>
          </a:xfrm>
          <a:prstGeom prst="rect">
            <a:avLst/>
          </a:prstGeom>
          <a:noFill/>
          <a:ln/>
        </p:spPr>
        <p:txBody>
          <a:bodyPr wrap="square" rtlCol="0" anchor="ctr"/>
          <a:lstStyle/>
          <a:p>
            <a:pPr marL="0" indent="0" algn="ctr">
              <a:buNone/>
            </a:pPr>
            <a:r>
              <a:rPr lang="en-US" sz="1600" b="1" dirty="0">
                <a:solidFill>
                  <a:srgbClr val="F59E0B"/>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868680" y="2907792"/>
            <a:ext cx="1645920" cy="274320"/>
          </a:xfrm>
          <a:prstGeom prst="rect">
            <a:avLst/>
          </a:prstGeom>
          <a:noFill/>
          <a:ln/>
        </p:spPr>
        <p:txBody>
          <a:bodyPr wrap="square"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Score 0.20–0.39</a:t>
            </a:r>
            <a:endParaRPr lang="en-US" sz="1100" dirty="0"/>
          </a:p>
        </p:txBody>
      </p:sp>
      <p:sp>
        <p:nvSpPr>
          <p:cNvPr id="18" name="Text 16"/>
          <p:cNvSpPr/>
          <p:nvPr/>
        </p:nvSpPr>
        <p:spPr>
          <a:xfrm>
            <a:off x="868680" y="3163824"/>
            <a:ext cx="2286000" cy="228600"/>
          </a:xfrm>
          <a:prstGeom prst="rect">
            <a:avLst/>
          </a:prstGeom>
          <a:noFill/>
          <a:ln/>
        </p:spPr>
        <p:txBody>
          <a:bodyPr wrap="square" rtlCol="0" anchor="ctr"/>
          <a:lstStyle/>
          <a:p>
            <a:pPr marL="0" indent="0">
              <a:buNone/>
            </a:pPr>
            <a:r>
              <a:rPr lang="en-US" sz="1000" dirty="0">
                <a:solidFill>
                  <a:srgbClr val="AAAAAA"/>
                </a:solidFill>
                <a:latin typeface="Calibri" pitchFamily="34" charset="0"/>
                <a:ea typeface="Calibri" pitchFamily="34" charset="-122"/>
                <a:cs typeface="Calibri" pitchFamily="34" charset="-120"/>
              </a:rPr>
              <a:t>UNCERTAIN</a:t>
            </a:r>
            <a:endParaRPr lang="en-US" sz="1000" dirty="0"/>
          </a:p>
        </p:txBody>
      </p:sp>
      <p:sp>
        <p:nvSpPr>
          <p:cNvPr id="19" name="Text 17"/>
          <p:cNvSpPr/>
          <p:nvPr/>
        </p:nvSpPr>
        <p:spPr>
          <a:xfrm>
            <a:off x="2926080" y="2953512"/>
            <a:ext cx="5760720" cy="411480"/>
          </a:xfrm>
          <a:prstGeom prst="rect">
            <a:avLst/>
          </a:prstGeom>
          <a:noFill/>
          <a:ln/>
        </p:spPr>
        <p:txBody>
          <a:bodyPr wrap="square" rtlCol="0" anchor="ctr"/>
          <a:lstStyle/>
          <a:p>
            <a:pPr marL="0" indent="0">
              <a:buNone/>
            </a:pPr>
            <a:r>
              <a:rPr lang="en-US" sz="1200" dirty="0">
                <a:solidFill>
                  <a:srgbClr val="CCCCCC"/>
                </a:solidFill>
                <a:latin typeface="Calibri" pitchFamily="34" charset="0"/>
                <a:ea typeface="Calibri" pitchFamily="34" charset="-122"/>
                <a:cs typeface="Calibri" pitchFamily="34" charset="-120"/>
              </a:rPr>
              <a:t>Borderline result — manual verification recommended</a:t>
            </a:r>
            <a:endParaRPr lang="en-US" sz="1200" dirty="0"/>
          </a:p>
        </p:txBody>
      </p:sp>
      <p:sp>
        <p:nvSpPr>
          <p:cNvPr id="20" name="Shape 18"/>
          <p:cNvSpPr/>
          <p:nvPr/>
        </p:nvSpPr>
        <p:spPr>
          <a:xfrm>
            <a:off x="274320" y="3538728"/>
            <a:ext cx="8595360" cy="594360"/>
          </a:xfrm>
          <a:prstGeom prst="rect">
            <a:avLst/>
          </a:prstGeom>
          <a:solidFill>
            <a:srgbClr val="2B0D0D"/>
          </a:solidFill>
          <a:ln w="12700">
            <a:solidFill>
              <a:srgbClr val="EF4444"/>
            </a:solidFill>
            <a:prstDash val="solid"/>
          </a:ln>
        </p:spPr>
      </p:sp>
      <p:sp>
        <p:nvSpPr>
          <p:cNvPr id="21" name="Text 19"/>
          <p:cNvSpPr/>
          <p:nvPr/>
        </p:nvSpPr>
        <p:spPr>
          <a:xfrm>
            <a:off x="365760" y="3611880"/>
            <a:ext cx="457200" cy="457200"/>
          </a:xfrm>
          <a:prstGeom prst="rect">
            <a:avLst/>
          </a:prstGeom>
          <a:noFill/>
          <a:ln/>
        </p:spPr>
        <p:txBody>
          <a:bodyPr wrap="square" rtlCol="0" anchor="ctr"/>
          <a:lstStyle/>
          <a:p>
            <a:pPr marL="0" indent="0" algn="ctr">
              <a:buNone/>
            </a:pPr>
            <a:r>
              <a:rPr lang="en-US" sz="1600" b="1" dirty="0">
                <a:solidFill>
                  <a:srgbClr val="EF4444"/>
                </a:solidFill>
                <a:latin typeface="Calibri" pitchFamily="34" charset="0"/>
                <a:ea typeface="Calibri" pitchFamily="34" charset="-122"/>
                <a:cs typeface="Calibri" pitchFamily="34" charset="-120"/>
              </a:rPr>
              <a:t>✗</a:t>
            </a:r>
            <a:endParaRPr lang="en-US" sz="1600" dirty="0"/>
          </a:p>
        </p:txBody>
      </p:sp>
      <p:sp>
        <p:nvSpPr>
          <p:cNvPr id="22" name="Text 20"/>
          <p:cNvSpPr/>
          <p:nvPr/>
        </p:nvSpPr>
        <p:spPr>
          <a:xfrm>
            <a:off x="868680" y="3584448"/>
            <a:ext cx="1645920" cy="274320"/>
          </a:xfrm>
          <a:prstGeom prst="rect">
            <a:avLst/>
          </a:prstGeom>
          <a:noFill/>
          <a:ln/>
        </p:spPr>
        <p:txBody>
          <a:bodyPr wrap="square" rtlCol="0" anchor="ctr"/>
          <a:lstStyle/>
          <a:p>
            <a:pPr marL="0" indent="0">
              <a:buNone/>
            </a:pPr>
            <a:r>
              <a:rPr lang="en-US" sz="1100" b="1" dirty="0">
                <a:solidFill>
                  <a:srgbClr val="EF4444"/>
                </a:solidFill>
                <a:latin typeface="Calibri" pitchFamily="34" charset="0"/>
                <a:ea typeface="Calibri" pitchFamily="34" charset="-122"/>
                <a:cs typeface="Calibri" pitchFamily="34" charset="-120"/>
              </a:rPr>
              <a:t>Score 0.10–0.19</a:t>
            </a:r>
            <a:endParaRPr lang="en-US" sz="1100" dirty="0"/>
          </a:p>
        </p:txBody>
      </p:sp>
      <p:sp>
        <p:nvSpPr>
          <p:cNvPr id="23" name="Text 21"/>
          <p:cNvSpPr/>
          <p:nvPr/>
        </p:nvSpPr>
        <p:spPr>
          <a:xfrm>
            <a:off x="868680" y="3840480"/>
            <a:ext cx="2286000" cy="228600"/>
          </a:xfrm>
          <a:prstGeom prst="rect">
            <a:avLst/>
          </a:prstGeom>
          <a:noFill/>
          <a:ln/>
        </p:spPr>
        <p:txBody>
          <a:bodyPr wrap="square" rtlCol="0" anchor="ctr"/>
          <a:lstStyle/>
          <a:p>
            <a:pPr marL="0" indent="0">
              <a:buNone/>
            </a:pPr>
            <a:r>
              <a:rPr lang="en-US" sz="1000" dirty="0">
                <a:solidFill>
                  <a:srgbClr val="AAAAAA"/>
                </a:solidFill>
                <a:latin typeface="Calibri" pitchFamily="34" charset="0"/>
                <a:ea typeface="Calibri" pitchFamily="34" charset="-122"/>
                <a:cs typeface="Calibri" pitchFamily="34" charset="-120"/>
              </a:rPr>
              <a:t>LIKELY FAKE</a:t>
            </a:r>
            <a:endParaRPr lang="en-US" sz="1000" dirty="0"/>
          </a:p>
        </p:txBody>
      </p:sp>
      <p:sp>
        <p:nvSpPr>
          <p:cNvPr id="24" name="Text 22"/>
          <p:cNvSpPr/>
          <p:nvPr/>
        </p:nvSpPr>
        <p:spPr>
          <a:xfrm>
            <a:off x="2926080" y="3630168"/>
            <a:ext cx="5760720" cy="411480"/>
          </a:xfrm>
          <a:prstGeom prst="rect">
            <a:avLst/>
          </a:prstGeom>
          <a:noFill/>
          <a:ln/>
        </p:spPr>
        <p:txBody>
          <a:bodyPr wrap="square" rtlCol="0" anchor="ctr"/>
          <a:lstStyle/>
          <a:p>
            <a:pPr marL="0" indent="0">
              <a:buNone/>
            </a:pPr>
            <a:r>
              <a:rPr lang="en-US" sz="1200" dirty="0">
                <a:solidFill>
                  <a:srgbClr val="CCCCCC"/>
                </a:solidFill>
                <a:latin typeface="Calibri" pitchFamily="34" charset="0"/>
                <a:ea typeface="Calibri" pitchFamily="34" charset="-122"/>
                <a:cs typeface="Calibri" pitchFamily="34" charset="-120"/>
              </a:rPr>
              <a:t>Probable AI-generated image — suspicious patterns detected</a:t>
            </a:r>
            <a:endParaRPr lang="en-US" sz="1200" dirty="0"/>
          </a:p>
        </p:txBody>
      </p:sp>
      <p:sp>
        <p:nvSpPr>
          <p:cNvPr id="25" name="Shape 23"/>
          <p:cNvSpPr/>
          <p:nvPr/>
        </p:nvSpPr>
        <p:spPr>
          <a:xfrm>
            <a:off x="274320" y="4215384"/>
            <a:ext cx="8595360" cy="594360"/>
          </a:xfrm>
          <a:prstGeom prst="rect">
            <a:avLst/>
          </a:prstGeom>
          <a:solidFill>
            <a:srgbClr val="3B0808"/>
          </a:solidFill>
          <a:ln w="12700">
            <a:solidFill>
              <a:srgbClr val="B91C1C"/>
            </a:solidFill>
            <a:prstDash val="solid"/>
          </a:ln>
        </p:spPr>
      </p:sp>
      <p:sp>
        <p:nvSpPr>
          <p:cNvPr id="26" name="Text 24"/>
          <p:cNvSpPr/>
          <p:nvPr/>
        </p:nvSpPr>
        <p:spPr>
          <a:xfrm>
            <a:off x="365760" y="4288536"/>
            <a:ext cx="457200" cy="457200"/>
          </a:xfrm>
          <a:prstGeom prst="rect">
            <a:avLst/>
          </a:prstGeom>
          <a:noFill/>
          <a:ln/>
        </p:spPr>
        <p:txBody>
          <a:bodyPr wrap="square" rtlCol="0" anchor="ctr"/>
          <a:lstStyle/>
          <a:p>
            <a:pPr marL="0" indent="0" algn="ctr">
              <a:buNone/>
            </a:pPr>
            <a:r>
              <a:rPr lang="en-US" sz="1600" b="1" dirty="0">
                <a:solidFill>
                  <a:srgbClr val="B91C1C"/>
                </a:solidFill>
                <a:latin typeface="Calibri" pitchFamily="34" charset="0"/>
                <a:ea typeface="Calibri" pitchFamily="34" charset="-122"/>
                <a:cs typeface="Calibri" pitchFamily="34" charset="-120"/>
              </a:rPr>
              <a:t>✗✗</a:t>
            </a:r>
            <a:endParaRPr lang="en-US" sz="1600" dirty="0"/>
          </a:p>
        </p:txBody>
      </p:sp>
      <p:sp>
        <p:nvSpPr>
          <p:cNvPr id="27" name="Text 25"/>
          <p:cNvSpPr/>
          <p:nvPr/>
        </p:nvSpPr>
        <p:spPr>
          <a:xfrm>
            <a:off x="868680" y="4261104"/>
            <a:ext cx="1645920" cy="274320"/>
          </a:xfrm>
          <a:prstGeom prst="rect">
            <a:avLst/>
          </a:prstGeom>
          <a:noFill/>
          <a:ln/>
        </p:spPr>
        <p:txBody>
          <a:bodyPr wrap="square" rtlCol="0" anchor="ctr"/>
          <a:lstStyle/>
          <a:p>
            <a:pPr marL="0" indent="0">
              <a:buNone/>
            </a:pPr>
            <a:r>
              <a:rPr lang="en-US" sz="1100" b="1" dirty="0">
                <a:solidFill>
                  <a:srgbClr val="B91C1C"/>
                </a:solidFill>
                <a:latin typeface="Calibri" pitchFamily="34" charset="0"/>
                <a:ea typeface="Calibri" pitchFamily="34" charset="-122"/>
                <a:cs typeface="Calibri" pitchFamily="34" charset="-120"/>
              </a:rPr>
              <a:t>Score &lt; 0.10</a:t>
            </a:r>
            <a:endParaRPr lang="en-US" sz="1100" dirty="0"/>
          </a:p>
        </p:txBody>
      </p:sp>
      <p:sp>
        <p:nvSpPr>
          <p:cNvPr id="28" name="Text 26"/>
          <p:cNvSpPr/>
          <p:nvPr/>
        </p:nvSpPr>
        <p:spPr>
          <a:xfrm>
            <a:off x="868680" y="4517136"/>
            <a:ext cx="2286000" cy="228600"/>
          </a:xfrm>
          <a:prstGeom prst="rect">
            <a:avLst/>
          </a:prstGeom>
          <a:noFill/>
          <a:ln/>
        </p:spPr>
        <p:txBody>
          <a:bodyPr wrap="square" rtlCol="0" anchor="ctr"/>
          <a:lstStyle/>
          <a:p>
            <a:pPr marL="0" indent="0">
              <a:buNone/>
            </a:pPr>
            <a:r>
              <a:rPr lang="en-US" sz="1000" dirty="0">
                <a:solidFill>
                  <a:srgbClr val="AAAAAA"/>
                </a:solidFill>
                <a:latin typeface="Calibri" pitchFamily="34" charset="0"/>
                <a:ea typeface="Calibri" pitchFamily="34" charset="-122"/>
                <a:cs typeface="Calibri" pitchFamily="34" charset="-120"/>
              </a:rPr>
              <a:t>DEFINITELY FAKE</a:t>
            </a:r>
            <a:endParaRPr lang="en-US" sz="1000" dirty="0"/>
          </a:p>
        </p:txBody>
      </p:sp>
      <p:sp>
        <p:nvSpPr>
          <p:cNvPr id="29" name="Text 27"/>
          <p:cNvSpPr/>
          <p:nvPr/>
        </p:nvSpPr>
        <p:spPr>
          <a:xfrm>
            <a:off x="2926080" y="4306824"/>
            <a:ext cx="5760720" cy="411480"/>
          </a:xfrm>
          <a:prstGeom prst="rect">
            <a:avLst/>
          </a:prstGeom>
          <a:noFill/>
          <a:ln/>
        </p:spPr>
        <p:txBody>
          <a:bodyPr wrap="square" rtlCol="0" anchor="ctr"/>
          <a:lstStyle/>
          <a:p>
            <a:pPr marL="0" indent="0">
              <a:buNone/>
            </a:pPr>
            <a:r>
              <a:rPr lang="en-US" sz="1200" dirty="0">
                <a:solidFill>
                  <a:srgbClr val="CCCCCC"/>
                </a:solidFill>
                <a:latin typeface="Calibri" pitchFamily="34" charset="0"/>
                <a:ea typeface="Calibri" pitchFamily="34" charset="-122"/>
                <a:cs typeface="Calibri" pitchFamily="34" charset="-120"/>
              </a:rPr>
              <a:t>Very high confidence — strong deepfake indicators identified</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1F3C"/>
          </a:solidFill>
          <a:ln/>
        </p:spPr>
      </p:sp>
      <p:sp>
        <p:nvSpPr>
          <p:cNvPr id="3" name="Text 1"/>
          <p:cNvSpPr/>
          <p:nvPr/>
        </p:nvSpPr>
        <p:spPr>
          <a:xfrm>
            <a:off x="365760" y="182880"/>
            <a:ext cx="8229600" cy="64008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Security &amp; Limitations</a:t>
            </a:r>
            <a:endParaRPr lang="en-US" sz="2800" dirty="0"/>
          </a:p>
        </p:txBody>
      </p:sp>
      <p:sp>
        <p:nvSpPr>
          <p:cNvPr id="4" name="Text 2"/>
          <p:cNvSpPr/>
          <p:nvPr/>
        </p:nvSpPr>
        <p:spPr>
          <a:xfrm>
            <a:off x="365760" y="1097280"/>
            <a:ext cx="3931920" cy="320040"/>
          </a:xfrm>
          <a:prstGeom prst="rect">
            <a:avLst/>
          </a:prstGeom>
          <a:noFill/>
          <a:ln/>
        </p:spPr>
        <p:txBody>
          <a:bodyPr wrap="square" rtlCol="0" anchor="ctr"/>
          <a:lstStyle/>
          <a:p>
            <a:pPr marL="0" indent="0">
              <a:buNone/>
            </a:pPr>
            <a:r>
              <a:rPr lang="en-US" sz="1500" b="1" dirty="0">
                <a:solidFill>
                  <a:srgbClr val="0D1F3C"/>
                </a:solidFill>
                <a:latin typeface="Calibri" pitchFamily="34" charset="0"/>
                <a:ea typeface="Calibri" pitchFamily="34" charset="-122"/>
                <a:cs typeface="Calibri" pitchFamily="34" charset="-120"/>
              </a:rPr>
              <a:t>Security Features</a:t>
            </a:r>
            <a:endParaRPr lang="en-US" sz="1500" dirty="0"/>
          </a:p>
        </p:txBody>
      </p:sp>
      <p:sp>
        <p:nvSpPr>
          <p:cNvPr id="5" name="Shape 3"/>
          <p:cNvSpPr/>
          <p:nvPr/>
        </p:nvSpPr>
        <p:spPr>
          <a:xfrm>
            <a:off x="365760" y="1481328"/>
            <a:ext cx="274320" cy="274320"/>
          </a:xfrm>
          <a:prstGeom prst="rect">
            <a:avLst/>
          </a:prstGeom>
          <a:solidFill>
            <a:srgbClr val="22C55E"/>
          </a:solidFill>
          <a:ln/>
        </p:spPr>
      </p:sp>
      <p:sp>
        <p:nvSpPr>
          <p:cNvPr id="6" name="Text 4"/>
          <p:cNvSpPr/>
          <p:nvPr/>
        </p:nvSpPr>
        <p:spPr>
          <a:xfrm>
            <a:off x="365760" y="1481328"/>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7" name="Text 5"/>
          <p:cNvSpPr/>
          <p:nvPr/>
        </p:nvSpPr>
        <p:spPr>
          <a:xfrm>
            <a:off x="713232" y="1499616"/>
            <a:ext cx="3566160" cy="256032"/>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All processing is local — no images sent to external servers</a:t>
            </a:r>
            <a:endParaRPr lang="en-US" sz="1100" dirty="0"/>
          </a:p>
        </p:txBody>
      </p:sp>
      <p:sp>
        <p:nvSpPr>
          <p:cNvPr id="8" name="Shape 6"/>
          <p:cNvSpPr/>
          <p:nvPr/>
        </p:nvSpPr>
        <p:spPr>
          <a:xfrm>
            <a:off x="365760" y="1892808"/>
            <a:ext cx="274320" cy="274320"/>
          </a:xfrm>
          <a:prstGeom prst="rect">
            <a:avLst/>
          </a:prstGeom>
          <a:solidFill>
            <a:srgbClr val="22C55E"/>
          </a:solidFill>
          <a:ln/>
        </p:spPr>
      </p:sp>
      <p:sp>
        <p:nvSpPr>
          <p:cNvPr id="9" name="Text 7"/>
          <p:cNvSpPr/>
          <p:nvPr/>
        </p:nvSpPr>
        <p:spPr>
          <a:xfrm>
            <a:off x="365760" y="1892808"/>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0" name="Text 8"/>
          <p:cNvSpPr/>
          <p:nvPr/>
        </p:nvSpPr>
        <p:spPr>
          <a:xfrm>
            <a:off x="713232" y="1911096"/>
            <a:ext cx="3566160" cy="256032"/>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No user data stored beyond current session memory</a:t>
            </a:r>
            <a:endParaRPr lang="en-US" sz="1100" dirty="0"/>
          </a:p>
        </p:txBody>
      </p:sp>
      <p:sp>
        <p:nvSpPr>
          <p:cNvPr id="11" name="Shape 9"/>
          <p:cNvSpPr/>
          <p:nvPr/>
        </p:nvSpPr>
        <p:spPr>
          <a:xfrm>
            <a:off x="365760" y="2304288"/>
            <a:ext cx="274320" cy="274320"/>
          </a:xfrm>
          <a:prstGeom prst="rect">
            <a:avLst/>
          </a:prstGeom>
          <a:solidFill>
            <a:srgbClr val="22C55E"/>
          </a:solidFill>
          <a:ln/>
        </p:spPr>
      </p:sp>
      <p:sp>
        <p:nvSpPr>
          <p:cNvPr id="12" name="Text 10"/>
          <p:cNvSpPr/>
          <p:nvPr/>
        </p:nvSpPr>
        <p:spPr>
          <a:xfrm>
            <a:off x="365760" y="2304288"/>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3" name="Text 11"/>
          <p:cNvSpPr/>
          <p:nvPr/>
        </p:nvSpPr>
        <p:spPr>
          <a:xfrm>
            <a:off x="713232" y="2322576"/>
            <a:ext cx="3566160" cy="256032"/>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File input restricted to JPEG and PNG formats only</a:t>
            </a:r>
            <a:endParaRPr lang="en-US" sz="1100" dirty="0"/>
          </a:p>
        </p:txBody>
      </p:sp>
      <p:sp>
        <p:nvSpPr>
          <p:cNvPr id="14" name="Shape 12"/>
          <p:cNvSpPr/>
          <p:nvPr/>
        </p:nvSpPr>
        <p:spPr>
          <a:xfrm>
            <a:off x="365760" y="2715768"/>
            <a:ext cx="274320" cy="274320"/>
          </a:xfrm>
          <a:prstGeom prst="rect">
            <a:avLst/>
          </a:prstGeom>
          <a:solidFill>
            <a:srgbClr val="22C55E"/>
          </a:solidFill>
          <a:ln/>
        </p:spPr>
      </p:sp>
      <p:sp>
        <p:nvSpPr>
          <p:cNvPr id="15" name="Text 13"/>
          <p:cNvSpPr/>
          <p:nvPr/>
        </p:nvSpPr>
        <p:spPr>
          <a:xfrm>
            <a:off x="365760" y="2715768"/>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6" name="Text 14"/>
          <p:cNvSpPr/>
          <p:nvPr/>
        </p:nvSpPr>
        <p:spPr>
          <a:xfrm>
            <a:off x="713232" y="2734056"/>
            <a:ext cx="3566160" cy="256032"/>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Session history cleared on application restart</a:t>
            </a:r>
            <a:endParaRPr lang="en-US" sz="1100" dirty="0"/>
          </a:p>
        </p:txBody>
      </p:sp>
      <p:sp>
        <p:nvSpPr>
          <p:cNvPr id="17" name="Shape 15"/>
          <p:cNvSpPr/>
          <p:nvPr/>
        </p:nvSpPr>
        <p:spPr>
          <a:xfrm>
            <a:off x="365760" y="3127248"/>
            <a:ext cx="274320" cy="274320"/>
          </a:xfrm>
          <a:prstGeom prst="rect">
            <a:avLst/>
          </a:prstGeom>
          <a:solidFill>
            <a:srgbClr val="22C55E"/>
          </a:solidFill>
          <a:ln/>
        </p:spPr>
      </p:sp>
      <p:sp>
        <p:nvSpPr>
          <p:cNvPr id="18" name="Text 16"/>
          <p:cNvSpPr/>
          <p:nvPr/>
        </p:nvSpPr>
        <p:spPr>
          <a:xfrm>
            <a:off x="365760" y="3127248"/>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9" name="Text 17"/>
          <p:cNvSpPr/>
          <p:nvPr/>
        </p:nvSpPr>
        <p:spPr>
          <a:xfrm>
            <a:off x="713232" y="3145536"/>
            <a:ext cx="3566160" cy="256032"/>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No authentication data or personal information collected</a:t>
            </a:r>
            <a:endParaRPr lang="en-US" sz="1100" dirty="0"/>
          </a:p>
        </p:txBody>
      </p:sp>
      <p:sp>
        <p:nvSpPr>
          <p:cNvPr id="20" name="Text 18"/>
          <p:cNvSpPr/>
          <p:nvPr/>
        </p:nvSpPr>
        <p:spPr>
          <a:xfrm>
            <a:off x="4846320" y="1097280"/>
            <a:ext cx="3931920" cy="320040"/>
          </a:xfrm>
          <a:prstGeom prst="rect">
            <a:avLst/>
          </a:prstGeom>
          <a:noFill/>
          <a:ln/>
        </p:spPr>
        <p:txBody>
          <a:bodyPr wrap="square" rtlCol="0" anchor="ctr"/>
          <a:lstStyle/>
          <a:p>
            <a:pPr marL="0" indent="0">
              <a:buNone/>
            </a:pPr>
            <a:r>
              <a:rPr lang="en-US" sz="1500" b="1" dirty="0">
                <a:solidFill>
                  <a:srgbClr val="0D1F3C"/>
                </a:solidFill>
                <a:latin typeface="Calibri" pitchFamily="34" charset="0"/>
                <a:ea typeface="Calibri" pitchFamily="34" charset="-122"/>
                <a:cs typeface="Calibri" pitchFamily="34" charset="-120"/>
              </a:rPr>
              <a:t>Known Limitations</a:t>
            </a:r>
            <a:endParaRPr lang="en-US" sz="1500" dirty="0"/>
          </a:p>
        </p:txBody>
      </p:sp>
      <p:sp>
        <p:nvSpPr>
          <p:cNvPr id="21" name="Shape 19"/>
          <p:cNvSpPr/>
          <p:nvPr/>
        </p:nvSpPr>
        <p:spPr>
          <a:xfrm>
            <a:off x="4846320" y="1481328"/>
            <a:ext cx="274320" cy="274320"/>
          </a:xfrm>
          <a:prstGeom prst="rect">
            <a:avLst/>
          </a:prstGeom>
          <a:solidFill>
            <a:srgbClr val="F59E0B"/>
          </a:solidFill>
          <a:ln/>
        </p:spPr>
      </p:sp>
      <p:sp>
        <p:nvSpPr>
          <p:cNvPr id="22" name="Text 20"/>
          <p:cNvSpPr/>
          <p:nvPr/>
        </p:nvSpPr>
        <p:spPr>
          <a:xfrm>
            <a:off x="4846320" y="1481328"/>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3" name="Text 21"/>
          <p:cNvSpPr/>
          <p:nvPr/>
        </p:nvSpPr>
        <p:spPr>
          <a:xfrm>
            <a:off x="5193792" y="1499616"/>
            <a:ext cx="3611880" cy="256032"/>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Very high-quality StyleGAN fakes may score above threshold</a:t>
            </a:r>
            <a:endParaRPr lang="en-US" sz="1100" dirty="0"/>
          </a:p>
        </p:txBody>
      </p:sp>
      <p:sp>
        <p:nvSpPr>
          <p:cNvPr id="24" name="Shape 22"/>
          <p:cNvSpPr/>
          <p:nvPr/>
        </p:nvSpPr>
        <p:spPr>
          <a:xfrm>
            <a:off x="4846320" y="1892808"/>
            <a:ext cx="274320" cy="274320"/>
          </a:xfrm>
          <a:prstGeom prst="rect">
            <a:avLst/>
          </a:prstGeom>
          <a:solidFill>
            <a:srgbClr val="F59E0B"/>
          </a:solidFill>
          <a:ln/>
        </p:spPr>
      </p:sp>
      <p:sp>
        <p:nvSpPr>
          <p:cNvPr id="25" name="Text 23"/>
          <p:cNvSpPr/>
          <p:nvPr/>
        </p:nvSpPr>
        <p:spPr>
          <a:xfrm>
            <a:off x="4846320" y="1892808"/>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6" name="Text 24"/>
          <p:cNvSpPr/>
          <p:nvPr/>
        </p:nvSpPr>
        <p:spPr>
          <a:xfrm>
            <a:off x="5193792" y="1911096"/>
            <a:ext cx="3611880" cy="256032"/>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Poor lighting or extreme angles may fail face detection</a:t>
            </a:r>
            <a:endParaRPr lang="en-US" sz="1100" dirty="0"/>
          </a:p>
        </p:txBody>
      </p:sp>
      <p:sp>
        <p:nvSpPr>
          <p:cNvPr id="27" name="Shape 25"/>
          <p:cNvSpPr/>
          <p:nvPr/>
        </p:nvSpPr>
        <p:spPr>
          <a:xfrm>
            <a:off x="4846320" y="2304288"/>
            <a:ext cx="274320" cy="274320"/>
          </a:xfrm>
          <a:prstGeom prst="rect">
            <a:avLst/>
          </a:prstGeom>
          <a:solidFill>
            <a:srgbClr val="F59E0B"/>
          </a:solidFill>
          <a:ln/>
        </p:spPr>
      </p:sp>
      <p:sp>
        <p:nvSpPr>
          <p:cNvPr id="28" name="Text 26"/>
          <p:cNvSpPr/>
          <p:nvPr/>
        </p:nvSpPr>
        <p:spPr>
          <a:xfrm>
            <a:off x="4846320" y="2304288"/>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9" name="Text 27"/>
          <p:cNvSpPr/>
          <p:nvPr/>
        </p:nvSpPr>
        <p:spPr>
          <a:xfrm>
            <a:off x="5193792" y="2322576"/>
            <a:ext cx="3611880" cy="256032"/>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Still image only — no video stream support currently</a:t>
            </a:r>
            <a:endParaRPr lang="en-US" sz="1100" dirty="0"/>
          </a:p>
        </p:txBody>
      </p:sp>
      <p:sp>
        <p:nvSpPr>
          <p:cNvPr id="30" name="Shape 28"/>
          <p:cNvSpPr/>
          <p:nvPr/>
        </p:nvSpPr>
        <p:spPr>
          <a:xfrm>
            <a:off x="4846320" y="2715768"/>
            <a:ext cx="274320" cy="274320"/>
          </a:xfrm>
          <a:prstGeom prst="rect">
            <a:avLst/>
          </a:prstGeom>
          <a:solidFill>
            <a:srgbClr val="F59E0B"/>
          </a:solidFill>
          <a:ln/>
        </p:spPr>
      </p:sp>
      <p:sp>
        <p:nvSpPr>
          <p:cNvPr id="31" name="Text 29"/>
          <p:cNvSpPr/>
          <p:nvPr/>
        </p:nvSpPr>
        <p:spPr>
          <a:xfrm>
            <a:off x="4846320" y="2715768"/>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32" name="Text 30"/>
          <p:cNvSpPr/>
          <p:nvPr/>
        </p:nvSpPr>
        <p:spPr>
          <a:xfrm>
            <a:off x="5193792" y="2734056"/>
            <a:ext cx="3611880" cy="256032"/>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Threshold calibrated for this dataset — may need adjustment for new contexts</a:t>
            </a:r>
            <a:endParaRPr lang="en-US" sz="1100" dirty="0"/>
          </a:p>
        </p:txBody>
      </p:sp>
      <p:sp>
        <p:nvSpPr>
          <p:cNvPr id="33" name="Shape 31"/>
          <p:cNvSpPr/>
          <p:nvPr/>
        </p:nvSpPr>
        <p:spPr>
          <a:xfrm>
            <a:off x="4846320" y="3127248"/>
            <a:ext cx="274320" cy="274320"/>
          </a:xfrm>
          <a:prstGeom prst="rect">
            <a:avLst/>
          </a:prstGeom>
          <a:solidFill>
            <a:srgbClr val="F59E0B"/>
          </a:solidFill>
          <a:ln/>
        </p:spPr>
      </p:sp>
      <p:sp>
        <p:nvSpPr>
          <p:cNvPr id="34" name="Text 32"/>
          <p:cNvSpPr/>
          <p:nvPr/>
        </p:nvSpPr>
        <p:spPr>
          <a:xfrm>
            <a:off x="4846320" y="3127248"/>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35" name="Text 33"/>
          <p:cNvSpPr/>
          <p:nvPr/>
        </p:nvSpPr>
        <p:spPr>
          <a:xfrm>
            <a:off x="5193792" y="3145536"/>
            <a:ext cx="3611880" cy="256032"/>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CPU inference takes 1–2 seconds per image</a:t>
            </a:r>
            <a:endParaRPr lang="en-US" sz="1100" dirty="0"/>
          </a:p>
        </p:txBody>
      </p:sp>
      <p:sp>
        <p:nvSpPr>
          <p:cNvPr id="36" name="Shape 34"/>
          <p:cNvSpPr/>
          <p:nvPr/>
        </p:nvSpPr>
        <p:spPr>
          <a:xfrm>
            <a:off x="274320" y="4617720"/>
            <a:ext cx="8595360" cy="411480"/>
          </a:xfrm>
          <a:prstGeom prst="rect">
            <a:avLst/>
          </a:prstGeom>
          <a:solidFill>
            <a:srgbClr val="F4F6F9"/>
          </a:solidFill>
          <a:ln w="12700">
            <a:solidFill>
              <a:srgbClr val="DDDDDD"/>
            </a:solidFill>
            <a:prstDash val="solid"/>
          </a:ln>
        </p:spPr>
      </p:sp>
      <p:sp>
        <p:nvSpPr>
          <p:cNvPr id="37" name="Text 35"/>
          <p:cNvSpPr/>
          <p:nvPr/>
        </p:nvSpPr>
        <p:spPr>
          <a:xfrm>
            <a:off x="457200" y="4645152"/>
            <a:ext cx="8229600" cy="365760"/>
          </a:xfrm>
          <a:prstGeom prst="rect">
            <a:avLst/>
          </a:prstGeom>
          <a:noFill/>
          <a:ln/>
        </p:spPr>
        <p:txBody>
          <a:bodyPr wrap="square" rtlCol="0" anchor="ctr"/>
          <a:lstStyle/>
          <a:p>
            <a:pPr algn="ctr"/>
            <a:r>
              <a:rPr lang="en-US" sz="1200" b="1" dirty="0">
                <a:solidFill>
                  <a:srgbClr val="0D1F3C"/>
                </a:solidFill>
                <a:latin typeface="Calibri" pitchFamily="34" charset="0"/>
                <a:ea typeface="Calibri" pitchFamily="34" charset="-122"/>
                <a:cs typeface="Calibri" pitchFamily="34" charset="-120"/>
              </a:rPr>
              <a:t>Despite these limitations, </a:t>
            </a:r>
            <a:r>
              <a:rPr lang="en-US" sz="1200" b="1" dirty="0" err="1">
                <a:solidFill>
                  <a:srgbClr val="0D1F3C"/>
                </a:solidFill>
                <a:latin typeface="Calibri" pitchFamily="34" charset="0"/>
                <a:ea typeface="Calibri" pitchFamily="34" charset="-122"/>
                <a:cs typeface="Calibri" pitchFamily="34" charset="-120"/>
              </a:rPr>
              <a:t>DeepGuard</a:t>
            </a:r>
            <a:r>
              <a:rPr lang="en-US" sz="1200" b="1" dirty="0">
                <a:solidFill>
                  <a:srgbClr val="0D1F3C"/>
                </a:solidFill>
                <a:latin typeface="Calibri" pitchFamily="34" charset="0"/>
                <a:ea typeface="Calibri" pitchFamily="34" charset="-122"/>
                <a:cs typeface="Calibri" pitchFamily="34" charset="-120"/>
              </a:rPr>
              <a:t> achieved a validation AUC of 0.9634, demonstrating strong classification performance during model validation.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F3C"/>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Conclusion</a:t>
            </a:r>
            <a:endParaRPr lang="en-US" sz="3600" dirty="0"/>
          </a:p>
        </p:txBody>
      </p:sp>
      <p:sp>
        <p:nvSpPr>
          <p:cNvPr id="3" name="Shape 1"/>
          <p:cNvSpPr/>
          <p:nvPr/>
        </p:nvSpPr>
        <p:spPr>
          <a:xfrm>
            <a:off x="3200400" y="1051560"/>
            <a:ext cx="2743200" cy="36576"/>
          </a:xfrm>
          <a:prstGeom prst="rect">
            <a:avLst/>
          </a:prstGeom>
          <a:solidFill>
            <a:srgbClr val="5DA8E0"/>
          </a:solidFill>
          <a:ln/>
        </p:spPr>
      </p:sp>
      <p:sp>
        <p:nvSpPr>
          <p:cNvPr id="4" name="Text 2"/>
          <p:cNvSpPr/>
          <p:nvPr/>
        </p:nvSpPr>
        <p:spPr>
          <a:xfrm>
            <a:off x="731520" y="1234440"/>
            <a:ext cx="7680960" cy="420624"/>
          </a:xfrm>
          <a:prstGeom prst="rect">
            <a:avLst/>
          </a:prstGeom>
          <a:noFill/>
          <a:ln/>
        </p:spPr>
        <p:txBody>
          <a:bodyPr wrap="square" rtlCol="0" anchor="ctr"/>
          <a:lstStyle/>
          <a:p>
            <a:r>
              <a:rPr lang="en-US" sz="1350" dirty="0">
                <a:solidFill>
                  <a:srgbClr val="FFFFFF"/>
                </a:solidFill>
                <a:latin typeface="Calibri" pitchFamily="34" charset="0"/>
                <a:ea typeface="Calibri" pitchFamily="34" charset="-122"/>
                <a:cs typeface="Calibri" pitchFamily="34" charset="-120"/>
              </a:rPr>
              <a:t>✅  Developed an end-to-end AI-based deepfake detection system using transfer learning, achieving a </a:t>
            </a:r>
          </a:p>
          <a:p>
            <a:r>
              <a:rPr lang="en-US" sz="1350">
                <a:solidFill>
                  <a:srgbClr val="FFFFFF"/>
                </a:solidFill>
                <a:latin typeface="Calibri" pitchFamily="34" charset="0"/>
                <a:ea typeface="Calibri" pitchFamily="34" charset="-122"/>
                <a:cs typeface="Calibri" pitchFamily="34" charset="-120"/>
              </a:rPr>
              <a:t>         validation AUC of 0.9634.</a:t>
            </a:r>
            <a:endParaRPr lang="en-US" sz="1350" dirty="0"/>
          </a:p>
        </p:txBody>
      </p:sp>
      <p:sp>
        <p:nvSpPr>
          <p:cNvPr id="5" name="Text 3"/>
          <p:cNvSpPr/>
          <p:nvPr/>
        </p:nvSpPr>
        <p:spPr>
          <a:xfrm>
            <a:off x="731520" y="1728216"/>
            <a:ext cx="7680960" cy="420624"/>
          </a:xfrm>
          <a:prstGeom prst="rect">
            <a:avLst/>
          </a:prstGeom>
          <a:noFill/>
          <a:ln/>
        </p:spPr>
        <p:txBody>
          <a:bodyPr wrap="square" rtlCol="0" anchor="ctr"/>
          <a:lstStyle/>
          <a:p>
            <a:pPr marL="0" indent="0">
              <a:buNone/>
            </a:pPr>
            <a:r>
              <a:rPr lang="en-US" sz="1350" dirty="0">
                <a:solidFill>
                  <a:srgbClr val="8892A4"/>
                </a:solidFill>
                <a:latin typeface="Calibri" pitchFamily="34" charset="0"/>
                <a:ea typeface="Calibri" pitchFamily="34" charset="-122"/>
                <a:cs typeface="Calibri" pitchFamily="34" charset="-120"/>
              </a:rPr>
              <a:t>✅  Integrated Grad-CAM forensic heatmap — a genuine research technique for explainability</a:t>
            </a:r>
            <a:endParaRPr lang="en-US" sz="1350" dirty="0"/>
          </a:p>
        </p:txBody>
      </p:sp>
      <p:sp>
        <p:nvSpPr>
          <p:cNvPr id="6" name="Text 4"/>
          <p:cNvSpPr/>
          <p:nvPr/>
        </p:nvSpPr>
        <p:spPr>
          <a:xfrm>
            <a:off x="731520" y="2221992"/>
            <a:ext cx="7680960" cy="420624"/>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  Developed 5-level verdict system more suitable for forensic analysis than binary output</a:t>
            </a:r>
            <a:endParaRPr lang="en-US" sz="1350" dirty="0"/>
          </a:p>
        </p:txBody>
      </p:sp>
      <p:sp>
        <p:nvSpPr>
          <p:cNvPr id="7" name="Text 5"/>
          <p:cNvSpPr/>
          <p:nvPr/>
        </p:nvSpPr>
        <p:spPr>
          <a:xfrm>
            <a:off x="731520" y="2715768"/>
            <a:ext cx="7680960" cy="420624"/>
          </a:xfrm>
          <a:prstGeom prst="rect">
            <a:avLst/>
          </a:prstGeom>
          <a:noFill/>
          <a:ln/>
        </p:spPr>
        <p:txBody>
          <a:bodyPr wrap="square" rtlCol="0" anchor="ctr"/>
          <a:lstStyle/>
          <a:p>
            <a:pPr marL="0" indent="0">
              <a:buNone/>
            </a:pPr>
            <a:r>
              <a:rPr lang="en-US" sz="1350" dirty="0">
                <a:solidFill>
                  <a:srgbClr val="8892A4"/>
                </a:solidFill>
                <a:latin typeface="Calibri" pitchFamily="34" charset="0"/>
                <a:ea typeface="Calibri" pitchFamily="34" charset="-122"/>
                <a:cs typeface="Calibri" pitchFamily="34" charset="-120"/>
              </a:rPr>
              <a:t>✅  Delivered professional Streamlit application with PDF/CSV report export</a:t>
            </a:r>
            <a:endParaRPr lang="en-US" sz="1350" dirty="0"/>
          </a:p>
        </p:txBody>
      </p:sp>
      <p:sp>
        <p:nvSpPr>
          <p:cNvPr id="8" name="Text 6"/>
          <p:cNvSpPr/>
          <p:nvPr/>
        </p:nvSpPr>
        <p:spPr>
          <a:xfrm>
            <a:off x="731520" y="3209544"/>
            <a:ext cx="7680960" cy="420624"/>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  Addressed real-world domain gap by adding diverse consumer photographs to training data</a:t>
            </a:r>
            <a:endParaRPr lang="en-US" sz="1350" dirty="0"/>
          </a:p>
        </p:txBody>
      </p:sp>
      <p:sp>
        <p:nvSpPr>
          <p:cNvPr id="9" name="Text 7"/>
          <p:cNvSpPr/>
          <p:nvPr/>
        </p:nvSpPr>
        <p:spPr>
          <a:xfrm>
            <a:off x="731520" y="3703320"/>
            <a:ext cx="7680960" cy="420624"/>
          </a:xfrm>
          <a:prstGeom prst="rect">
            <a:avLst/>
          </a:prstGeom>
          <a:noFill/>
          <a:ln/>
        </p:spPr>
        <p:txBody>
          <a:bodyPr wrap="square" rtlCol="0" anchor="ctr"/>
          <a:lstStyle/>
          <a:p>
            <a:pPr marL="0" indent="0">
              <a:buNone/>
            </a:pPr>
            <a:r>
              <a:rPr lang="en-US" sz="1350" dirty="0">
                <a:solidFill>
                  <a:srgbClr val="8892A4"/>
                </a:solidFill>
                <a:latin typeface="Calibri" pitchFamily="34" charset="0"/>
                <a:ea typeface="Calibri" pitchFamily="34" charset="-122"/>
                <a:cs typeface="Calibri" pitchFamily="34" charset="-120"/>
              </a:rPr>
              <a:t>✅  Resolved cross-version Keras deployment issues using NumPy weight serialisation</a:t>
            </a:r>
            <a:endParaRPr lang="en-US" sz="1350" dirty="0"/>
          </a:p>
        </p:txBody>
      </p:sp>
      <p:sp>
        <p:nvSpPr>
          <p:cNvPr id="10" name="Shape 8"/>
          <p:cNvSpPr/>
          <p:nvPr/>
        </p:nvSpPr>
        <p:spPr>
          <a:xfrm>
            <a:off x="274320" y="4343400"/>
            <a:ext cx="8595360" cy="594360"/>
          </a:xfrm>
          <a:prstGeom prst="rect">
            <a:avLst/>
          </a:prstGeom>
          <a:solidFill>
            <a:srgbClr val="1A3A5C"/>
          </a:solidFill>
          <a:ln w="12700">
            <a:solidFill>
              <a:srgbClr val="5DA8E0"/>
            </a:solidFill>
            <a:prstDash val="solid"/>
          </a:ln>
        </p:spPr>
      </p:sp>
      <p:sp>
        <p:nvSpPr>
          <p:cNvPr id="11" name="Text 9"/>
          <p:cNvSpPr/>
          <p:nvPr/>
        </p:nvSpPr>
        <p:spPr>
          <a:xfrm>
            <a:off x="457200" y="4370832"/>
            <a:ext cx="8229600" cy="530352"/>
          </a:xfrm>
          <a:prstGeom prst="rect">
            <a:avLst/>
          </a:prstGeom>
          <a:noFill/>
          <a:ln/>
        </p:spPr>
        <p:txBody>
          <a:bodyPr wrap="square" rtlCol="0" anchor="ctr"/>
          <a:lstStyle/>
          <a:p>
            <a:pPr marL="0" indent="0" algn="ctr">
              <a:buNone/>
            </a:pPr>
            <a:r>
              <a:rPr lang="en-US" sz="1300">
                <a:solidFill>
                  <a:srgbClr val="FFFFFF"/>
                </a:solidFill>
                <a:latin typeface="Calibri" pitchFamily="34" charset="0"/>
                <a:ea typeface="Calibri" pitchFamily="34" charset="-122"/>
                <a:cs typeface="Calibri" pitchFamily="34" charset="-120"/>
              </a:rPr>
              <a:t>DeepGuard</a:t>
            </a:r>
            <a:r>
              <a:rPr lang="en-US" sz="1300" dirty="0">
                <a:solidFill>
                  <a:srgbClr val="FFFFFF"/>
                </a:solidFill>
                <a:latin typeface="Calibri" pitchFamily="34" charset="0"/>
                <a:ea typeface="Calibri" pitchFamily="34" charset="-122"/>
                <a:cs typeface="Calibri" pitchFamily="34" charset="-120"/>
              </a:rPr>
              <a:t> demonstrates that an AI-based deepfake detection prototype with forensic visualization can be developed using open-source tools and publicly available datasets.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F3C"/>
        </a:solidFill>
        <a:effectLst/>
      </p:bgPr>
    </p:bg>
    <p:spTree>
      <p:nvGrpSpPr>
        <p:cNvPr id="1" name=""/>
        <p:cNvGrpSpPr/>
        <p:nvPr/>
      </p:nvGrpSpPr>
      <p:grpSpPr>
        <a:xfrm>
          <a:off x="0" y="0"/>
          <a:ext cx="0" cy="0"/>
          <a:chOff x="0" y="0"/>
          <a:chExt cx="0" cy="0"/>
        </a:xfrm>
      </p:grpSpPr>
      <p:sp>
        <p:nvSpPr>
          <p:cNvPr id="2" name="Text 0"/>
          <p:cNvSpPr/>
          <p:nvPr/>
        </p:nvSpPr>
        <p:spPr>
          <a:xfrm>
            <a:off x="457200" y="914400"/>
            <a:ext cx="8229600" cy="1097280"/>
          </a:xfrm>
          <a:prstGeom prst="rect">
            <a:avLst/>
          </a:prstGeom>
          <a:noFill/>
          <a:ln/>
        </p:spPr>
        <p:txBody>
          <a:bodyPr wrap="square" rtlCol="0" anchor="ctr"/>
          <a:lstStyle/>
          <a:p>
            <a:pPr marL="0" indent="0" algn="ctr">
              <a:buNone/>
            </a:pPr>
            <a:r>
              <a:rPr lang="en-US" sz="5200" b="1" dirty="0">
                <a:solidFill>
                  <a:srgbClr val="FFFFFF"/>
                </a:solidFill>
                <a:latin typeface="Calibri" pitchFamily="34" charset="0"/>
                <a:ea typeface="Calibri" pitchFamily="34" charset="-122"/>
                <a:cs typeface="Calibri" pitchFamily="34" charset="-120"/>
              </a:rPr>
              <a:t>Thank You</a:t>
            </a:r>
            <a:endParaRPr lang="en-US" sz="5200" dirty="0"/>
          </a:p>
        </p:txBody>
      </p:sp>
      <p:sp>
        <p:nvSpPr>
          <p:cNvPr id="3" name="Shape 1"/>
          <p:cNvSpPr/>
          <p:nvPr/>
        </p:nvSpPr>
        <p:spPr>
          <a:xfrm>
            <a:off x="3200400" y="2057400"/>
            <a:ext cx="2743200" cy="36576"/>
          </a:xfrm>
          <a:prstGeom prst="rect">
            <a:avLst/>
          </a:prstGeom>
          <a:solidFill>
            <a:srgbClr val="5DA8E0"/>
          </a:solidFill>
          <a:ln/>
        </p:spPr>
      </p:sp>
      <p:sp>
        <p:nvSpPr>
          <p:cNvPr id="4" name="Text 2"/>
          <p:cNvSpPr/>
          <p:nvPr/>
        </p:nvSpPr>
        <p:spPr>
          <a:xfrm>
            <a:off x="457200" y="2240280"/>
            <a:ext cx="8229600" cy="365760"/>
          </a:xfrm>
          <a:prstGeom prst="rect">
            <a:avLst/>
          </a:prstGeom>
          <a:noFill/>
          <a:ln/>
        </p:spPr>
        <p:txBody>
          <a:bodyPr wrap="square" rtlCol="0" anchor="ctr"/>
          <a:lstStyle/>
          <a:p>
            <a:pPr marL="0" indent="0" algn="ctr">
              <a:buNone/>
            </a:pPr>
            <a:r>
              <a:rPr lang="en-US" sz="1600" b="1" dirty="0">
                <a:solidFill>
                  <a:srgbClr val="5DA8E0"/>
                </a:solidFill>
                <a:latin typeface="Calibri" pitchFamily="34" charset="0"/>
                <a:ea typeface="Calibri" pitchFamily="34" charset="-122"/>
                <a:cs typeface="Calibri" pitchFamily="34" charset="-120"/>
              </a:rPr>
              <a:t>Balajabamani D</a:t>
            </a:r>
            <a:endParaRPr lang="en-US" sz="1600" dirty="0"/>
          </a:p>
        </p:txBody>
      </p:sp>
      <p:sp>
        <p:nvSpPr>
          <p:cNvPr id="5" name="Text 3"/>
          <p:cNvSpPr/>
          <p:nvPr/>
        </p:nvSpPr>
        <p:spPr>
          <a:xfrm>
            <a:off x="457200" y="2651760"/>
            <a:ext cx="8229600" cy="640080"/>
          </a:xfrm>
          <a:prstGeom prst="rect">
            <a:avLst/>
          </a:prstGeom>
          <a:noFill/>
          <a:ln/>
        </p:spPr>
        <p:txBody>
          <a:bodyPr wrap="square" rtlCol="0" anchor="ctr"/>
          <a:lstStyle/>
          <a:p>
            <a:pPr marL="0" indent="0" algn="ctr">
              <a:buNone/>
            </a:pPr>
            <a:r>
              <a:rPr lang="en-US" sz="1400" dirty="0" err="1">
                <a:solidFill>
                  <a:srgbClr val="8892A4"/>
                </a:solidFill>
                <a:latin typeface="Calibri" pitchFamily="34" charset="0"/>
                <a:ea typeface="Calibri" pitchFamily="34" charset="-122"/>
                <a:cs typeface="Calibri" pitchFamily="34" charset="-120"/>
              </a:rPr>
              <a:t>Purplesynapz</a:t>
            </a:r>
            <a:r>
              <a:rPr lang="en-US" sz="1400" dirty="0">
                <a:solidFill>
                  <a:srgbClr val="8892A4"/>
                </a:solidFill>
                <a:latin typeface="Calibri" pitchFamily="34" charset="0"/>
                <a:ea typeface="Calibri" pitchFamily="34" charset="-122"/>
                <a:cs typeface="Calibri" pitchFamily="34" charset="-120"/>
              </a:rPr>
              <a:t> Technologies Pvt. Ltd.</a:t>
            </a:r>
            <a:endParaRPr lang="en-US" sz="1400" dirty="0"/>
          </a:p>
        </p:txBody>
      </p:sp>
      <p:sp>
        <p:nvSpPr>
          <p:cNvPr id="6" name="Shape 4"/>
          <p:cNvSpPr/>
          <p:nvPr/>
        </p:nvSpPr>
        <p:spPr>
          <a:xfrm>
            <a:off x="731520" y="3566160"/>
            <a:ext cx="1737360" cy="777240"/>
          </a:xfrm>
          <a:prstGeom prst="rect">
            <a:avLst/>
          </a:prstGeom>
          <a:solidFill>
            <a:srgbClr val="1A3A5C"/>
          </a:solidFill>
          <a:ln w="12700">
            <a:solidFill>
              <a:srgbClr val="5DA8E0"/>
            </a:solidFill>
            <a:prstDash val="solid"/>
          </a:ln>
        </p:spPr>
      </p:sp>
      <p:sp>
        <p:nvSpPr>
          <p:cNvPr id="7" name="Text 5"/>
          <p:cNvSpPr/>
          <p:nvPr/>
        </p:nvSpPr>
        <p:spPr>
          <a:xfrm>
            <a:off x="731520" y="3611880"/>
            <a:ext cx="1737360" cy="411480"/>
          </a:xfrm>
          <a:prstGeom prst="rect">
            <a:avLst/>
          </a:prstGeom>
          <a:noFill/>
          <a:ln/>
        </p:spPr>
        <p:txBody>
          <a:bodyPr wrap="square" rtlCol="0" anchor="ctr"/>
          <a:lstStyle/>
          <a:p>
            <a:pPr marL="0" indent="0" algn="ctr">
              <a:buNone/>
            </a:pPr>
            <a:r>
              <a:rPr lang="en-US" sz="1400" b="1" dirty="0">
                <a:solidFill>
                  <a:srgbClr val="5DA8E0"/>
                </a:solidFill>
                <a:latin typeface="Calibri" pitchFamily="34" charset="0"/>
                <a:ea typeface="Calibri" pitchFamily="34" charset="-122"/>
                <a:cs typeface="Calibri" pitchFamily="34" charset="-120"/>
              </a:rPr>
              <a:t>EfficientNetB4</a:t>
            </a:r>
            <a:endParaRPr lang="en-US" sz="1400" dirty="0"/>
          </a:p>
        </p:txBody>
      </p:sp>
      <p:sp>
        <p:nvSpPr>
          <p:cNvPr id="8" name="Text 6"/>
          <p:cNvSpPr/>
          <p:nvPr/>
        </p:nvSpPr>
        <p:spPr>
          <a:xfrm>
            <a:off x="731520" y="3977640"/>
            <a:ext cx="1737360" cy="320040"/>
          </a:xfrm>
          <a:prstGeom prst="rect">
            <a:avLst/>
          </a:prstGeom>
          <a:noFill/>
          <a:ln/>
        </p:spPr>
        <p:txBody>
          <a:bodyPr wrap="square" rtlCol="0" anchor="ctr"/>
          <a:lstStyle/>
          <a:p>
            <a:pPr marL="0" indent="0" algn="ctr">
              <a:buNone/>
            </a:pPr>
            <a:r>
              <a:rPr lang="en-US" sz="1000" dirty="0">
                <a:solidFill>
                  <a:srgbClr val="8892A4"/>
                </a:solidFill>
                <a:latin typeface="Calibri" pitchFamily="34" charset="0"/>
                <a:ea typeface="Calibri" pitchFamily="34" charset="-122"/>
                <a:cs typeface="Calibri" pitchFamily="34" charset="-120"/>
              </a:rPr>
              <a:t>Model</a:t>
            </a:r>
            <a:endParaRPr lang="en-US" sz="1000" dirty="0"/>
          </a:p>
        </p:txBody>
      </p:sp>
      <p:sp>
        <p:nvSpPr>
          <p:cNvPr id="9" name="Shape 7"/>
          <p:cNvSpPr/>
          <p:nvPr/>
        </p:nvSpPr>
        <p:spPr>
          <a:xfrm>
            <a:off x="2697480" y="3566160"/>
            <a:ext cx="1737360" cy="777240"/>
          </a:xfrm>
          <a:prstGeom prst="rect">
            <a:avLst/>
          </a:prstGeom>
          <a:solidFill>
            <a:srgbClr val="1A3A5C"/>
          </a:solidFill>
          <a:ln w="12700">
            <a:solidFill>
              <a:srgbClr val="5DA8E0"/>
            </a:solidFill>
            <a:prstDash val="solid"/>
          </a:ln>
        </p:spPr>
      </p:sp>
      <p:sp>
        <p:nvSpPr>
          <p:cNvPr id="10" name="Text 8"/>
          <p:cNvSpPr/>
          <p:nvPr/>
        </p:nvSpPr>
        <p:spPr>
          <a:xfrm>
            <a:off x="2697480" y="3611880"/>
            <a:ext cx="1737360" cy="411480"/>
          </a:xfrm>
          <a:prstGeom prst="rect">
            <a:avLst/>
          </a:prstGeom>
          <a:noFill/>
          <a:ln/>
        </p:spPr>
        <p:txBody>
          <a:bodyPr wrap="square" rtlCol="0" anchor="ctr"/>
          <a:lstStyle/>
          <a:p>
            <a:pPr marL="0" indent="0" algn="ctr">
              <a:buNone/>
            </a:pPr>
            <a:r>
              <a:rPr lang="en-US" sz="1400" b="1" dirty="0">
                <a:solidFill>
                  <a:srgbClr val="5DA8E0"/>
                </a:solidFill>
                <a:latin typeface="Calibri" pitchFamily="34" charset="0"/>
                <a:ea typeface="Calibri" pitchFamily="34" charset="-122"/>
                <a:cs typeface="Calibri" pitchFamily="34" charset="-120"/>
              </a:rPr>
              <a:t>0.9634</a:t>
            </a:r>
            <a:endParaRPr lang="en-US" sz="1400" dirty="0"/>
          </a:p>
        </p:txBody>
      </p:sp>
      <p:sp>
        <p:nvSpPr>
          <p:cNvPr id="11" name="Text 9"/>
          <p:cNvSpPr/>
          <p:nvPr/>
        </p:nvSpPr>
        <p:spPr>
          <a:xfrm>
            <a:off x="2697480" y="3977640"/>
            <a:ext cx="1737360" cy="320040"/>
          </a:xfrm>
          <a:prstGeom prst="rect">
            <a:avLst/>
          </a:prstGeom>
          <a:noFill/>
          <a:ln/>
        </p:spPr>
        <p:txBody>
          <a:bodyPr wrap="square" rtlCol="0" anchor="ctr"/>
          <a:lstStyle/>
          <a:p>
            <a:pPr marL="0" indent="0" algn="ctr">
              <a:buNone/>
            </a:pPr>
            <a:r>
              <a:rPr lang="en-US" sz="1000" dirty="0">
                <a:solidFill>
                  <a:srgbClr val="8892A4"/>
                </a:solidFill>
                <a:latin typeface="Calibri" pitchFamily="34" charset="0"/>
                <a:ea typeface="Calibri" pitchFamily="34" charset="-122"/>
                <a:cs typeface="Calibri" pitchFamily="34" charset="-120"/>
              </a:rPr>
              <a:t>AUC</a:t>
            </a:r>
            <a:endParaRPr lang="en-US" sz="1000" dirty="0"/>
          </a:p>
        </p:txBody>
      </p:sp>
      <p:sp>
        <p:nvSpPr>
          <p:cNvPr id="12" name="Shape 10"/>
          <p:cNvSpPr/>
          <p:nvPr/>
        </p:nvSpPr>
        <p:spPr>
          <a:xfrm>
            <a:off x="4663440" y="3566160"/>
            <a:ext cx="1737360" cy="777240"/>
          </a:xfrm>
          <a:prstGeom prst="rect">
            <a:avLst/>
          </a:prstGeom>
          <a:solidFill>
            <a:srgbClr val="1A3A5C"/>
          </a:solidFill>
          <a:ln w="12700">
            <a:solidFill>
              <a:srgbClr val="5DA8E0"/>
            </a:solidFill>
            <a:prstDash val="solid"/>
          </a:ln>
        </p:spPr>
      </p:sp>
      <p:sp>
        <p:nvSpPr>
          <p:cNvPr id="13" name="Text 11"/>
          <p:cNvSpPr/>
          <p:nvPr/>
        </p:nvSpPr>
        <p:spPr>
          <a:xfrm>
            <a:off x="4663440" y="3611880"/>
            <a:ext cx="1737360" cy="411480"/>
          </a:xfrm>
          <a:prstGeom prst="rect">
            <a:avLst/>
          </a:prstGeom>
          <a:noFill/>
          <a:ln/>
        </p:spPr>
        <p:txBody>
          <a:bodyPr wrap="square" rtlCol="0" anchor="ctr"/>
          <a:lstStyle/>
          <a:p>
            <a:pPr marL="0" indent="0" algn="ctr">
              <a:buNone/>
            </a:pPr>
            <a:r>
              <a:rPr lang="en-US" sz="1400" b="1" dirty="0">
                <a:solidFill>
                  <a:srgbClr val="5DA8E0"/>
                </a:solidFill>
                <a:latin typeface="Calibri" pitchFamily="34" charset="0"/>
                <a:ea typeface="Calibri" pitchFamily="34" charset="-122"/>
                <a:cs typeface="Calibri" pitchFamily="34" charset="-120"/>
              </a:rPr>
              <a:t>147,221</a:t>
            </a:r>
            <a:endParaRPr lang="en-US" sz="1400" dirty="0"/>
          </a:p>
        </p:txBody>
      </p:sp>
      <p:sp>
        <p:nvSpPr>
          <p:cNvPr id="14" name="Text 12"/>
          <p:cNvSpPr/>
          <p:nvPr/>
        </p:nvSpPr>
        <p:spPr>
          <a:xfrm>
            <a:off x="4663440" y="3977640"/>
            <a:ext cx="1737360" cy="320040"/>
          </a:xfrm>
          <a:prstGeom prst="rect">
            <a:avLst/>
          </a:prstGeom>
          <a:noFill/>
          <a:ln/>
        </p:spPr>
        <p:txBody>
          <a:bodyPr wrap="square" rtlCol="0" anchor="ctr"/>
          <a:lstStyle/>
          <a:p>
            <a:pPr marL="0" indent="0" algn="ctr">
              <a:buNone/>
            </a:pPr>
            <a:r>
              <a:rPr lang="en-US" sz="1000" dirty="0">
                <a:solidFill>
                  <a:srgbClr val="8892A4"/>
                </a:solidFill>
                <a:latin typeface="Calibri" pitchFamily="34" charset="0"/>
                <a:ea typeface="Calibri" pitchFamily="34" charset="-122"/>
                <a:cs typeface="Calibri" pitchFamily="34" charset="-120"/>
              </a:rPr>
              <a:t>Training Images</a:t>
            </a:r>
            <a:endParaRPr lang="en-US" sz="1000" dirty="0"/>
          </a:p>
        </p:txBody>
      </p:sp>
      <p:sp>
        <p:nvSpPr>
          <p:cNvPr id="15" name="Shape 13"/>
          <p:cNvSpPr/>
          <p:nvPr/>
        </p:nvSpPr>
        <p:spPr>
          <a:xfrm>
            <a:off x="6629400" y="3566160"/>
            <a:ext cx="1737360" cy="777240"/>
          </a:xfrm>
          <a:prstGeom prst="rect">
            <a:avLst/>
          </a:prstGeom>
          <a:solidFill>
            <a:srgbClr val="1A3A5C"/>
          </a:solidFill>
          <a:ln w="12700">
            <a:solidFill>
              <a:srgbClr val="5DA8E0"/>
            </a:solidFill>
            <a:prstDash val="solid"/>
          </a:ln>
        </p:spPr>
      </p:sp>
      <p:sp>
        <p:nvSpPr>
          <p:cNvPr id="16" name="Text 14"/>
          <p:cNvSpPr/>
          <p:nvPr/>
        </p:nvSpPr>
        <p:spPr>
          <a:xfrm>
            <a:off x="6629400" y="3611880"/>
            <a:ext cx="1737360" cy="411480"/>
          </a:xfrm>
          <a:prstGeom prst="rect">
            <a:avLst/>
          </a:prstGeom>
          <a:noFill/>
          <a:ln/>
        </p:spPr>
        <p:txBody>
          <a:bodyPr wrap="square" rtlCol="0" anchor="ctr"/>
          <a:lstStyle/>
          <a:p>
            <a:pPr marL="0" indent="0" algn="ctr">
              <a:buNone/>
            </a:pPr>
            <a:r>
              <a:rPr lang="en-US" sz="1400" b="1" dirty="0">
                <a:solidFill>
                  <a:srgbClr val="5DA8E0"/>
                </a:solidFill>
                <a:latin typeface="Calibri" pitchFamily="34" charset="0"/>
                <a:ea typeface="Calibri" pitchFamily="34" charset="-122"/>
                <a:cs typeface="Calibri" pitchFamily="34" charset="-120"/>
              </a:rPr>
              <a:t>Grad-CAM</a:t>
            </a:r>
            <a:endParaRPr lang="en-US" sz="1400" dirty="0"/>
          </a:p>
        </p:txBody>
      </p:sp>
      <p:sp>
        <p:nvSpPr>
          <p:cNvPr id="17" name="Text 15"/>
          <p:cNvSpPr/>
          <p:nvPr/>
        </p:nvSpPr>
        <p:spPr>
          <a:xfrm>
            <a:off x="6629400" y="3977640"/>
            <a:ext cx="1737360" cy="320040"/>
          </a:xfrm>
          <a:prstGeom prst="rect">
            <a:avLst/>
          </a:prstGeom>
          <a:noFill/>
          <a:ln/>
        </p:spPr>
        <p:txBody>
          <a:bodyPr wrap="square" rtlCol="0" anchor="ctr"/>
          <a:lstStyle/>
          <a:p>
            <a:pPr marL="0" indent="0" algn="ctr">
              <a:buNone/>
            </a:pPr>
            <a:r>
              <a:rPr lang="en-US" sz="1000" dirty="0">
                <a:solidFill>
                  <a:srgbClr val="8892A4"/>
                </a:solidFill>
                <a:latin typeface="Calibri" pitchFamily="34" charset="0"/>
                <a:ea typeface="Calibri" pitchFamily="34" charset="-122"/>
                <a:cs typeface="Calibri" pitchFamily="34" charset="-120"/>
              </a:rPr>
              <a:t>Explainability</a:t>
            </a:r>
            <a:endParaRPr lang="en-US" sz="1000" dirty="0"/>
          </a:p>
        </p:txBody>
      </p:sp>
      <p:sp>
        <p:nvSpPr>
          <p:cNvPr id="18" name="Text 16"/>
          <p:cNvSpPr/>
          <p:nvPr/>
        </p:nvSpPr>
        <p:spPr>
          <a:xfrm>
            <a:off x="457200" y="4663440"/>
            <a:ext cx="8229600" cy="320040"/>
          </a:xfrm>
          <a:prstGeom prst="rect">
            <a:avLst/>
          </a:prstGeom>
          <a:noFill/>
          <a:ln/>
        </p:spPr>
        <p:txBody>
          <a:bodyPr wrap="square" rtlCol="0" anchor="ctr"/>
          <a:lstStyle/>
          <a:p>
            <a:pPr marL="0" indent="0" algn="ctr">
              <a:buNone/>
            </a:pPr>
            <a:r>
              <a:rPr lang="en-US" sz="1100" i="1" dirty="0">
                <a:solidFill>
                  <a:srgbClr val="3A4A5C"/>
                </a:solidFill>
                <a:latin typeface="Calibri" pitchFamily="34" charset="0"/>
                <a:ea typeface="Calibri" pitchFamily="34" charset="-122"/>
                <a:cs typeface="Calibri" pitchFamily="34" charset="-120"/>
              </a:rPr>
              <a:t>AI-Powered Deepfake Detection System with Forensic Visualization for Cybersecurity Applications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TotalTime>
  <Words>1321</Words>
  <Application>Microsoft Office PowerPoint</Application>
  <PresentationFormat>On-screen Show (16:9)</PresentationFormat>
  <Paragraphs>315</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Kutty D</cp:lastModifiedBy>
  <cp:revision>11</cp:revision>
  <dcterms:created xsi:type="dcterms:W3CDTF">2026-07-12T18:12:10Z</dcterms:created>
  <dcterms:modified xsi:type="dcterms:W3CDTF">2026-07-15T05:14:23Z</dcterms:modified>
</cp:coreProperties>
</file>